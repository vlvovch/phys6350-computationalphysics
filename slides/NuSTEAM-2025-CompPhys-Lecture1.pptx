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9" r:id="rId2"/>
    <p:sldId id="731" r:id="rId3"/>
    <p:sldId id="613" r:id="rId4"/>
    <p:sldId id="737" r:id="rId5"/>
    <p:sldId id="736" r:id="rId6"/>
    <p:sldId id="738" r:id="rId7"/>
    <p:sldId id="739" r:id="rId8"/>
    <p:sldId id="740" r:id="rId9"/>
    <p:sldId id="743" r:id="rId10"/>
    <p:sldId id="744" r:id="rId11"/>
    <p:sldId id="745" r:id="rId12"/>
    <p:sldId id="746" r:id="rId13"/>
    <p:sldId id="747" r:id="rId14"/>
    <p:sldId id="763" r:id="rId15"/>
    <p:sldId id="764" r:id="rId16"/>
    <p:sldId id="752" r:id="rId17"/>
    <p:sldId id="753" r:id="rId18"/>
    <p:sldId id="754" r:id="rId19"/>
    <p:sldId id="755" r:id="rId20"/>
    <p:sldId id="760" r:id="rId21"/>
    <p:sldId id="761" r:id="rId22"/>
    <p:sldId id="756" r:id="rId23"/>
    <p:sldId id="757" r:id="rId24"/>
    <p:sldId id="759" r:id="rId25"/>
    <p:sldId id="762" r:id="rId26"/>
    <p:sldId id="758" r:id="rId27"/>
    <p:sldId id="765" r:id="rId28"/>
    <p:sldId id="749" r:id="rId29"/>
    <p:sldId id="766" r:id="rId30"/>
    <p:sldId id="767" r:id="rId31"/>
  </p:sldIdLst>
  <p:sldSz cx="12192000" cy="6858000"/>
  <p:notesSz cx="7102475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622845-6266-4D00-96BA-1436A2147006}">
          <p14:sldIdLst>
            <p14:sldId id="259"/>
            <p14:sldId id="731"/>
            <p14:sldId id="613"/>
            <p14:sldId id="737"/>
            <p14:sldId id="736"/>
            <p14:sldId id="738"/>
            <p14:sldId id="739"/>
            <p14:sldId id="740"/>
            <p14:sldId id="743"/>
            <p14:sldId id="744"/>
            <p14:sldId id="745"/>
            <p14:sldId id="746"/>
            <p14:sldId id="747"/>
            <p14:sldId id="763"/>
            <p14:sldId id="764"/>
            <p14:sldId id="752"/>
            <p14:sldId id="753"/>
            <p14:sldId id="754"/>
            <p14:sldId id="755"/>
            <p14:sldId id="760"/>
            <p14:sldId id="761"/>
            <p14:sldId id="756"/>
            <p14:sldId id="757"/>
            <p14:sldId id="759"/>
            <p14:sldId id="762"/>
            <p14:sldId id="758"/>
            <p14:sldId id="765"/>
            <p14:sldId id="749"/>
            <p14:sldId id="766"/>
            <p14:sldId id="7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k36x6teoh@goetheuniversitaet.onmicrosoft.com" initials="j" lastIdx="1" clrIdx="0">
    <p:extLst>
      <p:ext uri="{19B8F6BF-5375-455C-9EA6-DF929625EA0E}">
        <p15:presenceInfo xmlns:p15="http://schemas.microsoft.com/office/powerpoint/2012/main" userId="jk36x6teoh@goetheuniversitaet.onmicrosoft.com" providerId="None"/>
      </p:ext>
    </p:extLst>
  </p:cmAuthor>
  <p:cmAuthor id="2" name="Vovchenko Volodymyr" initials="VV" lastIdx="3" clrIdx="1">
    <p:extLst>
      <p:ext uri="{19B8F6BF-5375-455C-9EA6-DF929625EA0E}">
        <p15:presenceInfo xmlns:p15="http://schemas.microsoft.com/office/powerpoint/2012/main" userId="9971ad54b2be89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FF"/>
    <a:srgbClr val="122EA6"/>
    <a:srgbClr val="3B3838"/>
    <a:srgbClr val="A4A3A3"/>
    <a:srgbClr val="206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97" autoAdjust="0"/>
    <p:restoredTop sz="90113" autoAdjust="0"/>
  </p:normalViewPr>
  <p:slideViewPr>
    <p:cSldViewPr snapToGrid="0">
      <p:cViewPr varScale="1">
        <p:scale>
          <a:sx n="118" d="100"/>
          <a:sy n="118" d="100"/>
        </p:scale>
        <p:origin x="216" y="3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350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61AF02B-09B0-4980-983D-27C0EDB561B5}" type="datetimeFigureOut">
              <a:rPr lang="uk-UA" smtClean="0"/>
              <a:t>11.06.25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7739" cy="51350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9" cy="51350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2F0C5EC2-2CF5-460B-AE73-90022B24A42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648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9027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6481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0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0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2172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1170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7839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9288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9580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8713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7895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109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7331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053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79827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2005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62152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6787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367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0080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6375-3233-9DE6-C818-715E4156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DE18F-2C15-3B2B-FB29-6A3F05DFF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EA44D-1EE8-1164-FBBE-EBEB0A8B1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590D4-47E8-16B6-4B04-DFEA23BD8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7187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3818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A687-42F6-639E-07C1-8B31DB18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3204E-E58A-F486-7322-16E906443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09D18-7369-5024-4BF4-585D30F17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93DA1-4279-4FB6-12CA-58EA20651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31114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D7B1-4F4E-BEE5-598C-8FA5F665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ED7C4-45C7-F222-ECBF-1FF5E9223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666FB-4DF0-E40D-E8C3-98931D94E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3E327-D94F-65FD-EE13-E64D234DD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30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508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0185" y="53790"/>
            <a:ext cx="11271623" cy="2034987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398" y="2183414"/>
            <a:ext cx="10363199" cy="5559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Volodymyr Vovchenko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BF37B5-78F5-4A7D-8B93-035842C50E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03" y="4582035"/>
            <a:ext cx="5630583" cy="555922"/>
          </a:xfrm>
        </p:spPr>
        <p:txBody>
          <a:bodyPr>
            <a:normAutofit/>
          </a:bodyPr>
          <a:lstStyle>
            <a:lvl1pPr marL="0" indent="0" algn="ctr">
              <a:buNone/>
              <a:defRPr sz="2400" i="1"/>
            </a:lvl1pPr>
          </a:lstStyle>
          <a:p>
            <a:pPr lvl="0"/>
            <a:r>
              <a:rPr lang="en-US" dirty="0"/>
              <a:t>Conference, City, Country</a:t>
            </a:r>
            <a:endParaRPr lang="uk-UA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FFC172-0F22-4283-A11C-0DC5E0AE8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3001" y="5019584"/>
            <a:ext cx="3845984" cy="555922"/>
          </a:xfrm>
        </p:spPr>
        <p:txBody>
          <a:bodyPr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 dirty="0"/>
              <a:t>January 1, 2018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8850A6-F8A6-4A0B-B3FD-B128F2AAAD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8" y="2651537"/>
            <a:ext cx="10363199" cy="41592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Affiliation 1 &amp; Affiliation 2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623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0542" y="1"/>
            <a:ext cx="11450917" cy="1165085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542" y="1165086"/>
            <a:ext cx="11450917" cy="5065379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9" y="6356351"/>
            <a:ext cx="1733177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uk-UA" dirty="0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11295" y="6356351"/>
            <a:ext cx="7769411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Lattice-based QCD equation of state at finite baryon density</a:t>
            </a:r>
            <a:endParaRPr lang="uk-UA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330716B-4A30-42ED-9EE2-313B727AF872}"/>
              </a:ext>
            </a:extLst>
          </p:cNvPr>
          <p:cNvCxnSpPr>
            <a:cxnSpLocks/>
          </p:cNvCxnSpPr>
          <p:nvPr userDrawn="1"/>
        </p:nvCxnSpPr>
        <p:spPr>
          <a:xfrm>
            <a:off x="525930" y="941290"/>
            <a:ext cx="11295529" cy="0"/>
          </a:xfrm>
          <a:prstGeom prst="line">
            <a:avLst/>
          </a:prstGeom>
          <a:ln w="38100" cap="rnd">
            <a:solidFill>
              <a:schemeClr val="accent1">
                <a:lumMod val="75000"/>
              </a:schemeClr>
            </a:solidFill>
            <a:miter lim="800000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E6D348-82C6-4292-BBB3-9B6596DDBA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79331" y="6467291"/>
            <a:ext cx="1142128" cy="34047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1/16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039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6DC0-C439-4E9C-83A1-0864A66907B2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267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BFA41-6503-4670-A030-C4026C269157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13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05502-1E5D-40B4-9172-D712644FEDD1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41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63152-FD27-4939-832D-B860C6DB12A5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/16</a:t>
            </a:r>
            <a:endParaRPr lang="uk-UA" sz="18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502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285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18BA5-E72A-4B8B-9830-A8FD3E323A65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11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E4F29-ED37-4848-985D-7E7F13267723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7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EB41E-26C4-40E9-BDFE-31AA4607F9C9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98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0C373-8171-4426-B0B4-D377060F6819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57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589" y="365127"/>
            <a:ext cx="114867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589" y="1825625"/>
            <a:ext cx="114867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Text sample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8589" y="6356351"/>
            <a:ext cx="17690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uk-UA" dirty="0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5975" y="6356350"/>
            <a:ext cx="78530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Lattice-based QCD equation of state at finite baryon density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5681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vvovchenko@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ovchenko.net/computational-physics" TargetMode="External"/><Relationship Id="rId5" Type="http://schemas.openxmlformats.org/officeDocument/2006/relationships/hyperlink" Target="https://github.com/vlvovch/PHYS6350-ComputationalPhysics/tree/nusteam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stable/index.htm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0.png"/><Relationship Id="rId4" Type="http://schemas.openxmlformats.org/officeDocument/2006/relationships/image" Target="../media/image48.svg"/><Relationship Id="rId9" Type="http://schemas.openxmlformats.org/officeDocument/2006/relationships/image" Target="../media/image53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7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4.png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16B3BB-760D-4483-898C-0AAFC2D2C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8129" y="861587"/>
            <a:ext cx="9155737" cy="1403733"/>
          </a:xfrm>
        </p:spPr>
        <p:txBody>
          <a:bodyPr>
            <a:normAutofit/>
          </a:bodyPr>
          <a:lstStyle/>
          <a:p>
            <a:r>
              <a:rPr lang="en-US" sz="3200" dirty="0"/>
              <a:t>Computational Physics @ </a:t>
            </a:r>
            <a:r>
              <a:rPr lang="en-US" sz="3200" dirty="0" err="1"/>
              <a:t>NuSTEAM</a:t>
            </a:r>
            <a:endParaRPr lang="uk-UA" sz="3200" dirty="0">
              <a:latin typeface="+mn-lt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5CCB10-5F85-4A67-A582-0AB3D4C70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796" y="5312521"/>
            <a:ext cx="7772399" cy="555922"/>
          </a:xfrm>
        </p:spPr>
        <p:txBody>
          <a:bodyPr>
            <a:normAutofit/>
          </a:bodyPr>
          <a:lstStyle/>
          <a:p>
            <a:r>
              <a:rPr lang="en-US" b="1" dirty="0">
                <a:latin typeface="LM Sans 10" panose="00000500000000000000" pitchFamily="50" charset="0"/>
              </a:rPr>
              <a:t>Instructor:</a:t>
            </a:r>
            <a:r>
              <a:rPr lang="en-US" dirty="0">
                <a:latin typeface="LM Sans 10" panose="00000500000000000000" pitchFamily="50" charset="0"/>
              </a:rPr>
              <a:t> Volodymyr Vovchenko (</a:t>
            </a:r>
            <a:r>
              <a:rPr lang="en-US" dirty="0">
                <a:latin typeface="LM Sans 10" panose="00000500000000000000" pitchFamily="50" charset="0"/>
                <a:hlinkClick r:id="rId3"/>
              </a:rPr>
              <a:t>vvovchenko@uh.edu</a:t>
            </a:r>
            <a:r>
              <a:rPr lang="en-US" dirty="0">
                <a:latin typeface="LM Sans 10" panose="00000500000000000000" pitchFamily="50" charset="0"/>
              </a:rPr>
              <a:t>)</a:t>
            </a:r>
            <a:endParaRPr lang="uk-UA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65EF24-B924-4E01-A6E6-6BC0EA434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6045" y="2505622"/>
            <a:ext cx="8419909" cy="1750692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LM Sans 10" panose="00000500000000000000" pitchFamily="50" charset="0"/>
              </a:rPr>
              <a:t>Lecture 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Data visualization (plotting)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Floating-point precision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796605-FB44-46DD-8F22-288AE931FB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72000" y="4496616"/>
            <a:ext cx="4447989" cy="415925"/>
          </a:xfrm>
        </p:spPr>
        <p:txBody>
          <a:bodyPr>
            <a:normAutofit/>
          </a:bodyPr>
          <a:lstStyle/>
          <a:p>
            <a:r>
              <a:rPr lang="en-US" dirty="0">
                <a:latin typeface="LM Sans 10" panose="00000500000000000000" pitchFamily="50" charset="0"/>
              </a:rPr>
              <a:t>June 11, 2025</a:t>
            </a:r>
            <a:endParaRPr lang="uk-UA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D74D978-C625-42FF-9C54-2ECC393DA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212" y="656174"/>
            <a:ext cx="753572" cy="6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2D3E49-6336-D5C3-4C0F-635A3D7CC2B5}"/>
              </a:ext>
            </a:extLst>
          </p:cNvPr>
          <p:cNvSpPr txBox="1"/>
          <p:nvPr/>
        </p:nvSpPr>
        <p:spPr>
          <a:xfrm>
            <a:off x="559361" y="5806758"/>
            <a:ext cx="11073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ased on Computations Physics course at UH </a:t>
            </a:r>
          </a:p>
          <a:p>
            <a:r>
              <a:rPr lang="en-US" b="1" kern="150" dirty="0">
                <a:ea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US" kern="15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hlinkClick r:id="rId5"/>
              </a:rPr>
              <a:t>https://github.com/vlvovch/PHYS6350-ComputationalPhysics/tree/</a:t>
            </a:r>
            <a:r>
              <a:rPr lang="en-US">
                <a:hlinkClick r:id="rId5"/>
              </a:rPr>
              <a:t>nusteam</a:t>
            </a:r>
            <a:endParaRPr lang="en-US" dirty="0"/>
          </a:p>
          <a:p>
            <a:r>
              <a:rPr lang="en-US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Online textbook:</a:t>
            </a:r>
            <a:r>
              <a:rPr lang="en-US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https://vovchenko.net/computational-physics</a:t>
            </a:r>
            <a:endParaRPr lang="en-US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2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Physics</a:t>
            </a:r>
            <a:endParaRPr lang="uk-UA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04F111A-B4B6-4B40-B7F8-FA5F6602A9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79331" y="6467291"/>
            <a:ext cx="1142128" cy="340472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32503-9B30-B8D5-9695-A7A1AB498837}"/>
              </a:ext>
            </a:extLst>
          </p:cNvPr>
          <p:cNvSpPr txBox="1"/>
          <p:nvPr/>
        </p:nvSpPr>
        <p:spPr>
          <a:xfrm>
            <a:off x="655092" y="1264271"/>
            <a:ext cx="964441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Application of numerical methods to solve problems in physics, which lies at the intersection of physics, math, and computer scien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ce.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DFD25-B41B-0E56-8367-F41BDFF0CE3E}"/>
              </a:ext>
            </a:extLst>
          </p:cNvPr>
          <p:cNvSpPr txBox="1"/>
          <p:nvPr/>
        </p:nvSpPr>
        <p:spPr>
          <a:xfrm>
            <a:off x="655092" y="2167551"/>
            <a:ext cx="58654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200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Common applications</a:t>
            </a:r>
            <a:r>
              <a:rPr lang="en-US" sz="2200" b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j-lt"/>
                <a:ea typeface="DejaVu Sans"/>
              </a:rPr>
              <a:t>Numerical calculus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DejaVu Sans"/>
              </a:rPr>
              <a:t>Numerical integration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+mj-lt"/>
                <a:ea typeface="DejaVu Sans"/>
              </a:rPr>
              <a:t>Numerical derivatives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Numerical algebra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Systems of linear and non-linear equations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Matrix methods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Ordinary differential equations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Classical mechanics problems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Partial differential equations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Classical and quantum mechanics problems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Random numbers and Monte Carlo 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398F4D-C735-8875-E097-034C4BD0F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484" y="2246697"/>
            <a:ext cx="2402975" cy="183642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EA32CB3-9A58-72E7-87AA-6C2401D85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176" y="2467976"/>
            <a:ext cx="1456794" cy="161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9BE62E3-F915-B4EE-CFB9-15C2383E2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0341" y="4873872"/>
            <a:ext cx="1237980" cy="477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B3B8CA-E223-C74E-08BD-5365EFE9C4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811"/>
          <a:stretch/>
        </p:blipFill>
        <p:spPr>
          <a:xfrm>
            <a:off x="7236762" y="4405710"/>
            <a:ext cx="1933622" cy="1413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E00229-4FA4-F3B7-3D6D-7B49E4D7D6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3226" y="5953376"/>
            <a:ext cx="4134333" cy="51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6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D769315-FB38-4E43-931B-7B25AE190E83}"/>
              </a:ext>
            </a:extLst>
          </p:cNvPr>
          <p:cNvSpPr txBox="1"/>
          <p:nvPr/>
        </p:nvSpPr>
        <p:spPr>
          <a:xfrm>
            <a:off x="2126055" y="2234344"/>
            <a:ext cx="793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latin typeface="+mj-lt"/>
              </a:rPr>
              <a:t>Data visualization</a:t>
            </a:r>
            <a:endParaRPr lang="uk-UA" sz="4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FD220B-7AB3-2D53-139F-26B7BE119DCA}"/>
              </a:ext>
            </a:extLst>
          </p:cNvPr>
          <p:cNvSpPr txBox="1"/>
          <p:nvPr/>
        </p:nvSpPr>
        <p:spPr>
          <a:xfrm>
            <a:off x="784025" y="5854751"/>
            <a:ext cx="1612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References: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8060A-2A6C-421B-50F0-CF6ED6E5A8B0}"/>
              </a:ext>
            </a:extLst>
          </p:cNvPr>
          <p:cNvSpPr txBox="1"/>
          <p:nvPr/>
        </p:nvSpPr>
        <p:spPr>
          <a:xfrm>
            <a:off x="2547581" y="5871950"/>
            <a:ext cx="96444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  <a:hlinkClick r:id="rId2"/>
              </a:rPr>
              <a:t>Matplotlib documentation</a:t>
            </a:r>
            <a:endParaRPr lang="en-US" sz="2000" i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4EADB-A881-9B78-1CA7-E080024D30CF}"/>
              </a:ext>
            </a:extLst>
          </p:cNvPr>
          <p:cNvSpPr txBox="1"/>
          <p:nvPr/>
        </p:nvSpPr>
        <p:spPr>
          <a:xfrm>
            <a:off x="3594118" y="3429000"/>
            <a:ext cx="500376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j-lt"/>
                <a:ea typeface="DejaVu Sans"/>
              </a:rPr>
              <a:t>Line plots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Scatter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Contour/density plots (2D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C257C-F7BA-0578-ABB4-948EAF67BD8E}"/>
              </a:ext>
            </a:extLst>
          </p:cNvPr>
          <p:cNvSpPr txBox="1"/>
          <p:nvPr/>
        </p:nvSpPr>
        <p:spPr>
          <a:xfrm>
            <a:off x="784025" y="6425948"/>
            <a:ext cx="6848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808FF"/>
                </a:solidFill>
              </a:rPr>
              <a:t>Jupyter</a:t>
            </a:r>
            <a:r>
              <a:rPr lang="en-US" b="1" dirty="0">
                <a:solidFill>
                  <a:srgbClr val="0808FF"/>
                </a:solidFill>
              </a:rPr>
              <a:t> Notebook: </a:t>
            </a:r>
            <a:r>
              <a:rPr lang="en-US" b="1" dirty="0"/>
              <a:t>1_Plotting-NuSTEAM2025.ipynb</a:t>
            </a:r>
          </a:p>
        </p:txBody>
      </p:sp>
    </p:spTree>
    <p:extLst>
      <p:ext uri="{BB962C8B-B14F-4D97-AF65-F5344CB8AC3E}">
        <p14:creationId xmlns:p14="http://schemas.microsoft.com/office/powerpoint/2010/main" val="570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data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C79C1E-4696-CB5B-7B88-D54B922F753E}"/>
                  </a:ext>
                </a:extLst>
              </p:cNvPr>
              <p:cNvSpPr txBox="1"/>
              <p:nvPr/>
            </p:nvSpPr>
            <p:spPr>
              <a:xfrm>
                <a:off x="705132" y="1993050"/>
                <a:ext cx="8279644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Computer programs produce numerical data </a:t>
                </a:r>
              </a:p>
              <a:p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Numbers alone do not always make it easy to understand the structure of behavior of the system</a:t>
                </a:r>
              </a:p>
              <a:p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Let us calculate it for 10 equidistant points in the interval x = 0…10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C79C1E-4696-CB5B-7B88-D54B922F7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32" y="1993050"/>
                <a:ext cx="8279644" cy="3139321"/>
              </a:xfrm>
              <a:prstGeom prst="rect">
                <a:avLst/>
              </a:prstGeom>
              <a:blipFill>
                <a:blip r:embed="rId2"/>
                <a:stretch>
                  <a:fillRect l="-957" t="-1553" b="-2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090610-3CCF-5A4B-4C94-E73FBDD43B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7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data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C79C1E-4696-CB5B-7B88-D54B922F753E}"/>
                  </a:ext>
                </a:extLst>
              </p:cNvPr>
              <p:cNvSpPr txBox="1"/>
              <p:nvPr/>
            </p:nvSpPr>
            <p:spPr>
              <a:xfrm>
                <a:off x="705132" y="1993050"/>
                <a:ext cx="8316038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Computer programs produce numerical data </a:t>
                </a:r>
              </a:p>
              <a:p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Numbers alone do not always make it easy to understand the structure of behavior of the system</a:t>
                </a:r>
              </a:p>
              <a:p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kern="15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Let us calculate it for 10 equidistant points in the interval x = 0…10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C79C1E-4696-CB5B-7B88-D54B922F7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32" y="1993050"/>
                <a:ext cx="8316038" cy="3139321"/>
              </a:xfrm>
              <a:prstGeom prst="rect">
                <a:avLst/>
              </a:prstGeom>
              <a:blipFill>
                <a:blip r:embed="rId2"/>
                <a:stretch>
                  <a:fillRect l="-953" t="-1553" b="-2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AB6D05-2DBA-D1A1-4573-3584F76FC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860" y="2651248"/>
            <a:ext cx="1770535" cy="357213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F267D0-1A16-039F-CD01-14F5404978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9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on a graph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B6D05-2DBA-D1A1-4573-3584F76FC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860" y="1905171"/>
            <a:ext cx="1770535" cy="357213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1F4293B-06EB-5B20-136B-000FD9C91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19" y="1426606"/>
            <a:ext cx="6475068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70A63D-6E30-D826-6DD6-77D72238E3D6}"/>
              </a:ext>
            </a:extLst>
          </p:cNvPr>
          <p:cNvSpPr txBox="1"/>
          <p:nvPr/>
        </p:nvSpPr>
        <p:spPr>
          <a:xfrm>
            <a:off x="1155419" y="6251847"/>
            <a:ext cx="32868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Let us add more points…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97A34D-30E7-930B-BDAA-0D1E1F3DBF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3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on a graph</a:t>
            </a:r>
            <a:endParaRPr lang="uk-UA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3A8F4D1-2D50-E0CA-8C6A-AC2F4D4BC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63" y="1427291"/>
            <a:ext cx="6475069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AF0486-CBEE-DA75-2E2F-660EDB66A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773" y="1643400"/>
            <a:ext cx="2043664" cy="357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585CC8-F739-4DC8-8093-7DB8ECEF8C6A}"/>
              </a:ext>
            </a:extLst>
          </p:cNvPr>
          <p:cNvSpPr txBox="1"/>
          <p:nvPr/>
        </p:nvSpPr>
        <p:spPr>
          <a:xfrm rot="5400000">
            <a:off x="10166689" y="5207535"/>
            <a:ext cx="3389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6068E-EC53-57DD-4980-073BDD56C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6065" y="5692914"/>
            <a:ext cx="2047725" cy="5887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621ED-7368-0D2E-6A25-B6180085E425}"/>
              </a:ext>
            </a:extLst>
          </p:cNvPr>
          <p:cNvSpPr txBox="1"/>
          <p:nvPr/>
        </p:nvSpPr>
        <p:spPr>
          <a:xfrm>
            <a:off x="1155418" y="6251847"/>
            <a:ext cx="7256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Now we have enough points to join them by a smooth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775169-87D6-9B02-5103-6AE7AE1DF3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0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on a graph</a:t>
            </a:r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F0486-CBEE-DA75-2E2F-660EDB66A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773" y="1643400"/>
            <a:ext cx="2043664" cy="357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585CC8-F739-4DC8-8093-7DB8ECEF8C6A}"/>
              </a:ext>
            </a:extLst>
          </p:cNvPr>
          <p:cNvSpPr txBox="1"/>
          <p:nvPr/>
        </p:nvSpPr>
        <p:spPr>
          <a:xfrm rot="5400000">
            <a:off x="10166689" y="5207535"/>
            <a:ext cx="3389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6068E-EC53-57DD-4980-073BDD56C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065" y="5692914"/>
            <a:ext cx="2047725" cy="5887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621ED-7368-0D2E-6A25-B6180085E425}"/>
              </a:ext>
            </a:extLst>
          </p:cNvPr>
          <p:cNvSpPr txBox="1"/>
          <p:nvPr/>
        </p:nvSpPr>
        <p:spPr>
          <a:xfrm>
            <a:off x="1155418" y="6251847"/>
            <a:ext cx="7256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Now we have enough points to join them by a smooth line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E3E165B-536E-19DB-0C77-9F9E15DC6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20" y="1434110"/>
            <a:ext cx="6475068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92672-4D6D-C336-861F-9EE4ADA2E3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8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on a graph</a:t>
            </a:r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F0486-CBEE-DA75-2E2F-660EDB66A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773" y="1643400"/>
            <a:ext cx="2043664" cy="357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585CC8-F739-4DC8-8093-7DB8ECEF8C6A}"/>
              </a:ext>
            </a:extLst>
          </p:cNvPr>
          <p:cNvSpPr txBox="1"/>
          <p:nvPr/>
        </p:nvSpPr>
        <p:spPr>
          <a:xfrm rot="5400000">
            <a:off x="10166689" y="5207535"/>
            <a:ext cx="3389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6068E-EC53-57DD-4980-073BDD56C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065" y="5692914"/>
            <a:ext cx="2047725" cy="5887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621ED-7368-0D2E-6A25-B6180085E425}"/>
              </a:ext>
            </a:extLst>
          </p:cNvPr>
          <p:cNvSpPr txBox="1"/>
          <p:nvPr/>
        </p:nvSpPr>
        <p:spPr>
          <a:xfrm>
            <a:off x="1155418" y="6251847"/>
            <a:ext cx="7256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Now we have enough points to join them by a smooth line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85DCCC17-A06C-6DA9-75CF-6B6FDF64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449" y="1430697"/>
            <a:ext cx="6475068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4A4C7-116C-7872-E52B-26CB50404C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multiple lines to compare functions, profiles, etc.</a:t>
            </a:r>
            <a:endParaRPr lang="uk-UA" dirty="0"/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E2ED9C2B-4F74-AB6C-734C-666BA1314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685" y="1403400"/>
            <a:ext cx="6218630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8D90AF-2D23-031D-CD90-4BAE025AB5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avoid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922B-2AC4-513E-185A-E86E91EDB1B1}"/>
              </a:ext>
            </a:extLst>
          </p:cNvPr>
          <p:cNvSpPr txBox="1"/>
          <p:nvPr/>
        </p:nvSpPr>
        <p:spPr>
          <a:xfrm>
            <a:off x="723239" y="1165086"/>
            <a:ext cx="7256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Insufficient number of data points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7539FCCA-7F76-9561-11E2-5AD40FCE3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466" y="1787291"/>
            <a:ext cx="6475068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EA9E3-265B-6B9A-5A2D-F25A8AFB1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8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avoid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922B-2AC4-513E-185A-E86E91EDB1B1}"/>
              </a:ext>
            </a:extLst>
          </p:cNvPr>
          <p:cNvSpPr txBox="1"/>
          <p:nvPr/>
        </p:nvSpPr>
        <p:spPr>
          <a:xfrm>
            <a:off x="723239" y="1165086"/>
            <a:ext cx="7256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Unlabeled axes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7EB289A-6FFF-12DB-7CC7-C419AF111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469" y="1703197"/>
            <a:ext cx="6595061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05F415-1E3F-0511-2C8C-B25AF0BE4C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35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avoid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922B-2AC4-513E-185A-E86E91EDB1B1}"/>
              </a:ext>
            </a:extLst>
          </p:cNvPr>
          <p:cNvSpPr txBox="1"/>
          <p:nvPr/>
        </p:nvSpPr>
        <p:spPr>
          <a:xfrm>
            <a:off x="723239" y="1165086"/>
            <a:ext cx="7256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Indistinguishable line styles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43A7A8B4-8392-3977-BA6D-27ABD99C6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469" y="1730493"/>
            <a:ext cx="6595061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A1BAFC-5DFB-30EC-39E7-CC564A0BE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60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HRG equation of state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922B-2AC4-513E-185A-E86E91EDB1B1}"/>
              </a:ext>
            </a:extLst>
          </p:cNvPr>
          <p:cNvSpPr txBox="1"/>
          <p:nvPr/>
        </p:nvSpPr>
        <p:spPr>
          <a:xfrm>
            <a:off x="483538" y="1171932"/>
            <a:ext cx="114509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Yesterday we computed the HRG equation of state with Thermal-FIST</a:t>
            </a:r>
          </a:p>
          <a:p>
            <a:endParaRPr lang="en-US" sz="2200" dirty="0"/>
          </a:p>
          <a:p>
            <a:r>
              <a:rPr lang="en-US" sz="2200" dirty="0"/>
              <a:t>Let us plot it (section “Plotting the HRG equation of state” in Plotting-NuSTEAM2024.ipynb)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A1BAFC-5DFB-30EC-39E7-CC564A0BE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AE8F9-B09E-5757-8705-F1FE62CA3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2" y="3175254"/>
            <a:ext cx="3762546" cy="3008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D88063-0BCE-EE22-7A27-A51A96F1B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290862"/>
            <a:ext cx="3786514" cy="2748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68387D-E42E-4816-6096-E1EFE3449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914" y="3290862"/>
            <a:ext cx="3714228" cy="2748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D8ACCB-A245-A115-B27D-0E3C86417910}"/>
              </a:ext>
            </a:extLst>
          </p:cNvPr>
          <p:cNvSpPr txBox="1"/>
          <p:nvPr/>
        </p:nvSpPr>
        <p:spPr>
          <a:xfrm>
            <a:off x="483538" y="2512147"/>
            <a:ext cx="23407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You should obtain</a:t>
            </a:r>
          </a:p>
        </p:txBody>
      </p:sp>
    </p:spTree>
    <p:extLst>
      <p:ext uri="{BB962C8B-B14F-4D97-AF65-F5344CB8AC3E}">
        <p14:creationId xmlns:p14="http://schemas.microsoft.com/office/powerpoint/2010/main" val="308206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HRG equation of state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922B-2AC4-513E-185A-E86E91EDB1B1}"/>
              </a:ext>
            </a:extLst>
          </p:cNvPr>
          <p:cNvSpPr txBox="1"/>
          <p:nvPr/>
        </p:nvSpPr>
        <p:spPr>
          <a:xfrm>
            <a:off x="483538" y="1171932"/>
            <a:ext cx="11450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Published plots: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A1BAFC-5DFB-30EC-39E7-CC564A0BE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F49B6-CA86-BEC3-4366-694095B76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03" y="1720212"/>
            <a:ext cx="11513594" cy="2693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DEFA51-282D-CFA6-7624-9EE9ECBF4A8B}"/>
              </a:ext>
            </a:extLst>
          </p:cNvPr>
          <p:cNvSpPr txBox="1"/>
          <p:nvPr/>
        </p:nvSpPr>
        <p:spPr>
          <a:xfrm>
            <a:off x="646176" y="5059680"/>
            <a:ext cx="9371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Exercise: </a:t>
            </a:r>
            <a:r>
              <a:rPr lang="en-US" sz="2000" dirty="0"/>
              <a:t>Add EV-HRG curves by performing calculation for a = 0 and b = 3.42 fm</a:t>
            </a:r>
            <a:r>
              <a:rPr lang="en-US" sz="2000" baseline="30000" dirty="0"/>
              <a:t>3</a:t>
            </a:r>
            <a:endParaRPr lang="en-US" sz="2000" b="1" baseline="30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72477-2698-6656-3A1E-781CC5CF5AAF}"/>
              </a:ext>
            </a:extLst>
          </p:cNvPr>
          <p:cNvSpPr txBox="1"/>
          <p:nvPr/>
        </p:nvSpPr>
        <p:spPr>
          <a:xfrm>
            <a:off x="6208996" y="4321093"/>
            <a:ext cx="55757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Figure from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</a:rPr>
              <a:t>Vovchenko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</a:rPr>
              <a:t>Gorenstein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</a:rPr>
              <a:t>Stoecker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, Phys. Rev. Lett. 118, 182301 (2017)</a:t>
            </a:r>
          </a:p>
        </p:txBody>
      </p:sp>
    </p:spTree>
    <p:extLst>
      <p:ext uri="{BB962C8B-B14F-4D97-AF65-F5344CB8AC3E}">
        <p14:creationId xmlns:p14="http://schemas.microsoft.com/office/powerpoint/2010/main" val="639438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D769315-FB38-4E43-931B-7B25AE190E83}"/>
              </a:ext>
            </a:extLst>
          </p:cNvPr>
          <p:cNvSpPr txBox="1"/>
          <p:nvPr/>
        </p:nvSpPr>
        <p:spPr>
          <a:xfrm>
            <a:off x="2126055" y="1309871"/>
            <a:ext cx="793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latin typeface="+mj-lt"/>
              </a:rPr>
              <a:t>Errors and accuracy</a:t>
            </a:r>
            <a:endParaRPr lang="uk-UA" sz="4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6BCDD-4D36-9762-0861-1297107CF71C}"/>
              </a:ext>
            </a:extLst>
          </p:cNvPr>
          <p:cNvSpPr txBox="1"/>
          <p:nvPr/>
        </p:nvSpPr>
        <p:spPr>
          <a:xfrm>
            <a:off x="1638971" y="2394902"/>
            <a:ext cx="3275256" cy="2068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Numbers representation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Limits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Floating-point precision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Error accumulation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B1CB9-E481-AFE6-3AE8-180F443FABA8}"/>
              </a:ext>
            </a:extLst>
          </p:cNvPr>
          <p:cNvSpPr txBox="1"/>
          <p:nvPr/>
        </p:nvSpPr>
        <p:spPr>
          <a:xfrm>
            <a:off x="784025" y="6425948"/>
            <a:ext cx="7604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808FF"/>
                </a:solidFill>
              </a:rPr>
              <a:t>Jupyter</a:t>
            </a:r>
            <a:r>
              <a:rPr lang="en-US" b="1" dirty="0">
                <a:solidFill>
                  <a:srgbClr val="0808FF"/>
                </a:solidFill>
              </a:rPr>
              <a:t> Notebook: </a:t>
            </a:r>
            <a:r>
              <a:rPr lang="en-US" b="1" dirty="0"/>
              <a:t>1_FloatingPointPrecision-NuSTEAM2024.ipynb</a:t>
            </a:r>
          </a:p>
        </p:txBody>
      </p:sp>
    </p:spTree>
    <p:extLst>
      <p:ext uri="{BB962C8B-B14F-4D97-AF65-F5344CB8AC3E}">
        <p14:creationId xmlns:p14="http://schemas.microsoft.com/office/powerpoint/2010/main" val="3193881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representation</a:t>
            </a:r>
            <a:endParaRPr lang="uk-UA" dirty="0"/>
          </a:p>
        </p:txBody>
      </p:sp>
      <p:pic>
        <p:nvPicPr>
          <p:cNvPr id="17410" name="Picture 2" descr="Signed extension for +5">
            <a:extLst>
              <a:ext uri="{FF2B5EF4-FFF2-40B4-BE49-F238E27FC236}">
                <a16:creationId xmlns:a16="http://schemas.microsoft.com/office/drawing/2014/main" id="{74CDF436-BA0E-8431-DD4D-DF17457BB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267" y="1787664"/>
            <a:ext cx="2642587" cy="114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Signed extension for -5">
            <a:extLst>
              <a:ext uri="{FF2B5EF4-FFF2-40B4-BE49-F238E27FC236}">
                <a16:creationId xmlns:a16="http://schemas.microsoft.com/office/drawing/2014/main" id="{8BB4E21F-3841-1177-4FCF-B157F4B5D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"/>
          <a:stretch/>
        </p:blipFill>
        <p:spPr bwMode="auto">
          <a:xfrm>
            <a:off x="7188162" y="1990111"/>
            <a:ext cx="2565438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1AEC6C-A008-F454-37BE-1A1C8C95A408}"/>
              </a:ext>
            </a:extLst>
          </p:cNvPr>
          <p:cNvSpPr txBox="1"/>
          <p:nvPr/>
        </p:nvSpPr>
        <p:spPr>
          <a:xfrm>
            <a:off x="723240" y="1165086"/>
            <a:ext cx="9030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Numbers on a computer are represented by bits – sequences of 0s and 1s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E4582-7C07-EE45-A580-33A1C232308A}"/>
              </a:ext>
            </a:extLst>
          </p:cNvPr>
          <p:cNvSpPr txBox="1"/>
          <p:nvPr/>
        </p:nvSpPr>
        <p:spPr>
          <a:xfrm>
            <a:off x="723239" y="3680086"/>
            <a:ext cx="85026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Most typical native formats: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32-bit integer, range −2,147,483,647 (-2</a:t>
            </a:r>
            <a:r>
              <a:rPr lang="en-US" sz="2200" baseline="30000" dirty="0"/>
              <a:t>31</a:t>
            </a:r>
            <a:r>
              <a:rPr lang="en-US" sz="2200" dirty="0"/>
              <a:t>) to +2,147,483,647 (2</a:t>
            </a:r>
            <a:r>
              <a:rPr lang="en-US" sz="2200" baseline="30000" dirty="0"/>
              <a:t>31</a:t>
            </a:r>
            <a:r>
              <a:rPr lang="en-US" sz="2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64-bit integer, range ~ −10</a:t>
            </a:r>
            <a:r>
              <a:rPr lang="en-US" sz="2200" baseline="30000" dirty="0"/>
              <a:t>18</a:t>
            </a:r>
            <a:r>
              <a:rPr lang="en-US" sz="2200" dirty="0"/>
              <a:t> (-2</a:t>
            </a:r>
            <a:r>
              <a:rPr lang="en-US" sz="2200" baseline="30000" dirty="0"/>
              <a:t>63</a:t>
            </a:r>
            <a:r>
              <a:rPr lang="en-US" sz="2200" dirty="0"/>
              <a:t>) to +10</a:t>
            </a:r>
            <a:r>
              <a:rPr lang="en-US" sz="2200" baseline="30000" dirty="0"/>
              <a:t>18</a:t>
            </a:r>
            <a:r>
              <a:rPr lang="en-US" sz="2200" dirty="0"/>
              <a:t> (2</a:t>
            </a:r>
            <a:r>
              <a:rPr lang="en-US" sz="2200" baseline="30000" dirty="0"/>
              <a:t>63</a:t>
            </a:r>
            <a:r>
              <a:rPr lang="en-US" sz="2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AFDF0-A432-7EA3-6FD8-D59AF4B54E67}"/>
              </a:ext>
            </a:extLst>
          </p:cNvPr>
          <p:cNvSpPr txBox="1"/>
          <p:nvPr/>
        </p:nvSpPr>
        <p:spPr>
          <a:xfrm>
            <a:off x="723239" y="5262027"/>
            <a:ext cx="93543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Python supports natively larger numbers but calculations can become slow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B7B57-6D4C-E331-FA09-9317C65A8CF3}"/>
              </a:ext>
            </a:extLst>
          </p:cNvPr>
          <p:cNvSpPr txBox="1"/>
          <p:nvPr/>
        </p:nvSpPr>
        <p:spPr>
          <a:xfrm>
            <a:off x="723239" y="5858834"/>
            <a:ext cx="93543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In C++ it is important to avoid under/over-flow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2C38B5-0C61-CAC1-29A6-4BA74D9E1B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3059AA-BF2C-9CD7-6EC6-5354EE6070C0}"/>
                  </a:ext>
                </a:extLst>
              </p:cNvPr>
              <p:cNvSpPr txBox="1"/>
              <p:nvPr/>
            </p:nvSpPr>
            <p:spPr>
              <a:xfrm>
                <a:off x="1234473" y="3032450"/>
                <a:ext cx="3449662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3059AA-BF2C-9CD7-6EC6-5354EE607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73" y="3032450"/>
                <a:ext cx="3449662" cy="380810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D0E5EE-D576-4F55-B7D5-443B519091DD}"/>
              </a:ext>
            </a:extLst>
          </p:cNvPr>
          <p:cNvCxnSpPr>
            <a:cxnSpLocks/>
          </p:cNvCxnSpPr>
          <p:nvPr/>
        </p:nvCxnSpPr>
        <p:spPr>
          <a:xfrm>
            <a:off x="2889447" y="1863187"/>
            <a:ext cx="0" cy="1704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F62E85-85BB-ABA1-66C9-5F0FAB681ACB}"/>
              </a:ext>
            </a:extLst>
          </p:cNvPr>
          <p:cNvCxnSpPr>
            <a:cxnSpLocks/>
          </p:cNvCxnSpPr>
          <p:nvPr/>
        </p:nvCxnSpPr>
        <p:spPr>
          <a:xfrm>
            <a:off x="2922102" y="2255072"/>
            <a:ext cx="0" cy="1704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7F0DFD-8FF9-8AE8-E4E9-3ECF218C8B84}"/>
              </a:ext>
            </a:extLst>
          </p:cNvPr>
          <p:cNvCxnSpPr>
            <a:cxnSpLocks/>
          </p:cNvCxnSpPr>
          <p:nvPr/>
        </p:nvCxnSpPr>
        <p:spPr>
          <a:xfrm>
            <a:off x="2878561" y="2592530"/>
            <a:ext cx="0" cy="1704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BD7B5B-CEB1-1B09-F077-49682A2D5F82}"/>
              </a:ext>
            </a:extLst>
          </p:cNvPr>
          <p:cNvCxnSpPr>
            <a:cxnSpLocks/>
          </p:cNvCxnSpPr>
          <p:nvPr/>
        </p:nvCxnSpPr>
        <p:spPr>
          <a:xfrm>
            <a:off x="8582675" y="2000997"/>
            <a:ext cx="0" cy="2031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53FB7B-631A-1FBB-4825-F1202AE1CEA9}"/>
              </a:ext>
            </a:extLst>
          </p:cNvPr>
          <p:cNvCxnSpPr>
            <a:cxnSpLocks/>
          </p:cNvCxnSpPr>
          <p:nvPr/>
        </p:nvCxnSpPr>
        <p:spPr>
          <a:xfrm>
            <a:off x="8470881" y="2447312"/>
            <a:ext cx="0" cy="2031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A5F5101-CDF2-182F-4D41-71498F2FF51A}"/>
              </a:ext>
            </a:extLst>
          </p:cNvPr>
          <p:cNvSpPr txBox="1"/>
          <p:nvPr/>
        </p:nvSpPr>
        <p:spPr>
          <a:xfrm>
            <a:off x="2353865" y="1509654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sign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4D8118-CA61-CD74-5E03-53BD8C456B7A}"/>
              </a:ext>
            </a:extLst>
          </p:cNvPr>
          <p:cNvSpPr txBox="1"/>
          <p:nvPr/>
        </p:nvSpPr>
        <p:spPr>
          <a:xfrm>
            <a:off x="2922102" y="1509656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808FF"/>
                </a:solidFill>
              </a:rPr>
              <a:t>digits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102D70-D3FE-5181-C179-E1632227ED6B}"/>
              </a:ext>
            </a:extLst>
          </p:cNvPr>
          <p:cNvSpPr txBox="1"/>
          <p:nvPr/>
        </p:nvSpPr>
        <p:spPr>
          <a:xfrm>
            <a:off x="8053780" y="1628629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sign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C9C7A4-53BD-DC1D-B27B-E235B5CCCDA0}"/>
              </a:ext>
            </a:extLst>
          </p:cNvPr>
          <p:cNvSpPr txBox="1"/>
          <p:nvPr/>
        </p:nvSpPr>
        <p:spPr>
          <a:xfrm>
            <a:off x="8567587" y="1628631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808FF"/>
                </a:solidFill>
              </a:rPr>
              <a:t>digits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68308D-872C-9C5F-E02A-BA6811D511B7}"/>
                  </a:ext>
                </a:extLst>
              </p:cNvPr>
              <p:cNvSpPr txBox="1"/>
              <p:nvPr/>
            </p:nvSpPr>
            <p:spPr>
              <a:xfrm>
                <a:off x="6897258" y="3042051"/>
                <a:ext cx="3340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68308D-872C-9C5F-E02A-BA6811D51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258" y="3042051"/>
                <a:ext cx="3340658" cy="369332"/>
              </a:xfrm>
              <a:prstGeom prst="rect">
                <a:avLst/>
              </a:prstGeom>
              <a:blipFill>
                <a:blip r:embed="rId6"/>
                <a:stretch>
                  <a:fillRect t="-6667" r="-7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D118FC-D6F9-D824-E135-104BD549DE90}"/>
              </a:ext>
            </a:extLst>
          </p:cNvPr>
          <p:cNvCxnSpPr>
            <a:cxnSpLocks/>
          </p:cNvCxnSpPr>
          <p:nvPr/>
        </p:nvCxnSpPr>
        <p:spPr>
          <a:xfrm flipH="1">
            <a:off x="2231571" y="2033655"/>
            <a:ext cx="555172" cy="1008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ECA35C-A876-921D-F835-65E1513D1CD2}"/>
              </a:ext>
            </a:extLst>
          </p:cNvPr>
          <p:cNvCxnSpPr>
            <a:cxnSpLocks/>
          </p:cNvCxnSpPr>
          <p:nvPr/>
        </p:nvCxnSpPr>
        <p:spPr>
          <a:xfrm flipH="1">
            <a:off x="2231571" y="2327023"/>
            <a:ext cx="555172" cy="714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DA9990-6863-B563-CE05-8085D0E47B33}"/>
              </a:ext>
            </a:extLst>
          </p:cNvPr>
          <p:cNvCxnSpPr>
            <a:cxnSpLocks/>
          </p:cNvCxnSpPr>
          <p:nvPr/>
        </p:nvCxnSpPr>
        <p:spPr>
          <a:xfrm flipH="1">
            <a:off x="2231571" y="2701561"/>
            <a:ext cx="478972" cy="339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3E00A4C-D43E-372E-E4F3-2379FC4FF566}"/>
              </a:ext>
            </a:extLst>
          </p:cNvPr>
          <p:cNvCxnSpPr>
            <a:cxnSpLocks/>
          </p:cNvCxnSpPr>
          <p:nvPr/>
        </p:nvCxnSpPr>
        <p:spPr>
          <a:xfrm flipH="1">
            <a:off x="7752662" y="2133103"/>
            <a:ext cx="640224" cy="970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DD59D68-653A-146B-8F60-EACF748183C4}"/>
              </a:ext>
            </a:extLst>
          </p:cNvPr>
          <p:cNvCxnSpPr>
            <a:cxnSpLocks/>
          </p:cNvCxnSpPr>
          <p:nvPr/>
        </p:nvCxnSpPr>
        <p:spPr>
          <a:xfrm flipH="1">
            <a:off x="7752662" y="2611164"/>
            <a:ext cx="564024" cy="49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95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number representation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AEC6C-A008-F454-37BE-1A1C8C95A408}"/>
              </a:ext>
            </a:extLst>
          </p:cNvPr>
          <p:cNvSpPr txBox="1"/>
          <p:nvPr/>
        </p:nvSpPr>
        <p:spPr>
          <a:xfrm>
            <a:off x="723240" y="1165086"/>
            <a:ext cx="739262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Floating point numbers represented by bit sequences as well, which are separated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Sign 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Exponent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808FF"/>
                </a:solidFill>
              </a:rPr>
              <a:t>Mantissa M</a:t>
            </a:r>
            <a:r>
              <a:rPr lang="en-US" sz="2200" dirty="0"/>
              <a:t> (significant digits)</a:t>
            </a:r>
          </a:p>
        </p:txBody>
      </p:sp>
      <p:pic>
        <p:nvPicPr>
          <p:cNvPr id="18434" name="Picture 2" descr="IEEE Standard 754 Floating Point Numbers - GeeksforGeeks">
            <a:extLst>
              <a:ext uri="{FF2B5EF4-FFF2-40B4-BE49-F238E27FC236}">
                <a16:creationId xmlns:a16="http://schemas.microsoft.com/office/drawing/2014/main" id="{EEC24E3E-DFDB-157B-CDAD-30321C79A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991" y="1773147"/>
            <a:ext cx="5753452" cy="149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13115C-B523-FEF6-3EC1-FAC0060DED87}"/>
              </a:ext>
            </a:extLst>
          </p:cNvPr>
          <p:cNvSpPr txBox="1"/>
          <p:nvPr/>
        </p:nvSpPr>
        <p:spPr>
          <a:xfrm>
            <a:off x="723240" y="3874783"/>
            <a:ext cx="7392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Main consequence: </a:t>
            </a:r>
            <a:r>
              <a:rPr lang="en-US" sz="2200" dirty="0"/>
              <a:t>Floating-point numbers are not exact!</a:t>
            </a:r>
            <a:endParaRPr lang="en-US" sz="2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0A50B-1682-BC39-71ED-5F387D93716D}"/>
              </a:ext>
            </a:extLst>
          </p:cNvPr>
          <p:cNvSpPr txBox="1"/>
          <p:nvPr/>
        </p:nvSpPr>
        <p:spPr>
          <a:xfrm>
            <a:off x="723240" y="4407732"/>
            <a:ext cx="78748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example, with 52 bits one can store about 16 decimal digits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7AEC4-6BF9-E473-4378-EF18B4986B8B}"/>
              </a:ext>
            </a:extLst>
          </p:cNvPr>
          <p:cNvSpPr txBox="1"/>
          <p:nvPr/>
        </p:nvSpPr>
        <p:spPr>
          <a:xfrm>
            <a:off x="723240" y="5073511"/>
            <a:ext cx="80724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Range: </a:t>
            </a:r>
            <a:r>
              <a:rPr lang="en-US" sz="2200" dirty="0"/>
              <a:t>from ~ -10</a:t>
            </a:r>
            <a:r>
              <a:rPr lang="en-US" sz="2200" baseline="30000" dirty="0"/>
              <a:t>308</a:t>
            </a:r>
            <a:r>
              <a:rPr lang="en-US" sz="2200" dirty="0"/>
              <a:t> to 10</a:t>
            </a:r>
            <a:r>
              <a:rPr lang="en-US" sz="2200" baseline="30000" dirty="0"/>
              <a:t>308</a:t>
            </a:r>
            <a:r>
              <a:rPr lang="en-US" sz="2200" dirty="0"/>
              <a:t> for a 64-bit float (double precision)</a:t>
            </a:r>
            <a:endParaRPr lang="en-US" sz="2200" b="1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5A2F814-DE6E-EA52-B5E8-4BD9DDA1F3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1A13B9D-1087-46A0-B0C7-4156CA63D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4421" y="3267696"/>
            <a:ext cx="2234293" cy="2553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55D370-186C-B031-7299-A1DBEB31F8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9365" y="3322263"/>
            <a:ext cx="3113936" cy="2350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F7BFD0-3A4D-BDD5-DD66-E6B1AC817200}"/>
              </a:ext>
            </a:extLst>
          </p:cNvPr>
          <p:cNvSpPr txBox="1"/>
          <p:nvPr/>
        </p:nvSpPr>
        <p:spPr>
          <a:xfrm>
            <a:off x="5695405" y="324486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</a:t>
            </a:r>
          </a:p>
        </p:txBody>
      </p:sp>
    </p:spTree>
    <p:extLst>
      <p:ext uri="{BB962C8B-B14F-4D97-AF65-F5344CB8AC3E}">
        <p14:creationId xmlns:p14="http://schemas.microsoft.com/office/powerpoint/2010/main" val="444909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number representation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888C0-FBA6-3448-3CEF-D13EE25188AD}"/>
              </a:ext>
            </a:extLst>
          </p:cNvPr>
          <p:cNvSpPr txBox="1"/>
          <p:nvPr/>
        </p:nvSpPr>
        <p:spPr>
          <a:xfrm>
            <a:off x="798392" y="1373876"/>
            <a:ext cx="30366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What you write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ADA5D4-3D7E-FDBF-0035-E1A62A4DC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3163" y="1988878"/>
            <a:ext cx="951292" cy="253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B510C7-96F2-C31C-7A9F-3F530CE241B5}"/>
              </a:ext>
            </a:extLst>
          </p:cNvPr>
          <p:cNvSpPr txBox="1"/>
          <p:nvPr/>
        </p:nvSpPr>
        <p:spPr>
          <a:xfrm>
            <a:off x="798392" y="2690111"/>
            <a:ext cx="22683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What it means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39B125-3CDF-5092-C1CB-191CD8E3AD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6354" y="3456370"/>
            <a:ext cx="4357796" cy="3598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0AF032-9C41-1FC1-0F7B-20AE6DA31BB8}"/>
              </a:ext>
            </a:extLst>
          </p:cNvPr>
          <p:cNvSpPr txBox="1"/>
          <p:nvPr/>
        </p:nvSpPr>
        <p:spPr>
          <a:xfrm>
            <a:off x="8104496" y="3456370"/>
            <a:ext cx="2727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a 64-bit float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391F25-C5A5-9215-16F0-95BF8D652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27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Equality test</a:t>
            </a:r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0DE47-2646-D06D-1AE5-6D56AB373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16" y="1488251"/>
            <a:ext cx="3819218" cy="214831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43B13C-5C08-852D-8ABB-AFDADCECF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86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Equality test</a:t>
            </a:r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0DE47-2646-D06D-1AE5-6D56AB373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16" y="1488251"/>
            <a:ext cx="3819218" cy="21483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707837-4668-C3D0-9DC8-607BED88E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27184"/>
            <a:ext cx="2678982" cy="57052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43B13C-5C08-852D-8ABB-AFDADCECF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87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Equality test</a:t>
            </a:r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0DE47-2646-D06D-1AE5-6D56AB373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16" y="1488251"/>
            <a:ext cx="3819218" cy="21483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707837-4668-C3D0-9DC8-607BED88E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27184"/>
            <a:ext cx="2678982" cy="570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324262-5FAE-6616-C936-340D01D0474C}"/>
              </a:ext>
            </a:extLst>
          </p:cNvPr>
          <p:cNvSpPr txBox="1"/>
          <p:nvPr/>
        </p:nvSpPr>
        <p:spPr>
          <a:xfrm>
            <a:off x="567459" y="4007893"/>
            <a:ext cx="324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You can do instead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19D73D-231F-26F9-4657-C8B84ACB2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16" y="4561685"/>
            <a:ext cx="4515241" cy="1828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C6EB84-6CF2-6294-150A-8BD6F7619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054980"/>
            <a:ext cx="4332574" cy="60333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43B13C-5C08-852D-8ABB-AFDADCECF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76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accumulation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24262-5FAE-6616-C936-340D01D0474C}"/>
              </a:ext>
            </a:extLst>
          </p:cNvPr>
          <p:cNvSpPr txBox="1"/>
          <p:nvPr/>
        </p:nvSpPr>
        <p:spPr>
          <a:xfrm>
            <a:off x="6062956" y="1458494"/>
            <a:ext cx="4050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unavoidable round-off error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19980D4-10E7-85E3-2F99-70FF295D6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924" y="1458494"/>
            <a:ext cx="4357796" cy="359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2326C8-1A9B-17CA-09B2-2F0F009D0141}"/>
              </a:ext>
            </a:extLst>
          </p:cNvPr>
          <p:cNvSpPr txBox="1"/>
          <p:nvPr/>
        </p:nvSpPr>
        <p:spPr>
          <a:xfrm>
            <a:off x="1099924" y="2652673"/>
            <a:ext cx="767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Errors accumulate through arithmetic operations, e.g.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A1F0DC7-D77C-2CC7-CEF3-746F809D90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7030" y="3609875"/>
            <a:ext cx="1021379" cy="7081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00496C-D216-E862-34C0-F1F32C9096B0}"/>
                  </a:ext>
                </a:extLst>
              </p:cNvPr>
              <p:cNvSpPr txBox="1"/>
              <p:nvPr/>
            </p:nvSpPr>
            <p:spPr>
              <a:xfrm>
                <a:off x="1103283" y="4568509"/>
                <a:ext cx="7352589" cy="1331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~</m:t>
                    </m:r>
                    <m:rad>
                      <m:radPr>
                        <m:deg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/>
                  <a:t> if errors are independent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/>
                  <a:t> if errors are correlated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 can be large in some other cases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00496C-D216-E862-34C0-F1F32C90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83" y="4568509"/>
                <a:ext cx="7352589" cy="1331134"/>
              </a:xfrm>
              <a:prstGeom prst="rect">
                <a:avLst/>
              </a:prstGeom>
              <a:blipFill>
                <a:blip r:embed="rId7"/>
                <a:stretch>
                  <a:fillRect l="-103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DF13EF-A248-6735-4B24-D52A6BDD38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90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Two large numbers with small difference</a:t>
            </a:r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1E802-A8F0-8BC7-7426-56064503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33" y="1110495"/>
            <a:ext cx="3664459" cy="5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B5F7D-592A-576D-90F3-57D842F32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507" y="1672102"/>
            <a:ext cx="4146985" cy="698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C82F72-A37D-44DF-7843-B50DADBF4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320" y="2572433"/>
            <a:ext cx="6735360" cy="536988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418DC19-2E9F-5A93-71FD-31C0BC527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77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Two large numbers with small difference</a:t>
            </a:r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1E802-A8F0-8BC7-7426-56064503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33" y="1110495"/>
            <a:ext cx="3664459" cy="5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B5F7D-592A-576D-90F3-57D842F32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507" y="1672102"/>
            <a:ext cx="4146985" cy="698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C82F72-A37D-44DF-7843-B50DADBF4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320" y="2572433"/>
            <a:ext cx="6735360" cy="536988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418DC19-2E9F-5A93-71FD-31C0BC527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57AE08-D787-AA78-6A82-08A86115D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33" y="3109421"/>
            <a:ext cx="5008524" cy="24693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1632CD-E806-ECFC-3E65-9A6EDEE3E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6159" y="3743729"/>
            <a:ext cx="55753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17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Two large numbers with small difference</a:t>
            </a:r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1E802-A8F0-8BC7-7426-56064503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33" y="1110495"/>
            <a:ext cx="3664459" cy="5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B5F7D-592A-576D-90F3-57D842F32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507" y="1672102"/>
            <a:ext cx="4146985" cy="698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C82F72-A37D-44DF-7843-B50DADBF4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320" y="2572433"/>
            <a:ext cx="6735360" cy="536988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418DC19-2E9F-5A93-71FD-31C0BC527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1A305-9E23-456D-C81A-2BFCC733222D}"/>
              </a:ext>
            </a:extLst>
          </p:cNvPr>
          <p:cNvSpPr txBox="1"/>
          <p:nvPr/>
        </p:nvSpPr>
        <p:spPr>
          <a:xfrm>
            <a:off x="1268135" y="5910943"/>
            <a:ext cx="461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y = </a:t>
            </a:r>
            <a:r>
              <a:rPr lang="en-US" b="0" i="0" dirty="0">
                <a:solidFill>
                  <a:srgbClr val="0808FF"/>
                </a:solidFill>
                <a:effectLst/>
                <a:latin typeface="+mj-lt"/>
              </a:rPr>
              <a:t>1.000000000000014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rPr>
              <a:t>142135623730951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…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D192A-ABF3-1FD6-B2CC-A95916523223}"/>
              </a:ext>
            </a:extLst>
          </p:cNvPr>
          <p:cNvSpPr txBox="1"/>
          <p:nvPr/>
        </p:nvSpPr>
        <p:spPr>
          <a:xfrm>
            <a:off x="1268135" y="6187525"/>
            <a:ext cx="456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x = </a:t>
            </a:r>
            <a:r>
              <a:rPr lang="en-US" b="0" i="0" dirty="0">
                <a:solidFill>
                  <a:srgbClr val="0808FF"/>
                </a:solidFill>
                <a:effectLst/>
                <a:latin typeface="+mj-lt"/>
              </a:rPr>
              <a:t>1.000000000000000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rPr>
              <a:t>000000000000000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…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2FCA0-04C8-AE1A-9557-1693ECE46914}"/>
              </a:ext>
            </a:extLst>
          </p:cNvPr>
          <p:cNvSpPr txBox="1"/>
          <p:nvPr/>
        </p:nvSpPr>
        <p:spPr>
          <a:xfrm>
            <a:off x="1921571" y="5607101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808FF"/>
                </a:solidFill>
              </a:rPr>
              <a:t>significant digits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61679-FF2E-61C9-1AB1-4354CBED050B}"/>
              </a:ext>
            </a:extLst>
          </p:cNvPr>
          <p:cNvSpPr txBox="1"/>
          <p:nvPr/>
        </p:nvSpPr>
        <p:spPr>
          <a:xfrm>
            <a:off x="3804423" y="5607101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these do not fit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57AE08-D787-AA78-6A82-08A86115D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33" y="3109421"/>
            <a:ext cx="5008524" cy="24693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1632CD-E806-ECFC-3E65-9A6EDEE3E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6159" y="3743729"/>
            <a:ext cx="55753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14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65C3-1FEA-2F42-FE3F-6BF63175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1AA9-F222-83B8-0F07-5745F239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large numbers with a small difference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D16AF-98CC-68DA-FB82-C04D7C0F5868}"/>
                  </a:ext>
                </a:extLst>
              </p:cNvPr>
              <p:cNvSpPr txBox="1"/>
              <p:nvPr/>
            </p:nvSpPr>
            <p:spPr>
              <a:xfrm>
                <a:off x="896997" y="1319015"/>
                <a:ext cx="5071412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us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D16AF-98CC-68DA-FB82-C04D7C0F5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97" y="1319015"/>
                <a:ext cx="5071412" cy="497637"/>
              </a:xfrm>
              <a:prstGeom prst="rect">
                <a:avLst/>
              </a:prstGeom>
              <a:blipFill>
                <a:blip r:embed="rId3"/>
                <a:stretch>
                  <a:fillRect l="-2000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11A520B-25FB-258D-C451-B037621B11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AA07E-870C-2FF3-B955-0D006473B682}"/>
              </a:ext>
            </a:extLst>
          </p:cNvPr>
          <p:cNvSpPr txBox="1"/>
          <p:nvPr/>
        </p:nvSpPr>
        <p:spPr>
          <a:xfrm>
            <a:off x="896996" y="2097372"/>
            <a:ext cx="313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Symbolically, one has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04BAAD-DB86-A47E-FEEB-6D239F2C9733}"/>
                  </a:ext>
                </a:extLst>
              </p:cNvPr>
              <p:cNvSpPr txBox="1"/>
              <p:nvPr/>
            </p:nvSpPr>
            <p:spPr>
              <a:xfrm>
                <a:off x="3837481" y="2061400"/>
                <a:ext cx="5071412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=1.414</m:t>
                    </m:r>
                  </m:oMath>
                </a14:m>
                <a:r>
                  <a:rPr lang="en-US" sz="2400" dirty="0"/>
                  <a:t>21356237…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04BAAD-DB86-A47E-FEEB-6D239F2C9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481" y="2061400"/>
                <a:ext cx="5071412" cy="497637"/>
              </a:xfrm>
              <a:prstGeom prst="rect">
                <a:avLst/>
              </a:prstGeom>
              <a:blipFill>
                <a:blip r:embed="rId4"/>
                <a:stretch>
                  <a:fillRect l="-500" t="-2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2C4B86-8241-C261-E6BA-821F50D132C2}"/>
                  </a:ext>
                </a:extLst>
              </p:cNvPr>
              <p:cNvSpPr txBox="1"/>
              <p:nvPr/>
            </p:nvSpPr>
            <p:spPr>
              <a:xfrm>
                <a:off x="896996" y="2833046"/>
                <a:ext cx="9782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us test this relation on a computer for a very small value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−14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2C4B86-8241-C261-E6BA-821F50D13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96" y="2833046"/>
                <a:ext cx="9782334" cy="461665"/>
              </a:xfrm>
              <a:prstGeom prst="rect">
                <a:avLst/>
              </a:prstGeom>
              <a:blipFill>
                <a:blip r:embed="rId5"/>
                <a:stretch>
                  <a:fillRect l="-1038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DD7783A-E430-B180-AEA6-7463655B6C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33" y="3429000"/>
            <a:ext cx="5670164" cy="22485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01F1E5-F69C-6FEB-0F58-3EAFEB28C1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903" y="4017073"/>
            <a:ext cx="5201692" cy="7848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54AF4E-FC9A-FC11-41D4-FC50F3BA5629}"/>
              </a:ext>
            </a:extLst>
          </p:cNvPr>
          <p:cNvSpPr txBox="1"/>
          <p:nvPr/>
        </p:nvSpPr>
        <p:spPr>
          <a:xfrm>
            <a:off x="7269662" y="4801890"/>
            <a:ext cx="3363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Catastrophic loss of precision!</a:t>
            </a:r>
          </a:p>
          <a:p>
            <a:r>
              <a:rPr lang="en-US" i="1" dirty="0"/>
              <a:t>What happened?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9CFC99-D23C-8735-03B0-CC027FC9B71E}"/>
              </a:ext>
            </a:extLst>
          </p:cNvPr>
          <p:cNvSpPr txBox="1"/>
          <p:nvPr/>
        </p:nvSpPr>
        <p:spPr>
          <a:xfrm>
            <a:off x="6840707" y="5796689"/>
            <a:ext cx="461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y = </a:t>
            </a:r>
            <a:r>
              <a:rPr lang="en-US" b="0" i="0" dirty="0">
                <a:solidFill>
                  <a:srgbClr val="0808FF"/>
                </a:solidFill>
                <a:effectLst/>
                <a:latin typeface="+mj-lt"/>
              </a:rPr>
              <a:t>1.000000000000014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rPr>
              <a:t>142135623730951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…</a:t>
            </a:r>
            <a:endParaRPr lang="en-US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881DB-F7AA-A5DA-E70E-0F02EBB5EC37}"/>
              </a:ext>
            </a:extLst>
          </p:cNvPr>
          <p:cNvSpPr txBox="1"/>
          <p:nvPr/>
        </p:nvSpPr>
        <p:spPr>
          <a:xfrm>
            <a:off x="6840707" y="6073271"/>
            <a:ext cx="456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x = </a:t>
            </a:r>
            <a:r>
              <a:rPr lang="en-US" b="0" i="0" dirty="0">
                <a:solidFill>
                  <a:srgbClr val="0808FF"/>
                </a:solidFill>
                <a:effectLst/>
                <a:latin typeface="+mj-lt"/>
              </a:rPr>
              <a:t>1.000000000000000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rPr>
              <a:t>000000000000000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…</a:t>
            </a:r>
            <a:endParaRPr lang="en-US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345F2B-3EEC-3328-F5AC-7649CD364992}"/>
              </a:ext>
            </a:extLst>
          </p:cNvPr>
          <p:cNvSpPr txBox="1"/>
          <p:nvPr/>
        </p:nvSpPr>
        <p:spPr>
          <a:xfrm>
            <a:off x="7494143" y="5492847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808FF"/>
                </a:solidFill>
              </a:rPr>
              <a:t>significant digits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4F958-5BA9-8180-DA99-258DA6EA6CCB}"/>
              </a:ext>
            </a:extLst>
          </p:cNvPr>
          <p:cNvSpPr txBox="1"/>
          <p:nvPr/>
        </p:nvSpPr>
        <p:spPr>
          <a:xfrm>
            <a:off x="9376995" y="5492847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these do not fit</a:t>
            </a:r>
          </a:p>
        </p:txBody>
      </p:sp>
    </p:spTree>
    <p:extLst>
      <p:ext uri="{BB962C8B-B14F-4D97-AF65-F5344CB8AC3E}">
        <p14:creationId xmlns:p14="http://schemas.microsoft.com/office/powerpoint/2010/main" val="345306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examples (hands-on session)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9692-600F-1D1A-5EDA-C58862363FD6}"/>
              </a:ext>
            </a:extLst>
          </p:cNvPr>
          <p:cNvSpPr txBox="1"/>
          <p:nvPr/>
        </p:nvSpPr>
        <p:spPr>
          <a:xfrm>
            <a:off x="721146" y="1274849"/>
            <a:ext cx="79003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Roots of a quadratic equation with |ac|&lt;&lt;b</a:t>
            </a:r>
            <a:r>
              <a:rPr lang="en-US" sz="2400" baseline="30000" dirty="0"/>
              <a:t>2</a:t>
            </a:r>
            <a:r>
              <a:rPr lang="en-US" sz="2400" dirty="0"/>
              <a:t> (cancellation of two large numbers with small difference)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Simple numerical derivative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72EE6D1-6876-646E-981F-9B013588D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705" y="2578948"/>
            <a:ext cx="2741865" cy="36415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23A871A-811D-1946-74AA-45870B497B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8236" y="2498877"/>
            <a:ext cx="2631368" cy="6537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D4EA3D6-4691-64EB-C3F4-A939B20D74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6551" y="4576730"/>
            <a:ext cx="2774287" cy="5824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DABBB1-4498-F698-CBA0-FCE8037F4EC9}"/>
              </a:ext>
            </a:extLst>
          </p:cNvPr>
          <p:cNvSpPr txBox="1"/>
          <p:nvPr/>
        </p:nvSpPr>
        <p:spPr>
          <a:xfrm>
            <a:off x="940700" y="5414070"/>
            <a:ext cx="7352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Sometimes a small </a:t>
            </a:r>
            <a:r>
              <a:rPr lang="en-US" sz="2400" i="1" dirty="0"/>
              <a:t>h</a:t>
            </a:r>
            <a:r>
              <a:rPr lang="en-US" sz="2400" dirty="0"/>
              <a:t> is too small</a:t>
            </a:r>
          </a:p>
        </p:txBody>
      </p:sp>
      <p:pic>
        <p:nvPicPr>
          <p:cNvPr id="13318" name="Picture 6">
            <a:extLst>
              <a:ext uri="{FF2B5EF4-FFF2-40B4-BE49-F238E27FC236}">
                <a16:creationId xmlns:a16="http://schemas.microsoft.com/office/drawing/2014/main" id="{05D2B321-461A-DC1D-F9E2-253EE16E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61" y="3548466"/>
            <a:ext cx="3653959" cy="287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196EF06-6F4D-2C7E-3970-79EF1BE62D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56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A77CA-A98A-1086-A399-08CF3363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65E1-E874-72FE-0180-61CD83F6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equation</a:t>
            </a:r>
            <a:endParaRPr lang="uk-UA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CFD8DB4-4086-A431-EF73-86A4B427D1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806FB73-0F95-3622-D54C-8F7DDCD46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5067" y="1226118"/>
            <a:ext cx="2741865" cy="3641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658F7D-29F5-A399-88D0-2CD4CD087D14}"/>
                  </a:ext>
                </a:extLst>
              </p:cNvPr>
              <p:cNvSpPr txBox="1"/>
              <p:nvPr/>
            </p:nvSpPr>
            <p:spPr>
              <a:xfrm>
                <a:off x="858636" y="3088581"/>
                <a:ext cx="7719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Let us calculate the roots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658F7D-29F5-A399-88D0-2CD4CD087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36" y="3088581"/>
                <a:ext cx="7719998" cy="461665"/>
              </a:xfrm>
              <a:prstGeom prst="rect">
                <a:avLst/>
              </a:prstGeom>
              <a:blipFill>
                <a:blip r:embed="rId5"/>
                <a:stretch>
                  <a:fillRect l="-1149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778F793-2117-58D2-E843-1A74D4974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316" y="2173218"/>
            <a:ext cx="2807368" cy="8625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8B9F01-D10B-15E0-F3AB-4A40D4865D8A}"/>
              </a:ext>
            </a:extLst>
          </p:cNvPr>
          <p:cNvSpPr txBox="1"/>
          <p:nvPr/>
        </p:nvSpPr>
        <p:spPr>
          <a:xfrm>
            <a:off x="858636" y="1931100"/>
            <a:ext cx="3692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Symbolically, the roots are: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619C58-21A1-93BF-71A2-9361ADD8DDD7}"/>
              </a:ext>
            </a:extLst>
          </p:cNvPr>
          <p:cNvSpPr txBox="1"/>
          <p:nvPr/>
        </p:nvSpPr>
        <p:spPr>
          <a:xfrm>
            <a:off x="9756985" y="3088580"/>
            <a:ext cx="157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|ac|&lt;&lt;b</a:t>
            </a:r>
            <a:r>
              <a:rPr lang="en-US" sz="2400" baseline="30000" dirty="0"/>
              <a:t>2</a:t>
            </a:r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9ABD82-B270-EA76-5BF1-3238B72AB3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36" y="3798943"/>
            <a:ext cx="4933393" cy="23207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E4679A-17E5-DD84-0849-0B34A1EFE9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5449" y="3964043"/>
            <a:ext cx="3803587" cy="6134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CF45218-AE98-6FEF-0C84-D357AB7E7068}"/>
              </a:ext>
            </a:extLst>
          </p:cNvPr>
          <p:cNvSpPr txBox="1"/>
          <p:nvPr/>
        </p:nvSpPr>
        <p:spPr>
          <a:xfrm>
            <a:off x="7315500" y="4789796"/>
            <a:ext cx="38234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/>
              <a:t>x</a:t>
            </a:r>
            <a:r>
              <a:rPr lang="en-US" sz="2200" i="1" baseline="-25000" dirty="0"/>
              <a:t>2</a:t>
            </a:r>
            <a:r>
              <a:rPr lang="en-US" sz="2200" i="1" dirty="0"/>
              <a:t> looks ok </a:t>
            </a:r>
            <a:r>
              <a:rPr lang="en-US" sz="2200" i="1" dirty="0">
                <a:solidFill>
                  <a:srgbClr val="FF0000"/>
                </a:solidFill>
              </a:rPr>
              <a:t>but x</a:t>
            </a:r>
            <a:r>
              <a:rPr lang="en-US" sz="2200" i="1" baseline="-25000" dirty="0">
                <a:solidFill>
                  <a:srgbClr val="FF0000"/>
                </a:solidFill>
              </a:rPr>
              <a:t>1</a:t>
            </a:r>
            <a:r>
              <a:rPr lang="en-US" sz="2200" i="1" dirty="0">
                <a:solidFill>
                  <a:srgbClr val="FF0000"/>
                </a:solidFill>
              </a:rPr>
              <a:t> seems off(?)</a:t>
            </a:r>
            <a:endParaRPr lang="en-US" sz="2200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12C34D-FBFE-7D8A-430F-7B3A4C8DC511}"/>
              </a:ext>
            </a:extLst>
          </p:cNvPr>
          <p:cNvSpPr/>
          <p:nvPr/>
        </p:nvSpPr>
        <p:spPr>
          <a:xfrm>
            <a:off x="6250898" y="2173218"/>
            <a:ext cx="1216034" cy="4901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93CF062-104D-65A4-847A-8DE98D95AAE7}"/>
              </a:ext>
            </a:extLst>
          </p:cNvPr>
          <p:cNvCxnSpPr/>
          <p:nvPr/>
        </p:nvCxnSpPr>
        <p:spPr>
          <a:xfrm flipV="1">
            <a:off x="7466932" y="2052159"/>
            <a:ext cx="687717" cy="24211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ADE854-B5A4-52CE-3A0F-2EB2CCE90E9D}"/>
                  </a:ext>
                </a:extLst>
              </p:cNvPr>
              <p:cNvSpPr txBox="1"/>
              <p:nvPr/>
            </p:nvSpPr>
            <p:spPr>
              <a:xfrm>
                <a:off x="8148891" y="1801418"/>
                <a:ext cx="2922018" cy="405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rad>
                  </m:oMath>
                </a14:m>
                <a:r>
                  <a:rPr lang="en-US" dirty="0"/>
                  <a:t> is very close to </a:t>
                </a:r>
                <a:r>
                  <a:rPr lang="en-US" i="1" dirty="0"/>
                  <a:t>b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ADE854-B5A4-52CE-3A0F-2EB2CCE90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891" y="1801418"/>
                <a:ext cx="2922018" cy="405496"/>
              </a:xfrm>
              <a:prstGeom prst="rect">
                <a:avLst/>
              </a:prstGeom>
              <a:blipFill>
                <a:blip r:embed="rId9"/>
                <a:stretch>
                  <a:fillRect r="-86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10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 animBg="1"/>
      <p:bldP spid="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F339-4A34-4E19-70CB-F8254DB0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C16E-B252-4714-8275-DFA2753A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equation</a:t>
            </a:r>
            <a:endParaRPr lang="uk-UA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58066AD-A74D-1D5B-6794-E0AD279721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7D6887-98B4-3624-5461-5ACDB6337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5067" y="1226118"/>
            <a:ext cx="2741865" cy="3641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E5E065-097E-9C00-E0AC-A1F5111AE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191" y="2336575"/>
            <a:ext cx="2807368" cy="8625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A80445-2637-7C97-22BA-8707228C9283}"/>
              </a:ext>
            </a:extLst>
          </p:cNvPr>
          <p:cNvSpPr txBox="1"/>
          <p:nvPr/>
        </p:nvSpPr>
        <p:spPr>
          <a:xfrm>
            <a:off x="719528" y="1911389"/>
            <a:ext cx="21371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Standard form: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EFB6C-7AF3-6811-81FD-F5382560A1C3}"/>
              </a:ext>
            </a:extLst>
          </p:cNvPr>
          <p:cNvSpPr txBox="1"/>
          <p:nvPr/>
        </p:nvSpPr>
        <p:spPr>
          <a:xfrm>
            <a:off x="6493372" y="1911389"/>
            <a:ext cx="23936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Alternative form: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DFF1C-D81C-307E-DD7C-A2F91C013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6830" y="2295435"/>
            <a:ext cx="2897625" cy="944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FD8EB-2E19-3CC6-A845-CF84A6D043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021" y="4171416"/>
            <a:ext cx="4460340" cy="1426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E37587-FC87-A7AD-859E-C2A97D2CC7C6}"/>
              </a:ext>
            </a:extLst>
          </p:cNvPr>
          <p:cNvSpPr txBox="1"/>
          <p:nvPr/>
        </p:nvSpPr>
        <p:spPr>
          <a:xfrm>
            <a:off x="719528" y="3600745"/>
            <a:ext cx="32800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Using the alternative 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0610F-D77B-F927-182D-F82DCB79C7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3372" y="4122032"/>
            <a:ext cx="2792929" cy="6077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3BABB7-4232-F6F3-E5E4-E9543805276B}"/>
              </a:ext>
            </a:extLst>
          </p:cNvPr>
          <p:cNvSpPr txBox="1"/>
          <p:nvPr/>
        </p:nvSpPr>
        <p:spPr>
          <a:xfrm>
            <a:off x="6493372" y="4884463"/>
            <a:ext cx="33874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/>
              <a:t>x</a:t>
            </a:r>
            <a:r>
              <a:rPr lang="en-US" sz="2200" i="1" baseline="-25000" dirty="0"/>
              <a:t>1</a:t>
            </a:r>
            <a:r>
              <a:rPr lang="en-US" sz="2200" i="1" dirty="0"/>
              <a:t> is fixed </a:t>
            </a:r>
            <a:r>
              <a:rPr lang="en-US" sz="2200" i="1" dirty="0">
                <a:solidFill>
                  <a:srgbClr val="FF0000"/>
                </a:solidFill>
              </a:rPr>
              <a:t>but now x</a:t>
            </a:r>
            <a:r>
              <a:rPr lang="en-US" sz="2200" i="1" baseline="-25000" dirty="0">
                <a:solidFill>
                  <a:srgbClr val="FF0000"/>
                </a:solidFill>
              </a:rPr>
              <a:t>2</a:t>
            </a:r>
            <a:r>
              <a:rPr lang="en-US" sz="2200" i="1" dirty="0">
                <a:solidFill>
                  <a:srgbClr val="FF0000"/>
                </a:solidFill>
              </a:rPr>
              <a:t> is off</a:t>
            </a:r>
            <a:endParaRPr lang="en-US" sz="22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5EAFDF-72DE-2BCB-5965-54FFB752CBA9}"/>
              </a:ext>
            </a:extLst>
          </p:cNvPr>
          <p:cNvSpPr txBox="1"/>
          <p:nvPr/>
        </p:nvSpPr>
        <p:spPr>
          <a:xfrm>
            <a:off x="719861" y="5843335"/>
            <a:ext cx="10752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Solution: </a:t>
            </a:r>
            <a:r>
              <a:rPr lang="en-US" sz="2200" dirty="0"/>
              <a:t>Make a judicious choice between standard and alternative form for each root separately, such that subtraction of two similar number is avoided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61712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</p:bld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in Modern (Beamer-like)">
      <a:majorFont>
        <a:latin typeface="LM Sans 10"/>
        <a:ea typeface=""/>
        <a:cs typeface=""/>
      </a:majorFont>
      <a:minorFont>
        <a:latin typeface="LM Sans 10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ceStandard.potx" id="{68DB5CD3-6005-4466-AA38-EBD4F9E1AFDA}" vid="{31E8EE0F-63EF-41D6-BECB-9725E0583DB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2123</TotalTime>
  <Words>958</Words>
  <Application>Microsoft Macintosh PowerPoint</Application>
  <PresentationFormat>Widescreen</PresentationFormat>
  <Paragraphs>182</Paragraphs>
  <Slides>30</Slides>
  <Notes>24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Cambria Math</vt:lpstr>
      <vt:lpstr>Gill Sans MT</vt:lpstr>
      <vt:lpstr>LM Sans 10</vt:lpstr>
      <vt:lpstr>Times New Roman</vt:lpstr>
      <vt:lpstr>Тема Office</vt:lpstr>
      <vt:lpstr>Computational Physics @ NuSTEAM</vt:lpstr>
      <vt:lpstr>Computational Physics</vt:lpstr>
      <vt:lpstr>PowerPoint Presentation</vt:lpstr>
      <vt:lpstr>Plotting the data</vt:lpstr>
      <vt:lpstr>Plotting the data</vt:lpstr>
      <vt:lpstr>Putting it on a graph</vt:lpstr>
      <vt:lpstr>Putting it on a graph</vt:lpstr>
      <vt:lpstr>Putting it on a graph</vt:lpstr>
      <vt:lpstr>Putting it on a graph</vt:lpstr>
      <vt:lpstr>Plot multiple lines to compare functions, profiles, etc.</vt:lpstr>
      <vt:lpstr>Things to avoid</vt:lpstr>
      <vt:lpstr>Things to avoid</vt:lpstr>
      <vt:lpstr>Things to avoid</vt:lpstr>
      <vt:lpstr>Plotting the HRG equation of state</vt:lpstr>
      <vt:lpstr>Plotting the HRG equation of state</vt:lpstr>
      <vt:lpstr>PowerPoint Presentation</vt:lpstr>
      <vt:lpstr>Integer representation</vt:lpstr>
      <vt:lpstr>Floating-point number representation</vt:lpstr>
      <vt:lpstr>Floating-point number representation</vt:lpstr>
      <vt:lpstr>Example: Equality test</vt:lpstr>
      <vt:lpstr>Example: Equality test</vt:lpstr>
      <vt:lpstr>Example: Equality test</vt:lpstr>
      <vt:lpstr>Error accumulation</vt:lpstr>
      <vt:lpstr>Example: Two large numbers with small difference</vt:lpstr>
      <vt:lpstr>Example: Two large numbers with small difference</vt:lpstr>
      <vt:lpstr>Example: Two large numbers with small difference</vt:lpstr>
      <vt:lpstr>Two large numbers with a small difference</vt:lpstr>
      <vt:lpstr>Other examples (hands-on session)</vt:lpstr>
      <vt:lpstr>Quadratic equation</vt:lpstr>
      <vt:lpstr>Quadratic equation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Physics (PHYS6350)</dc:title>
  <dc:creator>Vovchenko Volodymyr</dc:creator>
  <cp:lastModifiedBy>Vovchenko Volodymyr</cp:lastModifiedBy>
  <cp:revision>1164</cp:revision>
  <cp:lastPrinted>2018-05-12T22:28:36Z</cp:lastPrinted>
  <dcterms:created xsi:type="dcterms:W3CDTF">2018-05-07T16:28:28Z</dcterms:created>
  <dcterms:modified xsi:type="dcterms:W3CDTF">2025-06-11T13:29:37Z</dcterms:modified>
</cp:coreProperties>
</file>