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8"/>
  </p:notesMasterIdLst>
  <p:sldIdLst>
    <p:sldId id="259" r:id="rId2"/>
    <p:sldId id="763" r:id="rId3"/>
    <p:sldId id="848" r:id="rId4"/>
    <p:sldId id="849" r:id="rId5"/>
    <p:sldId id="851" r:id="rId6"/>
    <p:sldId id="852" r:id="rId7"/>
    <p:sldId id="850" r:id="rId8"/>
    <p:sldId id="853" r:id="rId9"/>
    <p:sldId id="854" r:id="rId10"/>
    <p:sldId id="856" r:id="rId11"/>
    <p:sldId id="857" r:id="rId12"/>
    <p:sldId id="858" r:id="rId13"/>
    <p:sldId id="859" r:id="rId14"/>
    <p:sldId id="860" r:id="rId15"/>
    <p:sldId id="861" r:id="rId16"/>
    <p:sldId id="862" r:id="rId17"/>
    <p:sldId id="864" r:id="rId18"/>
    <p:sldId id="863" r:id="rId19"/>
    <p:sldId id="876" r:id="rId20"/>
    <p:sldId id="870" r:id="rId21"/>
    <p:sldId id="873" r:id="rId22"/>
    <p:sldId id="874" r:id="rId23"/>
    <p:sldId id="875" r:id="rId24"/>
    <p:sldId id="907" r:id="rId25"/>
    <p:sldId id="906" r:id="rId26"/>
    <p:sldId id="893" r:id="rId27"/>
    <p:sldId id="894" r:id="rId28"/>
    <p:sldId id="895" r:id="rId29"/>
    <p:sldId id="896" r:id="rId30"/>
    <p:sldId id="897" r:id="rId31"/>
    <p:sldId id="899" r:id="rId32"/>
    <p:sldId id="908" r:id="rId33"/>
    <p:sldId id="909" r:id="rId34"/>
    <p:sldId id="910" r:id="rId35"/>
    <p:sldId id="911" r:id="rId36"/>
    <p:sldId id="912" r:id="rId37"/>
    <p:sldId id="913" r:id="rId38"/>
    <p:sldId id="914" r:id="rId39"/>
    <p:sldId id="915" r:id="rId40"/>
    <p:sldId id="900" r:id="rId41"/>
    <p:sldId id="903" r:id="rId42"/>
    <p:sldId id="902" r:id="rId43"/>
    <p:sldId id="901" r:id="rId44"/>
    <p:sldId id="898" r:id="rId45"/>
    <p:sldId id="904" r:id="rId46"/>
    <p:sldId id="905" r:id="rId47"/>
    <p:sldId id="892" r:id="rId48"/>
    <p:sldId id="916" r:id="rId49"/>
    <p:sldId id="877" r:id="rId50"/>
    <p:sldId id="865" r:id="rId51"/>
    <p:sldId id="866" r:id="rId52"/>
    <p:sldId id="867" r:id="rId53"/>
    <p:sldId id="868" r:id="rId54"/>
    <p:sldId id="869" r:id="rId55"/>
    <p:sldId id="871" r:id="rId56"/>
    <p:sldId id="872" r:id="rId57"/>
  </p:sldIdLst>
  <p:sldSz cx="12192000" cy="6858000"/>
  <p:notesSz cx="7102475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622845-6266-4D00-96BA-1436A2147006}">
          <p14:sldIdLst>
            <p14:sldId id="259"/>
            <p14:sldId id="763"/>
            <p14:sldId id="848"/>
            <p14:sldId id="849"/>
            <p14:sldId id="851"/>
            <p14:sldId id="852"/>
            <p14:sldId id="850"/>
            <p14:sldId id="853"/>
            <p14:sldId id="854"/>
            <p14:sldId id="856"/>
            <p14:sldId id="857"/>
            <p14:sldId id="858"/>
            <p14:sldId id="859"/>
            <p14:sldId id="860"/>
            <p14:sldId id="861"/>
            <p14:sldId id="862"/>
            <p14:sldId id="864"/>
            <p14:sldId id="863"/>
            <p14:sldId id="876"/>
            <p14:sldId id="870"/>
            <p14:sldId id="873"/>
            <p14:sldId id="874"/>
            <p14:sldId id="875"/>
            <p14:sldId id="907"/>
            <p14:sldId id="906"/>
            <p14:sldId id="893"/>
            <p14:sldId id="894"/>
            <p14:sldId id="895"/>
            <p14:sldId id="896"/>
            <p14:sldId id="897"/>
            <p14:sldId id="899"/>
            <p14:sldId id="908"/>
            <p14:sldId id="909"/>
            <p14:sldId id="910"/>
            <p14:sldId id="911"/>
            <p14:sldId id="912"/>
            <p14:sldId id="913"/>
            <p14:sldId id="914"/>
            <p14:sldId id="915"/>
            <p14:sldId id="900"/>
            <p14:sldId id="903"/>
            <p14:sldId id="902"/>
            <p14:sldId id="901"/>
            <p14:sldId id="898"/>
            <p14:sldId id="904"/>
            <p14:sldId id="905"/>
            <p14:sldId id="892"/>
            <p14:sldId id="916"/>
            <p14:sldId id="877"/>
            <p14:sldId id="865"/>
            <p14:sldId id="866"/>
            <p14:sldId id="867"/>
            <p14:sldId id="868"/>
            <p14:sldId id="869"/>
            <p14:sldId id="871"/>
            <p14:sldId id="8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k36x6teoh@goetheuniversitaet.onmicrosoft.com" initials="j" lastIdx="1" clrIdx="0">
    <p:extLst>
      <p:ext uri="{19B8F6BF-5375-455C-9EA6-DF929625EA0E}">
        <p15:presenceInfo xmlns:p15="http://schemas.microsoft.com/office/powerpoint/2012/main" userId="jk36x6teoh@goetheuniversitaet.onmicrosoft.com" providerId="None"/>
      </p:ext>
    </p:extLst>
  </p:cmAuthor>
  <p:cmAuthor id="2" name="Vovchenko Volodymyr" initials="VV" lastIdx="3" clrIdx="1">
    <p:extLst>
      <p:ext uri="{19B8F6BF-5375-455C-9EA6-DF929625EA0E}">
        <p15:presenceInfo xmlns:p15="http://schemas.microsoft.com/office/powerpoint/2012/main" userId="9971ad54b2be89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FF"/>
    <a:srgbClr val="122EA6"/>
    <a:srgbClr val="3B3838"/>
    <a:srgbClr val="A4A3A3"/>
    <a:srgbClr val="206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02" autoAdjust="0"/>
    <p:restoredTop sz="90113" autoAdjust="0"/>
  </p:normalViewPr>
  <p:slideViewPr>
    <p:cSldViewPr snapToGrid="0">
      <p:cViewPr varScale="1">
        <p:scale>
          <a:sx n="108" d="100"/>
          <a:sy n="108" d="100"/>
        </p:scale>
        <p:origin x="-16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350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61AF02B-09B0-4980-983D-27C0EDB561B5}" type="datetimeFigureOut">
              <a:rPr lang="uk-UA" smtClean="0"/>
              <a:t>12.06.25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7739" cy="51350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9" cy="51350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2F0C5EC2-2CF5-460B-AE73-90022B24A42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64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902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478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0185" y="53790"/>
            <a:ext cx="11271623" cy="2034987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398" y="2183414"/>
            <a:ext cx="10363199" cy="5559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Volodymyr Vovchenko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F37B5-78F5-4A7D-8B93-035842C50E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03" y="4582035"/>
            <a:ext cx="5630583" cy="555922"/>
          </a:xfrm>
        </p:spPr>
        <p:txBody>
          <a:bodyPr>
            <a:normAutofit/>
          </a:bodyPr>
          <a:lstStyle>
            <a:lvl1pPr marL="0" indent="0" algn="ctr">
              <a:buNone/>
              <a:defRPr sz="2400" i="1"/>
            </a:lvl1pPr>
          </a:lstStyle>
          <a:p>
            <a:pPr lvl="0"/>
            <a:r>
              <a:rPr lang="en-US" dirty="0"/>
              <a:t>Conference, City, Country</a:t>
            </a:r>
            <a:endParaRPr lang="uk-UA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FFC172-0F22-4283-A11C-0DC5E0AE8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3001" y="5019584"/>
            <a:ext cx="3845984" cy="555922"/>
          </a:xfrm>
        </p:spPr>
        <p:txBody>
          <a:bodyPr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 dirty="0"/>
              <a:t>January 1, 2018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8850A6-F8A6-4A0B-B3FD-B128F2AAAD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8" y="2651537"/>
            <a:ext cx="10363199" cy="41592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Affiliation 1 &amp; Affiliation 2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62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0542" y="1"/>
            <a:ext cx="11450917" cy="1165085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42" y="1165086"/>
            <a:ext cx="11450917" cy="5065379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9" y="6356351"/>
            <a:ext cx="1733177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uk-UA" dirty="0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11295" y="6356351"/>
            <a:ext cx="7769411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Lattice-based QCD equation of state at finite baryon density</a:t>
            </a:r>
            <a:endParaRPr lang="uk-UA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330716B-4A30-42ED-9EE2-313B727AF872}"/>
              </a:ext>
            </a:extLst>
          </p:cNvPr>
          <p:cNvCxnSpPr>
            <a:cxnSpLocks/>
          </p:cNvCxnSpPr>
          <p:nvPr userDrawn="1"/>
        </p:nvCxnSpPr>
        <p:spPr>
          <a:xfrm>
            <a:off x="525930" y="941290"/>
            <a:ext cx="11295529" cy="0"/>
          </a:xfrm>
          <a:prstGeom prst="line">
            <a:avLst/>
          </a:prstGeom>
          <a:ln w="38100" cap="rnd">
            <a:solidFill>
              <a:schemeClr val="accent1">
                <a:lumMod val="75000"/>
              </a:schemeClr>
            </a:solidFill>
            <a:miter lim="800000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E6D348-82C6-4292-BBB3-9B6596DDBA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79331" y="6467291"/>
            <a:ext cx="1142128" cy="34047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1/16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039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6DC0-C439-4E9C-83A1-0864A66907B2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267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BFA41-6503-4670-A030-C4026C269157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13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05502-1E5D-40B4-9172-D712644FEDD1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41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63152-FD27-4939-832D-B860C6DB12A5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/16</a:t>
            </a:r>
            <a:endParaRPr lang="uk-UA" sz="18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502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285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18BA5-E72A-4B8B-9830-A8FD3E323A65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11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E4F29-ED37-4848-985D-7E7F13267723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7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EB41E-26C4-40E9-BDFE-31AA4607F9C9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98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0C373-8171-4426-B0B4-D377060F6819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57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589" y="365127"/>
            <a:ext cx="114867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589" y="1825625"/>
            <a:ext cx="114867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Text sample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8589" y="6356351"/>
            <a:ext cx="17690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uk-UA" dirty="0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5975" y="6356350"/>
            <a:ext cx="78530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Lattice-based QCD equation of state at finite baryon density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568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vvovchenko@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ovchenko.net/computational-physics" TargetMode="External"/><Relationship Id="rId5" Type="http://schemas.openxmlformats.org/officeDocument/2006/relationships/hyperlink" Target="https://github.com/vlvovch/PHYS6350-ComputationalPhysics/tree/nusteam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7.svg"/><Relationship Id="rId7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7.svg"/><Relationship Id="rId7" Type="http://schemas.openxmlformats.org/officeDocument/2006/relationships/image" Target="../media/image3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6.svg"/><Relationship Id="rId7" Type="http://schemas.openxmlformats.org/officeDocument/2006/relationships/image" Target="../media/image62.png"/><Relationship Id="rId12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6.svg"/><Relationship Id="rId5" Type="http://schemas.openxmlformats.org/officeDocument/2006/relationships/image" Target="../media/image72.svg"/><Relationship Id="rId10" Type="http://schemas.openxmlformats.org/officeDocument/2006/relationships/image" Target="../media/image75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4.svg"/><Relationship Id="rId7" Type="http://schemas.openxmlformats.org/officeDocument/2006/relationships/image" Target="NUL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7" Type="http://schemas.openxmlformats.org/officeDocument/2006/relationships/image" Target="NUL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8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10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34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image" Target="../media/image10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sv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vovchenko.net/computational-physics/7_NumericalDerivatives/7_NumericalDerivatives_AD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07.svg"/><Relationship Id="rId9" Type="http://schemas.openxmlformats.org/officeDocument/2006/relationships/image" Target="../media/image112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svg"/><Relationship Id="rId4" Type="http://schemas.openxmlformats.org/officeDocument/2006/relationships/image" Target="../media/image11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2.svg"/><Relationship Id="rId7" Type="http://schemas.openxmlformats.org/officeDocument/2006/relationships/image" Target="../media/image122.sv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svg"/><Relationship Id="rId4" Type="http://schemas.openxmlformats.org/officeDocument/2006/relationships/image" Target="../media/image119.png"/><Relationship Id="rId9" Type="http://schemas.openxmlformats.org/officeDocument/2006/relationships/image" Target="../media/image124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16B3BB-760D-4483-898C-0AAFC2D2C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129" y="861587"/>
            <a:ext cx="9155737" cy="1403733"/>
          </a:xfrm>
        </p:spPr>
        <p:txBody>
          <a:bodyPr>
            <a:normAutofit/>
          </a:bodyPr>
          <a:lstStyle/>
          <a:p>
            <a:r>
              <a:rPr lang="en-US" sz="3200" dirty="0"/>
              <a:t>Computational Physics @ </a:t>
            </a:r>
            <a:r>
              <a:rPr lang="en-US" sz="3200" dirty="0" err="1"/>
              <a:t>NuSTEAM</a:t>
            </a:r>
            <a:endParaRPr lang="uk-UA" sz="3200" dirty="0">
              <a:latin typeface="+mn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5CCB10-5F85-4A67-A582-0AB3D4C70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796" y="5312521"/>
            <a:ext cx="7772399" cy="555922"/>
          </a:xfrm>
        </p:spPr>
        <p:txBody>
          <a:bodyPr>
            <a:normAutofit/>
          </a:bodyPr>
          <a:lstStyle/>
          <a:p>
            <a:r>
              <a:rPr lang="en-US" b="1" dirty="0">
                <a:latin typeface="LM Sans 10" panose="00000500000000000000" pitchFamily="50" charset="0"/>
              </a:rPr>
              <a:t>Instructor:</a:t>
            </a:r>
            <a:r>
              <a:rPr lang="en-US" dirty="0">
                <a:latin typeface="LM Sans 10" panose="00000500000000000000" pitchFamily="50" charset="0"/>
              </a:rPr>
              <a:t> Volodymyr Vovchenko (</a:t>
            </a:r>
            <a:r>
              <a:rPr lang="en-US" dirty="0">
                <a:latin typeface="LM Sans 10" panose="00000500000000000000" pitchFamily="50" charset="0"/>
                <a:hlinkClick r:id="rId3"/>
              </a:rPr>
              <a:t>vvovchenko@uh.edu</a:t>
            </a:r>
            <a:r>
              <a:rPr lang="en-US" dirty="0">
                <a:latin typeface="LM Sans 10" panose="00000500000000000000" pitchFamily="50" charset="0"/>
              </a:rPr>
              <a:t>)</a:t>
            </a:r>
            <a:endParaRPr lang="uk-UA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65EF24-B924-4E01-A6E6-6BC0EA434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6045" y="2505622"/>
            <a:ext cx="8419909" cy="1750692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LM Sans 10" panose="00000500000000000000" pitchFamily="50" charset="0"/>
              </a:rPr>
              <a:t>Lecture 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Numerical integration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Numerical differentiation</a:t>
            </a:r>
            <a:endParaRPr lang="uk-UA" sz="2200" dirty="0">
              <a:latin typeface="+mj-lt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D74D978-C625-42FF-9C54-2ECC393DA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12" y="656174"/>
            <a:ext cx="753572" cy="6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9507F32-B6D7-F150-90C1-4EB5CA4EDD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72000" y="4496616"/>
            <a:ext cx="4447989" cy="415925"/>
          </a:xfrm>
        </p:spPr>
        <p:txBody>
          <a:bodyPr>
            <a:normAutofit/>
          </a:bodyPr>
          <a:lstStyle/>
          <a:p>
            <a:r>
              <a:rPr lang="en-US" dirty="0">
                <a:latin typeface="LM Sans 10" panose="00000500000000000000" pitchFamily="50" charset="0"/>
              </a:rPr>
              <a:t>June 12, 2025</a:t>
            </a:r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73566-D62B-F2F3-C850-4EFC18684926}"/>
              </a:ext>
            </a:extLst>
          </p:cNvPr>
          <p:cNvSpPr txBox="1"/>
          <p:nvPr/>
        </p:nvSpPr>
        <p:spPr>
          <a:xfrm>
            <a:off x="559361" y="5806758"/>
            <a:ext cx="110732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ased on Computations Physics course at UH </a:t>
            </a:r>
          </a:p>
          <a:p>
            <a:r>
              <a:rPr lang="en-US" b="1" kern="150" dirty="0">
                <a:ea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r>
              <a:rPr lang="en-US" kern="15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hlinkClick r:id="rId5"/>
              </a:rPr>
              <a:t>https://github.com/vlvovch/PHYS6350-ComputationalPhysics/tree/</a:t>
            </a:r>
            <a:r>
              <a:rPr lang="en-US">
                <a:hlinkClick r:id="rId5"/>
              </a:rPr>
              <a:t>nusteam</a:t>
            </a:r>
            <a:endParaRPr lang="en-US" dirty="0"/>
          </a:p>
          <a:p>
            <a:r>
              <a:rPr lang="en-US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Online textbook:</a:t>
            </a:r>
            <a:r>
              <a:rPr lang="en-US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https://vovchenko.net/computational-physics</a:t>
            </a:r>
            <a:endParaRPr lang="en-US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2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5" y="1309871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+mj-lt"/>
              </a:rPr>
              <a:t>Numerical integration</a:t>
            </a:r>
            <a:endParaRPr lang="uk-UA" sz="4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7D72DD5-3954-D9D4-F645-6BEB666E3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6304" y="3589792"/>
            <a:ext cx="1829496" cy="7252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1DD6A88-4101-B9FC-BC26-7A780302B4DA}"/>
              </a:ext>
            </a:extLst>
          </p:cNvPr>
          <p:cNvGrpSpPr/>
          <p:nvPr/>
        </p:nvGrpSpPr>
        <p:grpSpPr>
          <a:xfrm>
            <a:off x="6373124" y="2597465"/>
            <a:ext cx="3170306" cy="2709857"/>
            <a:chOff x="8198282" y="1249392"/>
            <a:chExt cx="3170306" cy="27098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5623A4-AE88-1374-57BA-96CF7D23C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8282" y="1249392"/>
              <a:ext cx="3170306" cy="270985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FC51214-8F29-3CE9-9289-DAA420538E25}"/>
                </a:ext>
              </a:extLst>
            </p:cNvPr>
            <p:cNvSpPr txBox="1"/>
            <p:nvPr/>
          </p:nvSpPr>
          <p:spPr>
            <a:xfrm>
              <a:off x="9783435" y="2858615"/>
              <a:ext cx="403277" cy="430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200" i="1" dirty="0"/>
                <a:t> I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99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C2512-C397-B11C-7C44-EDEA4A4446EA}"/>
              </a:ext>
            </a:extLst>
          </p:cNvPr>
          <p:cNvSpPr txBox="1"/>
          <p:nvPr/>
        </p:nvSpPr>
        <p:spPr>
          <a:xfrm>
            <a:off x="823412" y="1406197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Generic problem: evaluate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D514A-3379-B52C-98CA-20502C75E011}"/>
              </a:ext>
            </a:extLst>
          </p:cNvPr>
          <p:cNvSpPr txBox="1"/>
          <p:nvPr/>
        </p:nvSpPr>
        <p:spPr>
          <a:xfrm>
            <a:off x="823412" y="2858615"/>
            <a:ext cx="6662269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latin typeface="+mj-lt"/>
              </a:rPr>
              <a:t>We need numerical integration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Cannot/difficult integrate analytically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Only know the integrand </a:t>
            </a:r>
            <a:r>
              <a:rPr lang="en-US" sz="2200" i="1" dirty="0">
                <a:latin typeface="+mj-lt"/>
              </a:rPr>
              <a:t>f(x)</a:t>
            </a:r>
            <a:r>
              <a:rPr lang="en-US" sz="2200" dirty="0">
                <a:latin typeface="+mj-lt"/>
              </a:rPr>
              <a:t> at certain points x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43CFC08-1235-8CDE-F2DD-A68F5B343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4263" y="1956696"/>
            <a:ext cx="1547671" cy="61349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02F771C-D18E-D20F-A60E-1E1090113411}"/>
              </a:ext>
            </a:extLst>
          </p:cNvPr>
          <p:cNvGrpSpPr/>
          <p:nvPr/>
        </p:nvGrpSpPr>
        <p:grpSpPr>
          <a:xfrm>
            <a:off x="8198282" y="1249392"/>
            <a:ext cx="3170306" cy="2709857"/>
            <a:chOff x="8198282" y="1249392"/>
            <a:chExt cx="3170306" cy="27098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7204BD-D78E-5C56-043E-BC2D16B1C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8282" y="1249392"/>
              <a:ext cx="3170306" cy="270985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02AB91-2301-2994-9C7C-E196377BC653}"/>
                </a:ext>
              </a:extLst>
            </p:cNvPr>
            <p:cNvSpPr txBox="1"/>
            <p:nvPr/>
          </p:nvSpPr>
          <p:spPr>
            <a:xfrm>
              <a:off x="9783435" y="2858615"/>
              <a:ext cx="403277" cy="430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200" i="1" dirty="0"/>
                <a:t> I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5484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rectangle (midpoint)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37F40-9F71-CC67-F12C-95E26145113D}"/>
              </a:ext>
            </a:extLst>
          </p:cNvPr>
          <p:cNvSpPr txBox="1"/>
          <p:nvPr/>
        </p:nvSpPr>
        <p:spPr>
          <a:xfrm>
            <a:off x="906961" y="1154318"/>
            <a:ext cx="68872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Interpret the integral as the area under the curve and approximate by a rectangle evaluated at midpoint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B976D-7D7C-2BAC-E587-616E79615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54" y="2068098"/>
            <a:ext cx="3396965" cy="835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B6D718-6252-F787-F867-D290BA68477D}"/>
              </a:ext>
            </a:extLst>
          </p:cNvPr>
          <p:cNvSpPr txBox="1"/>
          <p:nvPr/>
        </p:nvSpPr>
        <p:spPr>
          <a:xfrm>
            <a:off x="933734" y="3213556"/>
            <a:ext cx="5189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Error (from Euler-McLaurin formula):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3D3202-7D25-FF2C-AF3B-44472875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315" y="1509140"/>
            <a:ext cx="2771763" cy="20656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7BF017-B9BE-18CE-9C9A-EE95E4C94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505" y="3954140"/>
            <a:ext cx="4816538" cy="706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665DCCF-405E-E161-AC2E-5A1356163FB3}"/>
              </a:ext>
            </a:extLst>
          </p:cNvPr>
          <p:cNvSpPr txBox="1"/>
          <p:nvPr/>
        </p:nvSpPr>
        <p:spPr>
          <a:xfrm>
            <a:off x="906959" y="4970612"/>
            <a:ext cx="71934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The rule is exact for the integration of linear functions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269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rectangle (midpoint)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6D718-6252-F787-F867-D290BA68477D}"/>
              </a:ext>
            </a:extLst>
          </p:cNvPr>
          <p:cNvSpPr txBox="1"/>
          <p:nvPr/>
        </p:nvSpPr>
        <p:spPr>
          <a:xfrm>
            <a:off x="902696" y="4758220"/>
            <a:ext cx="532762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Although the rectangle is a poor approximate of the line (which is a trapezoid here), the errors cancel out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4F7F72D-2537-4DC7-7947-87A2D141D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659" y="1446347"/>
            <a:ext cx="4494723" cy="339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D1CB99-96BE-CBF6-D3AB-9CB5CC06A124}"/>
              </a:ext>
            </a:extLst>
          </p:cNvPr>
          <p:cNvSpPr txBox="1"/>
          <p:nvPr/>
        </p:nvSpPr>
        <p:spPr>
          <a:xfrm>
            <a:off x="1006018" y="1395140"/>
            <a:ext cx="15417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Example: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035AA9-3144-B703-D526-3E6C0720E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2733" y="1799550"/>
            <a:ext cx="2420032" cy="60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4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rectangle (midpoint)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1CB99-96BE-CBF6-D3AB-9CB5CC06A124}"/>
              </a:ext>
            </a:extLst>
          </p:cNvPr>
          <p:cNvSpPr txBox="1"/>
          <p:nvPr/>
        </p:nvSpPr>
        <p:spPr>
          <a:xfrm>
            <a:off x="1006017" y="1395139"/>
            <a:ext cx="29047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Another example: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D9D18B-553E-D17F-3292-71663D1B8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738" y="2097409"/>
            <a:ext cx="4803854" cy="36186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4E8C40-CBE0-08A0-2892-B41B61D074BC}"/>
              </a:ext>
            </a:extLst>
          </p:cNvPr>
          <p:cNvSpPr txBox="1"/>
          <p:nvPr/>
        </p:nvSpPr>
        <p:spPr>
          <a:xfrm>
            <a:off x="1006016" y="6186495"/>
            <a:ext cx="57150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Rectangle rule gives </a:t>
            </a:r>
            <a:r>
              <a:rPr lang="en-US" sz="2200" dirty="0" err="1">
                <a:latin typeface="+mj-lt"/>
                <a:ea typeface="DejaVu Sans"/>
              </a:rPr>
              <a:t>I</a:t>
            </a:r>
            <a:r>
              <a:rPr lang="en-US" sz="2200" baseline="-25000" dirty="0" err="1">
                <a:latin typeface="+mj-lt"/>
                <a:ea typeface="DejaVu Sans"/>
              </a:rPr>
              <a:t>rect</a:t>
            </a:r>
            <a:r>
              <a:rPr lang="en-US" sz="2200" dirty="0">
                <a:latin typeface="+mj-lt"/>
                <a:ea typeface="DejaVu Sans"/>
              </a:rPr>
              <a:t> = 2 which is way off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287335-A61D-F668-A85B-064AE4624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3557" y="1339916"/>
            <a:ext cx="2973543" cy="5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3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(composite) rectangle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37F40-9F71-CC67-F12C-95E26145113D}"/>
              </a:ext>
            </a:extLst>
          </p:cNvPr>
          <p:cNvSpPr txBox="1"/>
          <p:nvPr/>
        </p:nvSpPr>
        <p:spPr>
          <a:xfrm>
            <a:off x="906961" y="1154318"/>
            <a:ext cx="63720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Split the integration interval into </a:t>
            </a:r>
            <a:r>
              <a:rPr lang="en-US" sz="2200" i="1" dirty="0">
                <a:latin typeface="+mj-lt"/>
                <a:ea typeface="DejaVu Sans"/>
              </a:rPr>
              <a:t>N</a:t>
            </a:r>
            <a:r>
              <a:rPr lang="en-US" sz="2200" dirty="0">
                <a:latin typeface="+mj-lt"/>
                <a:ea typeface="DejaVu Sans"/>
              </a:rPr>
              <a:t> sub-intervals and apply the rectangle rule separately to each one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22BAA-8D85-E002-C2A1-3F16A327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53" y="2119184"/>
            <a:ext cx="5182465" cy="3960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D0BE55-06D7-8359-BBCA-10BFBB91C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25" y="2281859"/>
            <a:ext cx="4376368" cy="159243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5F897D-2EB6-CF8F-7CB2-470E9BF7F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7427" y="4342282"/>
            <a:ext cx="1578163" cy="2606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78FCA8-B430-F0F8-48CC-0DB031DB9584}"/>
              </a:ext>
            </a:extLst>
          </p:cNvPr>
          <p:cNvSpPr txBox="1"/>
          <p:nvPr/>
        </p:nvSpPr>
        <p:spPr>
          <a:xfrm>
            <a:off x="1054195" y="5048289"/>
            <a:ext cx="6372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Error estimate: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1B4BF-C767-1732-D97F-A29154D8A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8873" y="5776893"/>
            <a:ext cx="3725118" cy="63040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8F3D38-E2BC-E6D8-C0B5-62E9945791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3513" y="1346572"/>
            <a:ext cx="2973543" cy="5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7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(composite) rectangle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2DD5FF41-2ED5-CDFD-3B58-845D01E4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393" y="2143018"/>
            <a:ext cx="5471214" cy="410341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DF95163-568F-A5A5-E0C7-0CDB26E77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9228" y="1358489"/>
            <a:ext cx="2973543" cy="5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6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trapezoidal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37F40-9F71-CC67-F12C-95E26145113D}"/>
              </a:ext>
            </a:extLst>
          </p:cNvPr>
          <p:cNvSpPr txBox="1"/>
          <p:nvPr/>
        </p:nvSpPr>
        <p:spPr>
          <a:xfrm>
            <a:off x="906961" y="1154318"/>
            <a:ext cx="6372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Approximate the integral by a trapezoid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6D718-6252-F787-F867-D290BA68477D}"/>
              </a:ext>
            </a:extLst>
          </p:cNvPr>
          <p:cNvSpPr txBox="1"/>
          <p:nvPr/>
        </p:nvSpPr>
        <p:spPr>
          <a:xfrm>
            <a:off x="933734" y="3213556"/>
            <a:ext cx="5189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Error: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5DCCF-405E-E161-AC2E-5A1356163FB3}"/>
              </a:ext>
            </a:extLst>
          </p:cNvPr>
          <p:cNvSpPr txBox="1"/>
          <p:nvPr/>
        </p:nvSpPr>
        <p:spPr>
          <a:xfrm>
            <a:off x="906959" y="4970612"/>
            <a:ext cx="72038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The rule is exact for the integration of linear functions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678C2-D03F-E7C8-D29D-FAA445DF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891" y="1327129"/>
            <a:ext cx="2301148" cy="1740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0DE3E8-3221-F5E9-5F9A-7EA0E6169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382" y="1744285"/>
            <a:ext cx="3551985" cy="906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E7909D-E52E-F04C-7A10-47370ADF6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772" y="3838430"/>
            <a:ext cx="4975593" cy="728386"/>
          </a:xfrm>
          <a:prstGeom prst="rect">
            <a:avLst/>
          </a:prstGeom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14E31A71-8DB6-613A-9D4F-4CB37A19B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428" y="4325350"/>
            <a:ext cx="2850074" cy="215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68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trapezoidal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E8C40-CBE0-08A0-2892-B41B61D074BC}"/>
              </a:ext>
            </a:extLst>
          </p:cNvPr>
          <p:cNvSpPr txBox="1"/>
          <p:nvPr/>
        </p:nvSpPr>
        <p:spPr>
          <a:xfrm>
            <a:off x="1000850" y="5943688"/>
            <a:ext cx="79158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Trapezoidal rule gives </a:t>
            </a:r>
            <a:r>
              <a:rPr lang="en-US" sz="2200" dirty="0" err="1">
                <a:latin typeface="+mj-lt"/>
                <a:ea typeface="DejaVu Sans"/>
              </a:rPr>
              <a:t>I</a:t>
            </a:r>
            <a:r>
              <a:rPr lang="en-US" sz="2200" baseline="-25000" dirty="0" err="1">
                <a:latin typeface="+mj-lt"/>
                <a:ea typeface="DejaVu Sans"/>
              </a:rPr>
              <a:t>trap</a:t>
            </a:r>
            <a:r>
              <a:rPr lang="en-US" sz="2200" dirty="0">
                <a:latin typeface="+mj-lt"/>
                <a:ea typeface="DejaVu Sans"/>
              </a:rPr>
              <a:t> = 16, way off and in the opposite direction relative to rectangle rule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5341F-C1E7-0C60-72BD-68BF04DBE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252" y="2207970"/>
            <a:ext cx="4505317" cy="332552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137703F-41DC-8379-A387-E7473732F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9228" y="1358489"/>
            <a:ext cx="2973543" cy="5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04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trapezoidal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35F897D-2EB6-CF8F-7CB2-470E9BF7F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3437" y="3810174"/>
            <a:ext cx="1578163" cy="2606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78FCA8-B430-F0F8-48CC-0DB031DB9584}"/>
              </a:ext>
            </a:extLst>
          </p:cNvPr>
          <p:cNvSpPr txBox="1"/>
          <p:nvPr/>
        </p:nvSpPr>
        <p:spPr>
          <a:xfrm>
            <a:off x="1018032" y="4764405"/>
            <a:ext cx="6372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Error estimate: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541DE-3A5B-797B-F179-786DFCF57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841" y="1858703"/>
            <a:ext cx="4989788" cy="3710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4DA4FD-950E-6448-57D3-44F960EFE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689" y="1809711"/>
            <a:ext cx="5029928" cy="1406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E0034A-80C1-0AA2-792D-9B84939A7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392" y="5505572"/>
            <a:ext cx="3338522" cy="61641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3FF4DF0-C549-443D-9A45-B5A2B6F7C39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6096" r="22739"/>
          <a:stretch/>
        </p:blipFill>
        <p:spPr>
          <a:xfrm>
            <a:off x="8570063" y="1220646"/>
            <a:ext cx="1340556" cy="49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(composite) trapezoidal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F8D22F-AC4D-E4DC-485E-A37BD199D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8602" y="1316038"/>
            <a:ext cx="2728125" cy="621956"/>
          </a:xfrm>
          <a:prstGeom prst="rect">
            <a:avLst/>
          </a:prstGeom>
        </p:spPr>
      </p:pic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89C572CE-A250-835C-D18E-4EA66FEA2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268" y="2241174"/>
            <a:ext cx="4897464" cy="367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61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Simpson’s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37F40-9F71-CC67-F12C-95E26145113D}"/>
              </a:ext>
            </a:extLst>
          </p:cNvPr>
          <p:cNvSpPr txBox="1"/>
          <p:nvPr/>
        </p:nvSpPr>
        <p:spPr>
          <a:xfrm>
            <a:off x="906961" y="1154318"/>
            <a:ext cx="63720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Recall the error estimates for rectangular and trapezoidal rules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6D718-6252-F787-F867-D290BA68477D}"/>
              </a:ext>
            </a:extLst>
          </p:cNvPr>
          <p:cNvSpPr txBox="1"/>
          <p:nvPr/>
        </p:nvSpPr>
        <p:spPr>
          <a:xfrm>
            <a:off x="945025" y="3046616"/>
            <a:ext cx="6555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Combine them to eliminate the O(h</a:t>
            </a:r>
            <a:r>
              <a:rPr lang="en-US" sz="2200" baseline="30000" dirty="0">
                <a:latin typeface="+mj-lt"/>
                <a:ea typeface="DejaVu Sans"/>
              </a:rPr>
              <a:t>2</a:t>
            </a:r>
            <a:r>
              <a:rPr lang="en-US" sz="2200" dirty="0">
                <a:latin typeface="+mj-lt"/>
                <a:ea typeface="DejaVu Sans"/>
              </a:rPr>
              <a:t>) error term: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5DCCF-405E-E161-AC2E-5A1356163FB3}"/>
              </a:ext>
            </a:extLst>
          </p:cNvPr>
          <p:cNvSpPr txBox="1"/>
          <p:nvPr/>
        </p:nvSpPr>
        <p:spPr>
          <a:xfrm>
            <a:off x="906961" y="4501772"/>
            <a:ext cx="72038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i.e.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16F712-5F62-E9B8-B1DC-96276E21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01" y="1439965"/>
            <a:ext cx="2038527" cy="1867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EA3A0A-3844-5802-7FD8-865BBF597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449" y="2146674"/>
            <a:ext cx="3338522" cy="6164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8E22D5-EDC9-6A77-24D2-FD19DB290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78" y="2207283"/>
            <a:ext cx="3116380" cy="527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26FF12-DC77-76FE-CE1F-56C2063C9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211" y="3653925"/>
            <a:ext cx="1641260" cy="671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C94654-F6BA-FE9D-7071-242A47FD2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321" y="4823368"/>
            <a:ext cx="4765461" cy="7856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455DFE-A79F-7124-2859-309280503032}"/>
              </a:ext>
            </a:extLst>
          </p:cNvPr>
          <p:cNvSpPr txBox="1"/>
          <p:nvPr/>
        </p:nvSpPr>
        <p:spPr>
          <a:xfrm>
            <a:off x="945026" y="5936676"/>
            <a:ext cx="78476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An equivalent way to obtain the rule: replace the integrand by the parabolic interpolation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01423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Simpson’s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C94654-F6BA-FE9D-7071-242A47FD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244" y="1341415"/>
            <a:ext cx="4765461" cy="7856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455DFE-A79F-7124-2859-309280503032}"/>
              </a:ext>
            </a:extLst>
          </p:cNvPr>
          <p:cNvSpPr txBox="1"/>
          <p:nvPr/>
        </p:nvSpPr>
        <p:spPr>
          <a:xfrm>
            <a:off x="877867" y="2303373"/>
            <a:ext cx="78476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The error for the Simpson’s rule is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15480-70DC-8880-8373-CFD42379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91" y="2847940"/>
            <a:ext cx="2128024" cy="313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4F2F1E-BB2F-44E6-A1A1-56DC61195579}"/>
              </a:ext>
            </a:extLst>
          </p:cNvPr>
          <p:cNvSpPr txBox="1"/>
          <p:nvPr/>
        </p:nvSpPr>
        <p:spPr>
          <a:xfrm>
            <a:off x="877866" y="3265331"/>
            <a:ext cx="78476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The method is exact for polynomials up to third order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2353DB6-5149-11BE-D2A0-9EC53DA68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158" y="3799895"/>
            <a:ext cx="3643071" cy="274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DDF0C742-59D0-AB19-38B5-3F57C785B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701" y="3799895"/>
            <a:ext cx="3470007" cy="275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010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integration: Simpson’s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F8D22F-AC4D-E4DC-485E-A37BD199D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0304" y="1324501"/>
            <a:ext cx="2728125" cy="6219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4E8C40-CBE0-08A0-2892-B41B61D074BC}"/>
              </a:ext>
            </a:extLst>
          </p:cNvPr>
          <p:cNvSpPr txBox="1"/>
          <p:nvPr/>
        </p:nvSpPr>
        <p:spPr>
          <a:xfrm>
            <a:off x="1000849" y="5943688"/>
            <a:ext cx="93210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Simpson’s rule gives </a:t>
            </a:r>
            <a:r>
              <a:rPr lang="en-US" sz="2200" dirty="0" err="1">
                <a:latin typeface="+mj-lt"/>
                <a:ea typeface="DejaVu Sans"/>
              </a:rPr>
              <a:t>I</a:t>
            </a:r>
            <a:r>
              <a:rPr lang="en-US" sz="2200" baseline="-25000" dirty="0" err="1">
                <a:latin typeface="+mj-lt"/>
                <a:ea typeface="DejaVu Sans"/>
              </a:rPr>
              <a:t>trap</a:t>
            </a:r>
            <a:r>
              <a:rPr lang="en-US" sz="2200" dirty="0">
                <a:latin typeface="+mj-lt"/>
                <a:ea typeface="DejaVu Sans"/>
              </a:rPr>
              <a:t> = 6.66 using three points, which is already not too bad!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3211B-8056-61DF-A58B-77EB148C5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577" y="2247267"/>
            <a:ext cx="4217971" cy="313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81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Simpson’s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35F897D-2EB6-CF8F-7CB2-470E9BF7F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922" y="2616804"/>
            <a:ext cx="1578163" cy="2606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78FCA8-B430-F0F8-48CC-0DB031DB9584}"/>
              </a:ext>
            </a:extLst>
          </p:cNvPr>
          <p:cNvSpPr txBox="1"/>
          <p:nvPr/>
        </p:nvSpPr>
        <p:spPr>
          <a:xfrm>
            <a:off x="1006177" y="4764406"/>
            <a:ext cx="6372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Error estimate:</a:t>
            </a:r>
            <a:endParaRPr lang="en-US" sz="2200" dirty="0">
              <a:effectLst/>
              <a:latin typeface="+mj-lt"/>
              <a:ea typeface="DejaVu San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3FF4DF0-C549-443D-9A45-B5A2B6F7C3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6" r="22739"/>
          <a:stretch/>
        </p:blipFill>
        <p:spPr>
          <a:xfrm>
            <a:off x="9189996" y="1442504"/>
            <a:ext cx="1340556" cy="4996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946B89-48FD-EEEE-463D-D4B7D0CE7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77" y="1424861"/>
            <a:ext cx="7482722" cy="668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2A56B7-5D95-11B8-F72F-FC565DDDA38A}"/>
              </a:ext>
            </a:extLst>
          </p:cNvPr>
          <p:cNvSpPr txBox="1"/>
          <p:nvPr/>
        </p:nvSpPr>
        <p:spPr>
          <a:xfrm>
            <a:off x="1006177" y="3097643"/>
            <a:ext cx="24358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N</a:t>
            </a:r>
            <a:r>
              <a:rPr lang="en-US" sz="2200" dirty="0"/>
              <a:t> must be even!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BAB2C-372A-455F-B2EE-3569D54F6C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994" y="5498150"/>
            <a:ext cx="2128024" cy="3137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DDA414-FEA1-8AF5-E534-1C4F99BB30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207" y="2616804"/>
            <a:ext cx="4670291" cy="350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25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Simpson’s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F8D22F-AC4D-E4DC-485E-A37BD199D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8602" y="1316038"/>
            <a:ext cx="2728125" cy="621956"/>
          </a:xfrm>
          <a:prstGeom prst="rect">
            <a:avLst/>
          </a:prstGeom>
        </p:spPr>
      </p:pic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58AAA2D-B05A-CF8A-C7EC-E6AF1E0DE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519" y="2228431"/>
            <a:ext cx="4912962" cy="368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2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methods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C3CE480F-FCC0-E567-6AF8-C8F450AD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19" y="2328998"/>
            <a:ext cx="3600000" cy="2700000"/>
          </a:xfrm>
          <a:prstGeom prst="rect">
            <a:avLst/>
          </a:prstGeom>
        </p:spPr>
      </p:pic>
      <p:pic>
        <p:nvPicPr>
          <p:cNvPr id="16" name="Picture 15" descr="Chart&#10;&#10;Description automatically generated">
            <a:extLst>
              <a:ext uri="{FF2B5EF4-FFF2-40B4-BE49-F238E27FC236}">
                <a16:creationId xmlns:a16="http://schemas.microsoft.com/office/drawing/2014/main" id="{8A01F6DD-3876-5BF1-778F-53092203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489" y="2328998"/>
            <a:ext cx="3600000" cy="2700000"/>
          </a:xfrm>
          <a:prstGeom prst="rect">
            <a:avLst/>
          </a:prstGeom>
        </p:spPr>
      </p:pic>
      <p:pic>
        <p:nvPicPr>
          <p:cNvPr id="19" name="Picture 1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6E27DCFE-FF2E-3281-A11F-EC91363F8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459" y="2328998"/>
            <a:ext cx="3600000" cy="270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18F3937-217A-91D7-167A-E3C384DB3B86}"/>
              </a:ext>
            </a:extLst>
          </p:cNvPr>
          <p:cNvSpPr txBox="1"/>
          <p:nvPr/>
        </p:nvSpPr>
        <p:spPr>
          <a:xfrm>
            <a:off x="5463153" y="1849465"/>
            <a:ext cx="1629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Trapezoid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86C5C-F2C0-BBDC-29D3-863F57292A82}"/>
              </a:ext>
            </a:extLst>
          </p:cNvPr>
          <p:cNvSpPr txBox="1"/>
          <p:nvPr/>
        </p:nvSpPr>
        <p:spPr>
          <a:xfrm>
            <a:off x="1735810" y="1849464"/>
            <a:ext cx="1629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Rectangle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43B5ED-4D90-4AA3-A317-37294356DF81}"/>
              </a:ext>
            </a:extLst>
          </p:cNvPr>
          <p:cNvSpPr txBox="1"/>
          <p:nvPr/>
        </p:nvSpPr>
        <p:spPr>
          <a:xfrm>
            <a:off x="9366143" y="1849465"/>
            <a:ext cx="1629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Simpson</a:t>
            </a:r>
          </a:p>
        </p:txBody>
      </p:sp>
    </p:spTree>
    <p:extLst>
      <p:ext uri="{BB962C8B-B14F-4D97-AF65-F5344CB8AC3E}">
        <p14:creationId xmlns:p14="http://schemas.microsoft.com/office/powerpoint/2010/main" val="5390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methods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D1590-E60E-928B-4887-577F10593CC6}"/>
              </a:ext>
            </a:extLst>
          </p:cNvPr>
          <p:cNvSpPr txBox="1"/>
          <p:nvPr/>
        </p:nvSpPr>
        <p:spPr>
          <a:xfrm>
            <a:off x="896076" y="1215773"/>
            <a:ext cx="747762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DejaVu Sans"/>
              </a:rPr>
              <a:t>Adaptive quadrature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DejaVu Sans"/>
              </a:rPr>
              <a:t>Increase (e.g. double) the number of subintervals and use the difference as the measure of error, e.g.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  <a:ea typeface="DejaVu San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j-lt"/>
                <a:ea typeface="DejaVu Sans"/>
              </a:rPr>
              <a:t>More formal implementation: </a:t>
            </a:r>
            <a:r>
              <a:rPr lang="en-US" sz="2200" b="1" dirty="0">
                <a:effectLst/>
                <a:latin typeface="+mj-lt"/>
                <a:ea typeface="DejaVu Sans"/>
              </a:rPr>
              <a:t>Romberg method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b="1" dirty="0">
              <a:latin typeface="+mj-lt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  <a:latin typeface="+mj-lt"/>
                <a:ea typeface="DejaVu Sans"/>
              </a:rPr>
              <a:t>Gaussian quadrature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j-lt"/>
                <a:ea typeface="DejaVu Sans"/>
              </a:rPr>
              <a:t>N-point quadrature which is exact for integration of polynomials of order up to </a:t>
            </a:r>
            <a:r>
              <a:rPr lang="en-US" sz="2200" i="1" dirty="0">
                <a:effectLst/>
                <a:latin typeface="+mj-lt"/>
                <a:ea typeface="DejaVu Sans"/>
              </a:rPr>
              <a:t>2n-1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effectLst/>
              <a:latin typeface="+mj-lt"/>
              <a:ea typeface="DejaVu Sans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  <a:ea typeface="DejaVu Sans"/>
            </a:endParaRPr>
          </a:p>
          <a:p>
            <a:pPr lvl="1"/>
            <a:endParaRPr lang="en-US" sz="2200" dirty="0">
              <a:latin typeface="+mj-lt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j-lt"/>
                <a:ea typeface="DejaVu Sans"/>
              </a:rPr>
              <a:t>Improper integrals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DejaVu Sans"/>
              </a:rPr>
              <a:t>(Semi-)infinite integration limits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j-lt"/>
                <a:ea typeface="DejaVu Sans"/>
              </a:rPr>
              <a:t>Singula</a:t>
            </a:r>
            <a:r>
              <a:rPr lang="en-US" sz="2200" dirty="0">
                <a:latin typeface="+mj-lt"/>
                <a:ea typeface="DejaVu Sans"/>
              </a:rPr>
              <a:t>rities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+mj-lt"/>
                <a:ea typeface="DejaVu Sans"/>
              </a:rPr>
              <a:t>Discontinuous integrals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4D583B-F498-CF08-B4DB-17E09B507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4922" y="2150641"/>
            <a:ext cx="1926723" cy="2924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09E220-B5EA-646D-2986-80703A43C41A}"/>
              </a:ext>
            </a:extLst>
          </p:cNvPr>
          <p:cNvSpPr txBox="1"/>
          <p:nvPr/>
        </p:nvSpPr>
        <p:spPr>
          <a:xfrm>
            <a:off x="8373698" y="1753686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Adaptive trapezoidal rule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ED0A7-BD90-C7B8-1B59-79FD55CD0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254" y="4400026"/>
            <a:ext cx="252262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88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Improper integrals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D514A-3379-B52C-98CA-20502C75E011}"/>
              </a:ext>
            </a:extLst>
          </p:cNvPr>
          <p:cNvSpPr txBox="1"/>
          <p:nvPr/>
        </p:nvSpPr>
        <p:spPr>
          <a:xfrm>
            <a:off x="864740" y="1419380"/>
            <a:ext cx="765877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Contain integrable singularities (typically at the endpoints)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(Semi-)infinite integration range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1F88A-2E1F-6D75-6F16-DFB634C74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497" y="1860257"/>
            <a:ext cx="2471018" cy="841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28E1BE-07BA-3EDA-B405-21CCED175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022" y="3267094"/>
            <a:ext cx="1926717" cy="918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7D5443-533F-B39A-80A8-EB3FD8D29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513" y="3356740"/>
            <a:ext cx="1926000" cy="829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0163DC-72C8-F5FC-484F-72FF865E78D8}"/>
              </a:ext>
            </a:extLst>
          </p:cNvPr>
          <p:cNvSpPr txBox="1"/>
          <p:nvPr/>
        </p:nvSpPr>
        <p:spPr>
          <a:xfrm>
            <a:off x="864740" y="4462638"/>
            <a:ext cx="108334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Example: </a:t>
            </a:r>
            <a:r>
              <a:rPr lang="en-US" sz="2200" dirty="0"/>
              <a:t>Momentum integration over thermal distributions (Fermi-Dirac/Bose-Einstein) 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46B97F8-540F-C973-D89E-F0A5C3BD3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5766" y="5097336"/>
            <a:ext cx="4680467" cy="68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67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Improper integrals: (Semi-)infinite intervals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1FA1-272D-AE65-797F-84C3B9BBB014}"/>
              </a:ext>
            </a:extLst>
          </p:cNvPr>
          <p:cNvSpPr txBox="1"/>
          <p:nvPr/>
        </p:nvSpPr>
        <p:spPr>
          <a:xfrm>
            <a:off x="1022889" y="1278326"/>
            <a:ext cx="96564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+mj-lt"/>
              </a:rPr>
              <a:t>Solution: </a:t>
            </a:r>
            <a:r>
              <a:rPr lang="en-US" sz="2200" dirty="0">
                <a:latin typeface="+mj-lt"/>
              </a:rPr>
              <a:t>map to a finite interval [e.g. (0,1)] by a change of variables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A6E020-CB9A-2618-0D12-1619EE14A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401" y="2424144"/>
            <a:ext cx="1297868" cy="7881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683ECC-980D-B406-C1C0-3E9ACC364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697" y="2665186"/>
            <a:ext cx="1305275" cy="4769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9A20B1-E632-E251-782E-0105F70DF646}"/>
              </a:ext>
            </a:extLst>
          </p:cNvPr>
          <p:cNvSpPr txBox="1"/>
          <p:nvPr/>
        </p:nvSpPr>
        <p:spPr>
          <a:xfrm>
            <a:off x="1089467" y="3486975"/>
            <a:ext cx="72253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Infinite: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65533-237D-FB5B-B68F-B894F2389D84}"/>
              </a:ext>
            </a:extLst>
          </p:cNvPr>
          <p:cNvSpPr txBox="1"/>
          <p:nvPr/>
        </p:nvSpPr>
        <p:spPr>
          <a:xfrm>
            <a:off x="1089467" y="1974853"/>
            <a:ext cx="72253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Semi-infinite: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009F31-BA20-02F0-42A4-136A6E860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37" y="4032518"/>
            <a:ext cx="1358032" cy="7544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6B8EAE-9846-33A1-5AF1-17F0A987E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4697" y="3981067"/>
            <a:ext cx="1305275" cy="787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CC64B2-21AE-77FB-9A2D-4DB3F70C6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79" y="4041246"/>
            <a:ext cx="4714660" cy="675453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8D0807-EBAA-4D71-2CA6-EF5B20E31391}"/>
              </a:ext>
            </a:extLst>
          </p:cNvPr>
          <p:cNvSpPr/>
          <p:nvPr/>
        </p:nvSpPr>
        <p:spPr>
          <a:xfrm>
            <a:off x="2755058" y="2680392"/>
            <a:ext cx="618406" cy="373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B637D43-F9AD-8CAC-C1C5-809563D9CC2D}"/>
              </a:ext>
            </a:extLst>
          </p:cNvPr>
          <p:cNvSpPr/>
          <p:nvPr/>
        </p:nvSpPr>
        <p:spPr>
          <a:xfrm>
            <a:off x="5477594" y="2710645"/>
            <a:ext cx="618406" cy="373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A9A2484-F74B-B19B-90DE-A8C808DC178E}"/>
              </a:ext>
            </a:extLst>
          </p:cNvPr>
          <p:cNvSpPr/>
          <p:nvPr/>
        </p:nvSpPr>
        <p:spPr>
          <a:xfrm>
            <a:off x="2757157" y="4262724"/>
            <a:ext cx="618406" cy="373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9B338F4-1D8F-7165-F8E5-8930589CEBAC}"/>
              </a:ext>
            </a:extLst>
          </p:cNvPr>
          <p:cNvSpPr/>
          <p:nvPr/>
        </p:nvSpPr>
        <p:spPr>
          <a:xfrm>
            <a:off x="5477594" y="4223229"/>
            <a:ext cx="618406" cy="373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ECA8A0-5525-D44C-0EC7-76A1BD3B7610}"/>
              </a:ext>
            </a:extLst>
          </p:cNvPr>
          <p:cNvSpPr txBox="1"/>
          <p:nvPr/>
        </p:nvSpPr>
        <p:spPr>
          <a:xfrm>
            <a:off x="1022889" y="5460207"/>
            <a:ext cx="9939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</a:rPr>
              <a:t>Then apply a standard method (e.g. rectangle rule to avoid endpoint singularities) to </a:t>
            </a:r>
            <a:r>
              <a:rPr lang="de-DE" sz="2200" dirty="0">
                <a:latin typeface="+mj-lt"/>
              </a:rPr>
              <a:t>g</a:t>
            </a:r>
            <a:r>
              <a:rPr lang="en-US" sz="2200" dirty="0">
                <a:latin typeface="+mj-lt"/>
              </a:rPr>
              <a:t>(t)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447617-826B-CDF0-A5F4-6D4332D01606}"/>
              </a:ext>
            </a:extLst>
          </p:cNvPr>
          <p:cNvSpPr txBox="1"/>
          <p:nvPr/>
        </p:nvSpPr>
        <p:spPr>
          <a:xfrm>
            <a:off x="1022889" y="6430036"/>
            <a:ext cx="993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NB: Other options for the change of variable are possible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627E42-CBAD-6FF1-ADBB-79A15A790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385" y="2509560"/>
            <a:ext cx="4512881" cy="78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Improper integrals: Semi-infinite intervals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429C3-D6B0-E83F-BE80-FC9A9B2B7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716" y="1165086"/>
            <a:ext cx="1982568" cy="945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185CEC-7219-34D1-35EB-2A290AE0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924" y="2249986"/>
            <a:ext cx="8486152" cy="425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75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Improper integrals: Infinite intervals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85F5F-EDD1-0B12-51EB-0EAFA0611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44" y="1123828"/>
            <a:ext cx="4057711" cy="94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B6D62-986F-9BB8-1DFF-C49D1407C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548" y="1982805"/>
            <a:ext cx="8610904" cy="45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50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Numerical integration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A9FCA-0C53-118B-3308-4BC636CD7B49}"/>
              </a:ext>
            </a:extLst>
          </p:cNvPr>
          <p:cNvSpPr txBox="1"/>
          <p:nvPr/>
        </p:nvSpPr>
        <p:spPr>
          <a:xfrm>
            <a:off x="896201" y="1429046"/>
            <a:ext cx="978313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Trapezoidal/rectangle method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Good generic choice</a:t>
            </a:r>
            <a:endParaRPr lang="en-US" sz="2200" kern="150" dirty="0">
              <a:solidFill>
                <a:srgbClr val="0808FF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Gaussian quadrature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Good choice for repeatedly calculating the same kind of integral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Improper integrals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Make a change of variable to transform into finite interval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Advanced: 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Using generalized Gaussian </a:t>
            </a:r>
            <a:r>
              <a:rPr lang="en-US" sz="2200" kern="15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quadratures</a:t>
            </a:r>
            <a:endParaRPr lang="en-US" sz="22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Control over error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Advanced: 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Romberg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680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5" y="1309871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+mj-lt"/>
              </a:rPr>
              <a:t>Numerical derivatives</a:t>
            </a:r>
            <a:endParaRPr lang="uk-UA" sz="4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77B2C-ACA4-95E0-2C06-01B6EDBD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984" y="2477031"/>
            <a:ext cx="3146030" cy="9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19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differentiation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C2512-C397-B11C-7C44-EDEA4A4446EA}"/>
              </a:ext>
            </a:extLst>
          </p:cNvPr>
          <p:cNvSpPr txBox="1"/>
          <p:nvPr/>
        </p:nvSpPr>
        <p:spPr>
          <a:xfrm>
            <a:off x="823412" y="1406197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Generic problem: evaluate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D514A-3379-B52C-98CA-20502C75E011}"/>
              </a:ext>
            </a:extLst>
          </p:cNvPr>
          <p:cNvSpPr txBox="1"/>
          <p:nvPr/>
        </p:nvSpPr>
        <p:spPr>
          <a:xfrm>
            <a:off x="823412" y="3289502"/>
            <a:ext cx="6662269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latin typeface="+mj-lt"/>
              </a:rPr>
              <a:t>We need numerical differentiation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Function f is known at a discrete set of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Too expensive/cumbersome to do directly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E.g. when f(x) itself is a solution to a complex web of non-linear equations, calculating f’(x) explicitly will require rewriting all the equations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F36E5-03D0-C36E-05BA-B900C073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941" y="1990978"/>
            <a:ext cx="2817407" cy="71374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6CE0B4-EAE9-1E54-71C5-85D76F6F4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856" y="1621640"/>
            <a:ext cx="2291829" cy="254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851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difference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C2512-C397-B11C-7C44-EDEA4A4446EA}"/>
              </a:ext>
            </a:extLst>
          </p:cNvPr>
          <p:cNvSpPr txBox="1"/>
          <p:nvPr/>
        </p:nvSpPr>
        <p:spPr>
          <a:xfrm>
            <a:off x="823412" y="1406197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Simply approximate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D514A-3379-B52C-98CA-20502C75E011}"/>
              </a:ext>
            </a:extLst>
          </p:cNvPr>
          <p:cNvSpPr txBox="1"/>
          <p:nvPr/>
        </p:nvSpPr>
        <p:spPr>
          <a:xfrm>
            <a:off x="823412" y="2653005"/>
            <a:ext cx="66622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latin typeface="+mj-lt"/>
              </a:rPr>
              <a:t>by</a:t>
            </a:r>
            <a:endParaRPr lang="en-US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F36E5-03D0-C36E-05BA-B900C073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940" y="1929217"/>
            <a:ext cx="2842106" cy="72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B6CE0B4-EAE9-1E54-71C5-85D76F6F4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856" y="1621640"/>
            <a:ext cx="2291829" cy="254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81169F-B767-1004-A3CD-A388D2B13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940" y="3136498"/>
            <a:ext cx="2495873" cy="6744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499A87-4AE5-3733-11CE-6D2E5D555E7E}"/>
              </a:ext>
            </a:extLst>
          </p:cNvPr>
          <p:cNvSpPr txBox="1"/>
          <p:nvPr/>
        </p:nvSpPr>
        <p:spPr>
          <a:xfrm>
            <a:off x="823411" y="3918031"/>
            <a:ext cx="21427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latin typeface="+mj-lt"/>
              </a:rPr>
              <a:t>where </a:t>
            </a:r>
            <a:r>
              <a:rPr lang="en-US" sz="2200" i="1" dirty="0">
                <a:latin typeface="+mj-lt"/>
              </a:rPr>
              <a:t>h</a:t>
            </a:r>
            <a:r>
              <a:rPr lang="en-US" sz="2200" dirty="0">
                <a:latin typeface="+mj-lt"/>
              </a:rPr>
              <a:t> is finite</a:t>
            </a:r>
            <a:endParaRPr lang="en-US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80E2-4873-1DE9-588B-51253723C098}"/>
              </a:ext>
            </a:extLst>
          </p:cNvPr>
          <p:cNvSpPr txBox="1"/>
          <p:nvPr/>
        </p:nvSpPr>
        <p:spPr>
          <a:xfrm>
            <a:off x="823411" y="4590029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Taylo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 theorem: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1" y="5508197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ives the approximation error estimate of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E3BF9EF-0556-A59D-CBB9-A85DFD02BD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8307" y="4847411"/>
            <a:ext cx="4135385" cy="504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3C6C60D-DC6E-AD66-21F7-2EE89AA417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6864" y="6095870"/>
            <a:ext cx="261827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8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difference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C2512-C397-B11C-7C44-EDEA4A4446EA}"/>
              </a:ext>
            </a:extLst>
          </p:cNvPr>
          <p:cNvSpPr txBox="1"/>
          <p:nvPr/>
        </p:nvSpPr>
        <p:spPr>
          <a:xfrm>
            <a:off x="823412" y="1406197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Backward difference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80E2-4873-1DE9-588B-51253723C098}"/>
              </a:ext>
            </a:extLst>
          </p:cNvPr>
          <p:cNvSpPr txBox="1"/>
          <p:nvPr/>
        </p:nvSpPr>
        <p:spPr>
          <a:xfrm>
            <a:off x="823411" y="3169858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Taylo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 theorem: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0" y="4426256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ives the approximation error estimate of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84FBA-8811-AEA7-8D8E-CDD41F73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100" y="1962292"/>
            <a:ext cx="2471746" cy="724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771225-CD38-8B89-4124-78BFB119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759" y="1488594"/>
            <a:ext cx="3433255" cy="261415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11D7F81-A2C2-DF9D-4ED5-3E7AC06900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98720" y="3744536"/>
            <a:ext cx="4148307" cy="504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4FE2991-477C-427C-146E-9F337D6AAB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9081" y="5098254"/>
            <a:ext cx="2453838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49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difference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C2512-C397-B11C-7C44-EDEA4A4446EA}"/>
              </a:ext>
            </a:extLst>
          </p:cNvPr>
          <p:cNvSpPr txBox="1"/>
          <p:nvPr/>
        </p:nvSpPr>
        <p:spPr>
          <a:xfrm>
            <a:off x="823412" y="1406197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Recall the forward and backward difference and their errors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80E2-4873-1DE9-588B-51253723C098}"/>
              </a:ext>
            </a:extLst>
          </p:cNvPr>
          <p:cNvSpPr txBox="1"/>
          <p:nvPr/>
        </p:nvSpPr>
        <p:spPr>
          <a:xfrm>
            <a:off x="823410" y="3856663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Taking the average of the two cancels out the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O(h)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error term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0" y="5274328"/>
            <a:ext cx="80203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rror estimate: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3C6C60D-DC6E-AD66-21F7-2EE89AA41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037" y="3068077"/>
            <a:ext cx="2618270" cy="46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614475-E4AF-A546-BEBC-5D6E10916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8793" y="3039306"/>
            <a:ext cx="2453838" cy="46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B4B5FC-E5D8-BEB9-E3BB-B6ABDF79B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033" y="2078195"/>
            <a:ext cx="2457598" cy="7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DFD715-586E-D6B7-A4C0-4B15975A78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135" y="2162695"/>
            <a:ext cx="2398074" cy="648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E01F730-6746-9E08-5AD2-2B4873B1D5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0737" y="4457953"/>
            <a:ext cx="2870526" cy="5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BD4F9C-F79D-7FB7-6116-A7006C69E3C2}"/>
              </a:ext>
            </a:extLst>
          </p:cNvPr>
          <p:cNvSpPr txBox="1"/>
          <p:nvPr/>
        </p:nvSpPr>
        <p:spPr>
          <a:xfrm>
            <a:off x="2213212" y="4543287"/>
            <a:ext cx="200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central difference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AFFE51E-9F0C-4F1C-82E5-932CD3E5B2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32829" y="5875660"/>
            <a:ext cx="2726342" cy="54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9AFE52-ED71-0B60-A49F-F1C884D600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4151" y="1657851"/>
            <a:ext cx="2734437" cy="20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06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High-order central difference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C2512-C397-B11C-7C44-EDEA4A4446EA}"/>
              </a:ext>
            </a:extLst>
          </p:cNvPr>
          <p:cNvSpPr txBox="1"/>
          <p:nvPr/>
        </p:nvSpPr>
        <p:spPr>
          <a:xfrm>
            <a:off x="823411" y="1406197"/>
            <a:ext cx="101539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 improve the approximation error use more than two function evaluations, e.g.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80E2-4873-1DE9-588B-51253723C098}"/>
              </a:ext>
            </a:extLst>
          </p:cNvPr>
          <p:cNvSpPr txBox="1"/>
          <p:nvPr/>
        </p:nvSpPr>
        <p:spPr>
          <a:xfrm>
            <a:off x="823410" y="2789253"/>
            <a:ext cx="91849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Determine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A,B,C,D,E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using Taylor expansion to cancel all terms up to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kern="150" baseline="300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0" y="4172309"/>
            <a:ext cx="22928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High-order terms: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16535E-FF6E-C13A-AA19-CC915084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64" y="4689715"/>
            <a:ext cx="8378869" cy="152417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3592A049-CDF6-91F7-0747-3C1A86ACD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0923" y="3429000"/>
            <a:ext cx="6330150" cy="486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8FB5F23-CF67-A2F1-B062-E7F78B0E8D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7807" y="2045944"/>
            <a:ext cx="6516385" cy="43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86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is too small, round-off errors become important</a:t>
            </a:r>
          </a:p>
          <a:p>
            <a:endParaRPr lang="en-US" sz="2200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cannot distinguish 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i="1" kern="15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x+h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and/or 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US" sz="2200" i="1" kern="15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x+h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with enough accuracy</a:t>
            </a:r>
            <a:endParaRPr lang="en-US" sz="2200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E4222F-8CA6-D4F4-462C-9827B34C4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439" y="1908994"/>
            <a:ext cx="5149020" cy="304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8B4F17-9A5C-0071-55CA-87C1C0E9B852}"/>
                  </a:ext>
                </a:extLst>
              </p:cNvPr>
              <p:cNvSpPr txBox="1"/>
              <p:nvPr/>
            </p:nvSpPr>
            <p:spPr>
              <a:xfrm>
                <a:off x="823412" y="4678514"/>
                <a:ext cx="6055060" cy="1111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 rule of thumb, if </a:t>
                </a:r>
                <a14:m>
                  <m:oMath xmlns:m="http://schemas.openxmlformats.org/officeDocument/2006/math">
                    <m:r>
                      <a:rPr lang="en-US" sz="2200" i="1" kern="15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sz="2200" i="1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machine precision and the truncation error is of order O(</a:t>
                </a:r>
                <a:r>
                  <a:rPr lang="en-US" sz="2200" kern="150" dirty="0" err="1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200" kern="150" baseline="30000" dirty="0" err="1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 then </a:t>
                </a:r>
                <a:r>
                  <a:rPr lang="en-US" sz="2200" i="1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 </a:t>
                </a:r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should not be much smaller than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deg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</m:rad>
                  </m:oMath>
                </a14:m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8B4F17-9A5C-0071-55CA-87C1C0E9B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78514"/>
                <a:ext cx="6055060" cy="1111843"/>
              </a:xfrm>
              <a:prstGeom prst="rect">
                <a:avLst/>
              </a:prstGeom>
              <a:blipFill>
                <a:blip r:embed="rId3"/>
                <a:stretch>
                  <a:fillRect l="-1309" t="-3825" r="-101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2563FBC-8A0A-318B-9A51-C1A7A6617FF7}"/>
              </a:ext>
            </a:extLst>
          </p:cNvPr>
          <p:cNvSpPr txBox="1"/>
          <p:nvPr/>
        </p:nvSpPr>
        <p:spPr>
          <a:xfrm>
            <a:off x="823411" y="6031917"/>
            <a:ext cx="77792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higher the finite difference order is, the larger 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should be</a:t>
            </a:r>
            <a:endParaRPr lang="en-US" sz="2200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9B8BA-875B-EA81-AE28-94BF7F29F718}"/>
              </a:ext>
            </a:extLst>
          </p:cNvPr>
          <p:cNvSpPr txBox="1"/>
          <p:nvPr/>
        </p:nvSpPr>
        <p:spPr>
          <a:xfrm>
            <a:off x="9913918" y="4949006"/>
            <a:ext cx="153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Credit: Wikipedia</a:t>
            </a:r>
          </a:p>
        </p:txBody>
      </p:sp>
    </p:spTree>
    <p:extLst>
      <p:ext uri="{BB962C8B-B14F-4D97-AF65-F5344CB8AC3E}">
        <p14:creationId xmlns:p14="http://schemas.microsoft.com/office/powerpoint/2010/main" val="3462200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B62D-7C58-4FBC-FD80-0F8A1C59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C2AD-A1A0-E8C4-8AD5-E54C8896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D9CE39-382C-D16E-7A58-9EAA0B795B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20364-FBAB-B3F0-83E1-4CA7921CA7B0}"/>
              </a:ext>
            </a:extLst>
          </p:cNvPr>
          <p:cNvSpPr txBox="1"/>
          <p:nvPr/>
        </p:nvSpPr>
        <p:spPr>
          <a:xfrm>
            <a:off x="605048" y="1165086"/>
            <a:ext cx="35707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Consider central difference: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D430E37-332C-8086-2726-63C3C80D8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0737" y="1595973"/>
            <a:ext cx="2870526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DDC5C7-E9CA-F5A3-5C63-ADE7BF436CD2}"/>
              </a:ext>
            </a:extLst>
          </p:cNvPr>
          <p:cNvSpPr txBox="1"/>
          <p:nvPr/>
        </p:nvSpPr>
        <p:spPr>
          <a:xfrm>
            <a:off x="605048" y="2330171"/>
            <a:ext cx="1701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Total error: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5D1C4F-63C3-7EC5-9E03-9CCEFB5DBB33}"/>
                  </a:ext>
                </a:extLst>
              </p:cNvPr>
              <p:cNvSpPr txBox="1"/>
              <p:nvPr/>
            </p:nvSpPr>
            <p:spPr>
              <a:xfrm>
                <a:off x="3474720" y="2904754"/>
                <a:ext cx="4442755" cy="524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error(</a:t>
                </a:r>
                <a:r>
                  <a:rPr lang="en-US" dirty="0" err="1"/>
                  <a:t>df</a:t>
                </a:r>
                <a:r>
                  <a:rPr lang="en-US" dirty="0"/>
                  <a:t>/dx)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+  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5D1C4F-63C3-7EC5-9E03-9CCEFB5DB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0" y="2904754"/>
                <a:ext cx="4442755" cy="524246"/>
              </a:xfrm>
              <a:prstGeom prst="rect">
                <a:avLst/>
              </a:prstGeom>
              <a:blipFill>
                <a:blip r:embed="rId4"/>
                <a:stretch>
                  <a:fillRect l="-1140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121B16-799C-2DC9-A2BB-B53EA0CB345A}"/>
              </a:ext>
            </a:extLst>
          </p:cNvPr>
          <p:cNvSpPr txBox="1"/>
          <p:nvPr/>
        </p:nvSpPr>
        <p:spPr>
          <a:xfrm>
            <a:off x="4947920" y="3423920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rgbClr val="7030A0"/>
                </a:solidFill>
              </a:rPr>
              <a:t>round-off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30594-DE16-E6A8-3F3C-E79A4BCF72EC}"/>
              </a:ext>
            </a:extLst>
          </p:cNvPr>
          <p:cNvSpPr txBox="1"/>
          <p:nvPr/>
        </p:nvSpPr>
        <p:spPr>
          <a:xfrm>
            <a:off x="6499821" y="3423920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rgbClr val="7030A0"/>
                </a:solidFill>
              </a:rPr>
              <a:t>truncation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3C6A8D-70AF-8E3B-5F3B-D5F58B560D84}"/>
                  </a:ext>
                </a:extLst>
              </p:cNvPr>
              <p:cNvSpPr txBox="1"/>
              <p:nvPr/>
            </p:nvSpPr>
            <p:spPr>
              <a:xfrm>
                <a:off x="9164320" y="2950039"/>
                <a:ext cx="113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3C6A8D-70AF-8E3B-5F3B-D5F58B560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320" y="2950039"/>
                <a:ext cx="1137920" cy="369332"/>
              </a:xfrm>
              <a:prstGeom prst="rect">
                <a:avLst/>
              </a:prstGeom>
              <a:blipFill>
                <a:blip r:embed="rId5"/>
                <a:stretch>
                  <a:fillRect r="-989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C304212-11F7-C24A-69A3-BB0118476479}"/>
              </a:ext>
            </a:extLst>
          </p:cNvPr>
          <p:cNvSpPr txBox="1"/>
          <p:nvPr/>
        </p:nvSpPr>
        <p:spPr>
          <a:xfrm>
            <a:off x="9034329" y="3354523"/>
            <a:ext cx="2550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/>
              <a:t>Best case: machine precision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BCFB5-8D03-8D29-5FFF-803111D743C3}"/>
              </a:ext>
            </a:extLst>
          </p:cNvPr>
          <p:cNvSpPr txBox="1"/>
          <p:nvPr/>
        </p:nvSpPr>
        <p:spPr>
          <a:xfrm>
            <a:off x="605048" y="3951921"/>
            <a:ext cx="83255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Minimizing with respect to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gives optimal choice for the step size: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0D28BB-09D0-40B8-F040-1A2B125E7E8B}"/>
                  </a:ext>
                </a:extLst>
              </p:cNvPr>
              <p:cNvSpPr txBox="1"/>
              <p:nvPr/>
            </p:nvSpPr>
            <p:spPr>
              <a:xfrm>
                <a:off x="4285248" y="4523908"/>
                <a:ext cx="5205591" cy="427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 </m:t>
                      </m:r>
                      <m:rad>
                        <m:radPr>
                          <m:ctrlPr>
                            <a:rPr lang="en-US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a:rPr lang="en-US" b="0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g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0D28BB-09D0-40B8-F040-1A2B125E7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248" y="4523908"/>
                <a:ext cx="5205591" cy="427746"/>
              </a:xfrm>
              <a:prstGeom prst="rect">
                <a:avLst/>
              </a:prstGeom>
              <a:blipFill>
                <a:blip r:embed="rId6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C8C4AE7-C9AF-CF87-4B8E-83589C1EF3EA}"/>
              </a:ext>
            </a:extLst>
          </p:cNvPr>
          <p:cNvSpPr txBox="1"/>
          <p:nvPr/>
        </p:nvSpPr>
        <p:spPr>
          <a:xfrm>
            <a:off x="605048" y="5312978"/>
            <a:ext cx="67507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More generally, for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sz="2200" i="1" kern="15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i="1" kern="150" baseline="300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scheme one has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D70EA6-A7ED-3AC1-81E1-019BDD7A104E}"/>
                  </a:ext>
                </a:extLst>
              </p:cNvPr>
              <p:cNvSpPr txBox="1"/>
              <p:nvPr/>
            </p:nvSpPr>
            <p:spPr>
              <a:xfrm>
                <a:off x="4466671" y="5881824"/>
                <a:ext cx="3258657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kern="15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1800" b="0" i="1" kern="15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~</m:t>
                      </m:r>
                      <m:rad>
                        <m:radPr>
                          <m:ctrlPr>
                            <a:rPr lang="en-US" sz="1800" b="0" i="1" kern="15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800" b="0" i="1" kern="15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1800" b="0" i="1" kern="15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g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D70EA6-A7ED-3AC1-81E1-019BDD7A1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671" y="5881824"/>
                <a:ext cx="3258657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469BC7-268A-1795-769D-1C77D5F4E398}"/>
                  </a:ext>
                </a:extLst>
              </p:cNvPr>
              <p:cNvSpPr txBox="1"/>
              <p:nvPr/>
            </p:nvSpPr>
            <p:spPr>
              <a:xfrm>
                <a:off x="9164320" y="2510157"/>
                <a:ext cx="28229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- relative error in f(x)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469BC7-268A-1795-769D-1C77D5F4E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320" y="2510157"/>
                <a:ext cx="2822917" cy="369332"/>
              </a:xfrm>
              <a:prstGeom prst="rect">
                <a:avLst/>
              </a:prstGeom>
              <a:blipFill>
                <a:blip r:embed="rId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405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 =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B1A67D-8B65-4494-BAD7-2D2666F339F2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B1A67D-8B65-4494-BAD7-2D2666F33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4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582CBD-F023-0829-9A07-D01913DBE1CD}"/>
              </a:ext>
            </a:extLst>
          </p:cNvPr>
          <p:cNvSpPr txBox="1"/>
          <p:nvPr/>
        </p:nvSpPr>
        <p:spPr>
          <a:xfrm>
            <a:off x="823411" y="4230806"/>
            <a:ext cx="3693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Forward difference O(h):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6BDBE4-1AC0-66D4-69D2-34C010BF7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872" y="2398729"/>
            <a:ext cx="5268266" cy="406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0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 =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647C2-CBF6-4C22-8BD9-3EAADCC4F4C9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647C2-CBF6-4C22-8BD9-3EAADCC4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5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D60741-0C5D-74FF-2132-6E19E8A0DC01}"/>
              </a:ext>
            </a:extLst>
          </p:cNvPr>
          <p:cNvSpPr txBox="1"/>
          <p:nvPr/>
        </p:nvSpPr>
        <p:spPr>
          <a:xfrm>
            <a:off x="823411" y="4230806"/>
            <a:ext cx="3693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Backward difference O(h):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52E2D7-15D9-56AB-CF4E-A9636519FA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872" y="2398729"/>
            <a:ext cx="5268266" cy="4068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D1EF35-7FCB-0139-F899-37FEEEDEE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2872" y="2398211"/>
            <a:ext cx="5268937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8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 =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7A691B-4E65-55E7-0359-B9E4BD3B60B9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7A691B-4E65-55E7-0359-B9E4BD3B6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6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90578D3-287F-C652-4325-7AB8C0B8437B}"/>
              </a:ext>
            </a:extLst>
          </p:cNvPr>
          <p:cNvSpPr txBox="1"/>
          <p:nvPr/>
        </p:nvSpPr>
        <p:spPr>
          <a:xfrm>
            <a:off x="823412" y="4230806"/>
            <a:ext cx="3466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Central difference O(h</a:t>
            </a:r>
            <a:r>
              <a:rPr lang="en-US" sz="2200" b="1" baseline="30000" dirty="0"/>
              <a:t>2</a:t>
            </a:r>
            <a:r>
              <a:rPr lang="en-US" sz="2200" b="1" dirty="0"/>
              <a:t>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376B4-60AC-178C-2DE1-159009590B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2872" y="2398211"/>
            <a:ext cx="5268937" cy="4069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F727D0-01AB-5C20-088C-0B2C7D01BF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872" y="2398211"/>
            <a:ext cx="5268937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13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 =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10D9D3-D1A5-704D-A3EB-6FC8193F285B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10D9D3-D1A5-704D-A3EB-6FC8193F2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7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1750DE5-F3E7-DD48-1DFB-BED2C2124036}"/>
              </a:ext>
            </a:extLst>
          </p:cNvPr>
          <p:cNvSpPr txBox="1"/>
          <p:nvPr/>
        </p:nvSpPr>
        <p:spPr>
          <a:xfrm>
            <a:off x="823412" y="4230806"/>
            <a:ext cx="3466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Central difference O(h</a:t>
            </a:r>
            <a:r>
              <a:rPr lang="en-US" sz="2200" b="1" baseline="30000" dirty="0"/>
              <a:t>4</a:t>
            </a:r>
            <a:r>
              <a:rPr lang="en-US" sz="2200" b="1" dirty="0"/>
              <a:t>):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D4700E-3F7A-E722-995C-DC8775154D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872" y="2398211"/>
            <a:ext cx="5268937" cy="4069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F96D52-E747-ECB7-4E74-4605EA0FE2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2872" y="2398830"/>
            <a:ext cx="5268937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57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High-order derivatives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80E2-4873-1DE9-588B-51253723C098}"/>
              </a:ext>
            </a:extLst>
          </p:cNvPr>
          <p:cNvSpPr txBox="1"/>
          <p:nvPr/>
        </p:nvSpPr>
        <p:spPr>
          <a:xfrm>
            <a:off x="823410" y="2714535"/>
            <a:ext cx="91849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Now apply the central difference again to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f’(</a:t>
            </a:r>
            <a:r>
              <a:rPr lang="en-US" sz="2200" i="1" kern="15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x+h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f’(x-h/2)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0" y="5040338"/>
            <a:ext cx="47084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General formula [to order O(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i="1" kern="150" baseline="30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3" y="1406197"/>
            <a:ext cx="2429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Central difference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51BAE59-FDBB-4C6B-F9C8-F38701845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8787" y="1935644"/>
            <a:ext cx="3214421" cy="46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26B01A-60AC-AD85-3245-C4CD60E2A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622" y="3278761"/>
            <a:ext cx="4758750" cy="1620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404EC5D-2991-3A49-52A3-B916A7FC2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4795" y="5698561"/>
            <a:ext cx="4402410" cy="5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01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derivative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1A60B-6A74-4467-4D45-951D43E9C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22" y="1824092"/>
            <a:ext cx="4794995" cy="5005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D24E89-70F8-D476-35D2-FEE2DF11DCC9}"/>
              </a:ext>
            </a:extLst>
          </p:cNvPr>
          <p:cNvSpPr txBox="1"/>
          <p:nvPr/>
        </p:nvSpPr>
        <p:spPr>
          <a:xfrm>
            <a:off x="873022" y="2862107"/>
            <a:ext cx="27936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= exp(x)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1AB8FF-DD3A-52D6-5157-0F4C0D9CC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2" y="3771272"/>
            <a:ext cx="1984427" cy="1742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D53EC-7CCB-E67A-123A-E0671105968E}"/>
                  </a:ext>
                </a:extLst>
              </p:cNvPr>
              <p:cNvSpPr txBox="1"/>
              <p:nvPr/>
            </p:nvSpPr>
            <p:spPr>
              <a:xfrm>
                <a:off x="873022" y="5881227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D53EC-7CCB-E67A-123A-E06711059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22" y="5881227"/>
                <a:ext cx="5490952" cy="475195"/>
              </a:xfrm>
              <a:prstGeom prst="rect">
                <a:avLst/>
              </a:prstGeom>
              <a:blipFill>
                <a:blip r:embed="rId5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C1FD6E0-A282-FCE4-221E-8A5AF7E2C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4179" y="2003196"/>
            <a:ext cx="5725459" cy="45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66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2" y="3600745"/>
            <a:ext cx="56683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Reapply the central difference to calculate 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77519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us have a function of two variables: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US" sz="2200" i="1" kern="15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 central difference to calculate first-order derivatives</a:t>
            </a:r>
            <a:endParaRPr lang="en-US" sz="2200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BFD4B-FFA7-190B-5F35-92F5A1C29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07" y="2353681"/>
            <a:ext cx="3410785" cy="112002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77A1ADF-9EA4-338D-C497-6ECFEB88A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558" y="3698964"/>
            <a:ext cx="1584414" cy="270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C3ADC4-8A5B-FC10-C551-D09F908FA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216" y="4385659"/>
            <a:ext cx="9015566" cy="59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84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x = 0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E410F58-B608-42AB-3522-1891312E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50" y="2482348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B1A67D-8B65-4494-BAD7-2D2666F339F2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B1A67D-8B65-4494-BAD7-2D2666F33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4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582CBD-F023-0829-9A07-D01913DBE1CD}"/>
              </a:ext>
            </a:extLst>
          </p:cNvPr>
          <p:cNvSpPr txBox="1"/>
          <p:nvPr/>
        </p:nvSpPr>
        <p:spPr>
          <a:xfrm>
            <a:off x="823411" y="4230806"/>
            <a:ext cx="3693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Forward difference O(h):</a:t>
            </a:r>
          </a:p>
        </p:txBody>
      </p:sp>
    </p:spTree>
    <p:extLst>
      <p:ext uri="{BB962C8B-B14F-4D97-AF65-F5344CB8AC3E}">
        <p14:creationId xmlns:p14="http://schemas.microsoft.com/office/powerpoint/2010/main" val="969100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x = 0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E410F58-B608-42AB-3522-1891312E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50" y="2482348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E1AEF06-6138-2F28-1F21-191CCE4D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49" y="2476254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647C2-CBF6-4C22-8BD9-3EAADCC4F4C9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C647C2-CBF6-4C22-8BD9-3EAADCC4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5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D60741-0C5D-74FF-2132-6E19E8A0DC01}"/>
              </a:ext>
            </a:extLst>
          </p:cNvPr>
          <p:cNvSpPr txBox="1"/>
          <p:nvPr/>
        </p:nvSpPr>
        <p:spPr>
          <a:xfrm>
            <a:off x="823411" y="4230806"/>
            <a:ext cx="3693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Backward difference O(h):</a:t>
            </a:r>
          </a:p>
        </p:txBody>
      </p:sp>
    </p:spTree>
    <p:extLst>
      <p:ext uri="{BB962C8B-B14F-4D97-AF65-F5344CB8AC3E}">
        <p14:creationId xmlns:p14="http://schemas.microsoft.com/office/powerpoint/2010/main" val="2441794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x = 0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E410F58-B608-42AB-3522-1891312E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50" y="2482348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E1AEF06-6138-2F28-1F21-191CCE4D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49" y="2476254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A2550E1F-25DA-7B96-667E-50BF23DCD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48" y="2476254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7A691B-4E65-55E7-0359-B9E4BD3B60B9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7A691B-4E65-55E7-0359-B9E4BD3B6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6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90578D3-287F-C652-4325-7AB8C0B8437B}"/>
              </a:ext>
            </a:extLst>
          </p:cNvPr>
          <p:cNvSpPr txBox="1"/>
          <p:nvPr/>
        </p:nvSpPr>
        <p:spPr>
          <a:xfrm>
            <a:off x="823412" y="4230806"/>
            <a:ext cx="3466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Central difference O(h</a:t>
            </a:r>
            <a:r>
              <a:rPr lang="en-US" sz="2200" b="1" baseline="30000" dirty="0"/>
              <a:t>2</a:t>
            </a:r>
            <a:r>
              <a:rPr lang="en-US" sz="2200" b="1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1081835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truncation and round-off errors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54909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f(x) = exp(x)</a:t>
            </a:r>
          </a:p>
          <a:p>
            <a:endParaRPr lang="en-US" sz="2200" i="1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derivatives at x = 0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E410F58-B608-42AB-3522-1891312E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50" y="2482348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B5D088-B8F3-0DC3-1441-FBD4CF641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796" y="2937178"/>
            <a:ext cx="1847655" cy="983643"/>
          </a:xfrm>
          <a:prstGeom prst="rect">
            <a:avLst/>
          </a:prstGeom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E1AEF06-6138-2F28-1F21-191CCE4D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49" y="2476254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A2550E1F-25DA-7B96-667E-50BF23DCD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48" y="2476254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E01A4EBD-7C59-A404-CB50-63DA7B184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47" y="2476254"/>
            <a:ext cx="46515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10D9D3-D1A5-704D-A3EB-6FC8193F285B}"/>
                  </a:ext>
                </a:extLst>
              </p:cNvPr>
              <p:cNvSpPr txBox="1"/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10D9D3-D1A5-704D-A3EB-6FC8193F2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12" y="4697583"/>
                <a:ext cx="5490952" cy="475195"/>
              </a:xfrm>
              <a:prstGeom prst="rect">
                <a:avLst/>
              </a:prstGeom>
              <a:blipFill>
                <a:blip r:embed="rId7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1750DE5-F3E7-DD48-1DFB-BED2C2124036}"/>
              </a:ext>
            </a:extLst>
          </p:cNvPr>
          <p:cNvSpPr txBox="1"/>
          <p:nvPr/>
        </p:nvSpPr>
        <p:spPr>
          <a:xfrm>
            <a:off x="823412" y="4230806"/>
            <a:ext cx="3466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Central difference O(h</a:t>
            </a:r>
            <a:r>
              <a:rPr lang="en-US" sz="2200" b="1" baseline="30000" dirty="0"/>
              <a:t>4</a:t>
            </a:r>
            <a:r>
              <a:rPr lang="en-US" sz="2200" b="1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9467569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High-order derivatives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80E2-4873-1DE9-588B-51253723C098}"/>
              </a:ext>
            </a:extLst>
          </p:cNvPr>
          <p:cNvSpPr txBox="1"/>
          <p:nvPr/>
        </p:nvSpPr>
        <p:spPr>
          <a:xfrm>
            <a:off x="823410" y="2714535"/>
            <a:ext cx="91849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Now apply the central difference again to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f’(</a:t>
            </a:r>
            <a:r>
              <a:rPr lang="en-US" sz="2200" i="1" kern="15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x+h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f’(x-h/2)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0" y="5040338"/>
            <a:ext cx="47084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General formula (to order </a:t>
            </a:r>
            <a:r>
              <a:rPr lang="en-US" sz="22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3" y="1406197"/>
            <a:ext cx="24293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Central difference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51BAE59-FDBB-4C6B-F9C8-F38701845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8787" y="1935644"/>
            <a:ext cx="3214421" cy="46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26B01A-60AC-AD85-3245-C4CD60E2A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622" y="3278761"/>
            <a:ext cx="4758750" cy="1620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404EC5D-2991-3A49-52A3-B916A7FC2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4795" y="5698561"/>
            <a:ext cx="4402410" cy="5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41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derivative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1A60B-6A74-4467-4D45-951D43E9C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22" y="1824092"/>
            <a:ext cx="4794995" cy="5005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D24E89-70F8-D476-35D2-FEE2DF11DCC9}"/>
              </a:ext>
            </a:extLst>
          </p:cNvPr>
          <p:cNvSpPr txBox="1"/>
          <p:nvPr/>
        </p:nvSpPr>
        <p:spPr>
          <a:xfrm>
            <a:off x="873022" y="2862107"/>
            <a:ext cx="27936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f(x) = exp(x)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1AB8FF-DD3A-52D6-5157-0F4C0D9CC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2" y="3771272"/>
            <a:ext cx="1984427" cy="1742424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E81A2687-463D-587E-7322-B01621884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748" y="2324668"/>
            <a:ext cx="4798966" cy="379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D53EC-7CCB-E67A-123A-E0671105968E}"/>
                  </a:ext>
                </a:extLst>
              </p:cNvPr>
              <p:cNvSpPr txBox="1"/>
              <p:nvPr/>
            </p:nvSpPr>
            <p:spPr>
              <a:xfrm>
                <a:off x="873022" y="5881227"/>
                <a:ext cx="5490952" cy="47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kern="15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</m:t>
                    </m:r>
                    <m:rad>
                      <m:rad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sSup>
                          <m:sSupPr>
                            <m:ctrlP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200" b="0" i="1" kern="15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−16</m:t>
                            </m:r>
                          </m:sup>
                        </m:sSup>
                      </m:e>
                    </m:rad>
                    <m:r>
                      <a:rPr lang="en-US" sz="2200" b="0" i="1" kern="15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sSup>
                      <m:sSupPr>
                        <m:ctrlP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kern="15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2200" kern="15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8D53EC-7CCB-E67A-123A-E06711059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22" y="5881227"/>
                <a:ext cx="5490952" cy="475195"/>
              </a:xfrm>
              <a:prstGeom prst="rect">
                <a:avLst/>
              </a:prstGeom>
              <a:blipFill>
                <a:blip r:embed="rId5"/>
                <a:stretch>
                  <a:fillRect l="-1443" b="-2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2357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B5247-F97C-7D1A-EE48-5514E7F76903}"/>
              </a:ext>
            </a:extLst>
          </p:cNvPr>
          <p:cNvSpPr txBox="1"/>
          <p:nvPr/>
        </p:nvSpPr>
        <p:spPr>
          <a:xfrm>
            <a:off x="823412" y="3600745"/>
            <a:ext cx="56683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Reapply the central difference to calculate </a:t>
            </a:r>
            <a:endParaRPr lang="en-US" sz="2200" i="1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F0156-3DDB-4A68-EB84-D2E6BC81BB6D}"/>
              </a:ext>
            </a:extLst>
          </p:cNvPr>
          <p:cNvSpPr txBox="1"/>
          <p:nvPr/>
        </p:nvSpPr>
        <p:spPr>
          <a:xfrm>
            <a:off x="823412" y="1406197"/>
            <a:ext cx="77519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Let us have 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US" sz="2200" i="1" kern="15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sz="2200" i="1" kern="15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 central difference to calculate first-order derivatives</a:t>
            </a:r>
            <a:endParaRPr lang="en-US" sz="2200" kern="15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BFD4B-FFA7-190B-5F35-92F5A1C29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07" y="2353681"/>
            <a:ext cx="3410785" cy="112002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77A1ADF-9EA4-338D-C497-6ECFEB88A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558" y="3698964"/>
            <a:ext cx="1584414" cy="270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C3ADC4-8A5B-FC10-C551-D09F908FA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216" y="4385659"/>
            <a:ext cx="9015566" cy="59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49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Numerical differentiation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A9FCA-0C53-118B-3308-4BC636CD7B49}"/>
              </a:ext>
            </a:extLst>
          </p:cNvPr>
          <p:cNvSpPr txBox="1"/>
          <p:nvPr/>
        </p:nvSpPr>
        <p:spPr>
          <a:xfrm>
            <a:off x="896201" y="1429046"/>
            <a:ext cx="97831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Forward/backward differences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Useful when we are given a grid of function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Have limited accuracy (linear in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kern="150" dirty="0">
              <a:solidFill>
                <a:srgbClr val="0808FF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Central difference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More precise than forward/backward differences (quadratic in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Gives f’(x) estimate at the midpoint of function evaluation points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Higher-order formulas are obtained by using more than two function evaluations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Can be used when limited number of function evaluations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Straightforwardly extendable to high-order and partial derivatives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Balance between truncation and round-off error must be respected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should not be taken too small</a:t>
            </a:r>
          </a:p>
        </p:txBody>
      </p:sp>
    </p:spTree>
    <p:extLst>
      <p:ext uri="{BB962C8B-B14F-4D97-AF65-F5344CB8AC3E}">
        <p14:creationId xmlns:p14="http://schemas.microsoft.com/office/powerpoint/2010/main" val="2044415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Numerical differentiation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A9FCA-0C53-118B-3308-4BC636CD7B49}"/>
              </a:ext>
            </a:extLst>
          </p:cNvPr>
          <p:cNvSpPr txBox="1"/>
          <p:nvPr/>
        </p:nvSpPr>
        <p:spPr>
          <a:xfrm>
            <a:off x="896201" y="1165086"/>
            <a:ext cx="107076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Forward/backward differences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Useful when we are given a grid of function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f’(x) 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at the same point as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Have limited accuracy (error is linear in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kern="150" dirty="0">
              <a:solidFill>
                <a:srgbClr val="0808FF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Central difference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More precise than forward/backward differences (error is quadratic in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f’(x) 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estimate at the midpoint of function evaluation points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Higher-order formulas are obtained by using more than two function evaluations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Can be used when limited number of function evaluations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Straightforwardly extendable to high-order and partial derivatives</a:t>
            </a:r>
          </a:p>
          <a:p>
            <a:endParaRPr lang="en-US" sz="2000" kern="15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Balance between truncation and round-off error must be respected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1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15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should not be taken too small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2A3BE-2428-F931-3BFB-E118393ADA2A}"/>
              </a:ext>
            </a:extLst>
          </p:cNvPr>
          <p:cNvSpPr txBox="1"/>
          <p:nvPr/>
        </p:nvSpPr>
        <p:spPr>
          <a:xfrm>
            <a:off x="896201" y="6438431"/>
            <a:ext cx="4988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Advanced topic: </a:t>
            </a:r>
            <a:r>
              <a:rPr lang="en-US" dirty="0"/>
              <a:t>Automatic differentiation (</a:t>
            </a:r>
            <a:r>
              <a:rPr lang="en-US" b="1" dirty="0">
                <a:solidFill>
                  <a:srgbClr val="0808FF"/>
                </a:solidFill>
                <a:hlinkClick r:id="rId2"/>
              </a:rPr>
              <a:t>link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4587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5" y="2082757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+mj-lt"/>
              </a:rPr>
              <a:t>Extra slides</a:t>
            </a:r>
            <a:endParaRPr lang="uk-UA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2073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quadrature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9D1590-E60E-928B-4887-577F10593CC6}"/>
                  </a:ext>
                </a:extLst>
              </p:cNvPr>
              <p:cNvSpPr txBox="1"/>
              <p:nvPr/>
            </p:nvSpPr>
            <p:spPr>
              <a:xfrm>
                <a:off x="906962" y="1154318"/>
                <a:ext cx="7477622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+mj-lt"/>
                    <a:ea typeface="DejaVu Sans"/>
                  </a:rPr>
                  <a:t>We would like to control the error in our calculation</a:t>
                </a:r>
              </a:p>
              <a:p>
                <a:endParaRPr lang="en-US" sz="2200" dirty="0">
                  <a:latin typeface="+mj-lt"/>
                  <a:ea typeface="DejaVu Sans"/>
                </a:endParaRPr>
              </a:p>
              <a:p>
                <a:r>
                  <a:rPr lang="en-US" sz="2200" dirty="0">
                    <a:effectLst/>
                    <a:latin typeface="+mj-lt"/>
                    <a:ea typeface="DejaVu Sans"/>
                  </a:rPr>
                  <a:t>This can be achieved by doubling the number of subintervals and keeping track of the error estimate</a:t>
                </a:r>
              </a:p>
              <a:p>
                <a:endParaRPr lang="en-US" sz="2200" dirty="0">
                  <a:latin typeface="+mj-lt"/>
                  <a:ea typeface="DejaVu Sans"/>
                </a:endParaRPr>
              </a:p>
              <a:p>
                <a:r>
                  <a:rPr lang="en-US" sz="2200" dirty="0">
                    <a:effectLst/>
                    <a:latin typeface="+mj-lt"/>
                    <a:ea typeface="DejaVu Sans"/>
                  </a:rPr>
                  <a:t>Recall that in the rectangle/trapezoidal rule the error is proportional to </a:t>
                </a:r>
                <a:r>
                  <a:rPr lang="en-US" sz="2200" i="1" dirty="0">
                    <a:effectLst/>
                    <a:latin typeface="+mj-lt"/>
                    <a:ea typeface="DejaVu Sans"/>
                  </a:rPr>
                  <a:t>h</a:t>
                </a:r>
                <a:r>
                  <a:rPr lang="en-US" sz="2200" i="1" baseline="30000" dirty="0">
                    <a:effectLst/>
                    <a:latin typeface="+mj-lt"/>
                    <a:ea typeface="DejaVu Sans"/>
                  </a:rPr>
                  <a:t>2</a:t>
                </a:r>
                <a:endParaRPr lang="en-US" sz="2200" i="1" dirty="0">
                  <a:effectLst/>
                  <a:latin typeface="+mj-lt"/>
                  <a:ea typeface="DejaVu Sans"/>
                </a:endParaRPr>
              </a:p>
              <a:p>
                <a:endParaRPr lang="en-US" sz="2200" i="1" dirty="0">
                  <a:latin typeface="+mj-lt"/>
                  <a:ea typeface="DejaVu Sans"/>
                </a:endParaRPr>
              </a:p>
              <a:p>
                <a:endParaRPr lang="en-US" sz="2200" i="1" dirty="0">
                  <a:effectLst/>
                  <a:latin typeface="+mj-lt"/>
                  <a:ea typeface="DejaVu Sans"/>
                </a:endParaRPr>
              </a:p>
              <a:p>
                <a:endParaRPr lang="en-US" sz="2200" i="1" dirty="0">
                  <a:effectLst/>
                  <a:latin typeface="+mj-lt"/>
                  <a:ea typeface="DejaVu Sans"/>
                </a:endParaRPr>
              </a:p>
              <a:p>
                <a:r>
                  <a:rPr lang="en-US" sz="2200" dirty="0">
                    <a:latin typeface="+mj-lt"/>
                    <a:ea typeface="DejaVu Sans"/>
                  </a:rPr>
                  <a:t>At step </a:t>
                </a:r>
                <a:r>
                  <a:rPr lang="en-US" sz="2200" i="1" dirty="0">
                    <a:latin typeface="+mj-lt"/>
                    <a:ea typeface="DejaVu Sans"/>
                  </a:rPr>
                  <a:t>k</a:t>
                </a:r>
                <a:r>
                  <a:rPr lang="en-US" sz="2200" dirty="0">
                    <a:latin typeface="+mj-lt"/>
                    <a:ea typeface="DejaVu Sans"/>
                  </a:rPr>
                  <a:t>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200" dirty="0">
                    <a:effectLst/>
                    <a:latin typeface="+mj-lt"/>
                    <a:ea typeface="DejaVu Sans"/>
                  </a:rPr>
                  <a:t> therefore</a:t>
                </a:r>
              </a:p>
              <a:p>
                <a:r>
                  <a:rPr lang="en-US" sz="2200" dirty="0">
                    <a:latin typeface="+mj-lt"/>
                    <a:ea typeface="DejaVu Sans"/>
                  </a:rPr>
                  <a:t>and the error at step </a:t>
                </a:r>
                <a:r>
                  <a:rPr lang="en-US" sz="2200" i="1" dirty="0">
                    <a:latin typeface="+mj-lt"/>
                    <a:ea typeface="DejaVu Sans"/>
                  </a:rPr>
                  <a:t>k</a:t>
                </a:r>
                <a:r>
                  <a:rPr lang="en-US" sz="2200" dirty="0">
                    <a:latin typeface="+mj-lt"/>
                    <a:ea typeface="DejaVu Sans"/>
                  </a:rPr>
                  <a:t> is estimated as</a:t>
                </a:r>
                <a:endParaRPr lang="en-US" sz="2200" dirty="0">
                  <a:effectLst/>
                  <a:latin typeface="+mj-lt"/>
                  <a:ea typeface="DejaVu San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9D1590-E60E-928B-4887-577F10593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62" y="1154318"/>
                <a:ext cx="7477622" cy="4154984"/>
              </a:xfrm>
              <a:prstGeom prst="rect">
                <a:avLst/>
              </a:prstGeom>
              <a:blipFill>
                <a:blip r:embed="rId2"/>
                <a:stretch>
                  <a:fillRect l="-1060" t="-1026" b="-1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D623B8B5-DF90-C77D-78B5-00F0D3EE2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8801" y="3752608"/>
            <a:ext cx="1434398" cy="29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C7635-9E2A-85D5-6D74-B33A36CFC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9141" y="4607657"/>
            <a:ext cx="3755272" cy="3198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5720F2-3383-64DB-8ED5-BEFEDBD5A4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4655" y="1412355"/>
            <a:ext cx="2383577" cy="16555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2A94C14-E8FB-8C66-9234-99E2A48E6A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61799" y="5676559"/>
            <a:ext cx="2293981" cy="34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637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trapezoidal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2D2E8-A8BC-AA4A-02E2-C6DF940722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4" t="845" r="-2244" b="-845"/>
          <a:stretch/>
        </p:blipFill>
        <p:spPr>
          <a:xfrm>
            <a:off x="875652" y="1286074"/>
            <a:ext cx="8288139" cy="3058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58A0A5-80D4-10E6-6D8F-5F16F9BBF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488" y="3472836"/>
            <a:ext cx="8455462" cy="310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876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E13B50-5087-DBD3-3C97-7640CE7E9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12" y="2113746"/>
            <a:ext cx="8280000" cy="3312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Adaptive Simpson rule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F2F3C-2377-77C5-7AEF-D626EEDC3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180" y="4821746"/>
            <a:ext cx="8456400" cy="17128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46EAC2-A385-27B0-152C-A13121BE826F}"/>
              </a:ext>
            </a:extLst>
          </p:cNvPr>
          <p:cNvSpPr txBox="1"/>
          <p:nvPr/>
        </p:nvSpPr>
        <p:spPr>
          <a:xfrm>
            <a:off x="656094" y="119425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+mj-lt"/>
                <a:ea typeface="DejaVu Sans"/>
              </a:rPr>
              <a:t>For Simpson’s rule 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47CAF0E-5A09-0652-8BD0-CBC05C8BB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3379" y="1248013"/>
            <a:ext cx="2203021" cy="3125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FF779B-AB8D-F290-1D0C-A0EA8090D24C}"/>
              </a:ext>
            </a:extLst>
          </p:cNvPr>
          <p:cNvSpPr txBox="1"/>
          <p:nvPr/>
        </p:nvSpPr>
        <p:spPr>
          <a:xfrm>
            <a:off x="6020705" y="118886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+mj-lt"/>
                <a:ea typeface="DejaVu Sans"/>
              </a:rPr>
              <a:t>(understand why 15 and not 3?)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41313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</a:t>
            </a:r>
            <a:r>
              <a:rPr lang="en-US" dirty="0" err="1"/>
              <a:t>quadratures</a:t>
            </a:r>
            <a:r>
              <a:rPr lang="en-US" dirty="0"/>
              <a:t>: Romberg method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6EAC2-A385-27B0-152C-A13121BE826F}"/>
              </a:ext>
            </a:extLst>
          </p:cNvPr>
          <p:cNvSpPr txBox="1"/>
          <p:nvPr/>
        </p:nvSpPr>
        <p:spPr>
          <a:xfrm>
            <a:off x="656094" y="1194250"/>
            <a:ext cx="103941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+mj-lt"/>
                <a:ea typeface="DejaVu Sans"/>
              </a:rPr>
              <a:t>Recall that we obtained error estimate for trapezoidal method at step k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C3A797E-E61E-8A13-215A-2776B7F9B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9009" y="1832979"/>
            <a:ext cx="2293981" cy="347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57887C-1757-DC9D-0D18-BC53B94C7F8A}"/>
              </a:ext>
            </a:extLst>
          </p:cNvPr>
          <p:cNvSpPr txBox="1"/>
          <p:nvPr/>
        </p:nvSpPr>
        <p:spPr>
          <a:xfrm>
            <a:off x="656094" y="2441864"/>
            <a:ext cx="103941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+mj-lt"/>
                <a:ea typeface="DejaVu Sans"/>
              </a:rPr>
              <a:t>On the other hand, by definition, 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FA32967-D4B4-23BE-E7CE-CD7D7FC4A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9009" y="2481819"/>
            <a:ext cx="1449679" cy="3509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B82BDB-92D9-24D5-A998-4514ECFF31BC}"/>
              </a:ext>
            </a:extLst>
          </p:cNvPr>
          <p:cNvSpPr txBox="1"/>
          <p:nvPr/>
        </p:nvSpPr>
        <p:spPr>
          <a:xfrm>
            <a:off x="656094" y="3138501"/>
            <a:ext cx="103941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effectLst/>
                <a:latin typeface="+mj-lt"/>
                <a:ea typeface="DejaVu Sans"/>
              </a:rPr>
              <a:t>Therefore, we can improve our estimate of the integral as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F89CB-EF47-9B61-0A5F-9782BCFFFA2B}"/>
              </a:ext>
            </a:extLst>
          </p:cNvPr>
          <p:cNvSpPr txBox="1"/>
          <p:nvPr/>
        </p:nvSpPr>
        <p:spPr>
          <a:xfrm>
            <a:off x="656094" y="4455501"/>
            <a:ext cx="103941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effectLst/>
                <a:latin typeface="+mj-lt"/>
                <a:ea typeface="DejaVu Sans"/>
              </a:rPr>
              <a:t>Romberg method: </a:t>
            </a:r>
            <a:r>
              <a:rPr lang="en-US" sz="2200" dirty="0">
                <a:effectLst/>
                <a:latin typeface="+mj-lt"/>
                <a:ea typeface="DejaVu Sans"/>
              </a:rPr>
              <a:t>continu</a:t>
            </a:r>
            <a:r>
              <a:rPr lang="en-US" sz="2200" dirty="0">
                <a:latin typeface="+mj-lt"/>
                <a:ea typeface="DejaVu Sans"/>
              </a:rPr>
              <a:t>e this procedure iteratively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BE8F2DE-2E57-2FF8-0FE6-8FF3C4D9E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2058" y="3758864"/>
            <a:ext cx="3527883" cy="52357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8B9993F-28CD-E71B-BAD5-42E641E8E9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8168" y="5145053"/>
            <a:ext cx="3021039" cy="4543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A863D4A-E764-09AC-BC0C-EC489E8F2FFE}"/>
              </a:ext>
            </a:extLst>
          </p:cNvPr>
          <p:cNvSpPr txBox="1"/>
          <p:nvPr/>
        </p:nvSpPr>
        <p:spPr>
          <a:xfrm>
            <a:off x="656094" y="5791796"/>
            <a:ext cx="103941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+mj-lt"/>
                <a:ea typeface="DejaVu Sans"/>
              </a:rPr>
              <a:t>u</a:t>
            </a:r>
            <a:r>
              <a:rPr lang="en-US" sz="2200" dirty="0">
                <a:effectLst/>
                <a:latin typeface="+mj-lt"/>
                <a:ea typeface="DejaVu Sans"/>
              </a:rPr>
              <a:t>ntil the desired accuracy is reached</a:t>
            </a:r>
            <a:endParaRPr lang="en-US" sz="2200" i="1" dirty="0">
              <a:effectLst/>
              <a:latin typeface="+mj-lt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60063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Romberg method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BA6F5-CD36-134F-BA44-9E28BDF6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0" y="1220213"/>
            <a:ext cx="9163844" cy="4179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BB72C0-807C-2C88-CDF9-6A3C7E14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00" y="5754759"/>
            <a:ext cx="6839543" cy="7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567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Improper integrals: Singularities at endpoints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D514A-3379-B52C-98CA-20502C75E011}"/>
              </a:ext>
            </a:extLst>
          </p:cNvPr>
          <p:cNvSpPr txBox="1"/>
          <p:nvPr/>
        </p:nvSpPr>
        <p:spPr>
          <a:xfrm>
            <a:off x="864741" y="1419380"/>
            <a:ext cx="746283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Even though if the singularities at integration endpoints are integrable, the trapezoidal, Simpson, etc. methods will fail because they evaluate the integrand at the endpoints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</a:rPr>
              <a:t>Solution: </a:t>
            </a:r>
            <a:r>
              <a:rPr lang="en-US" sz="2200" dirty="0">
                <a:latin typeface="+mj-lt"/>
              </a:rPr>
              <a:t>use method that does use the endpoints (e.g. </a:t>
            </a:r>
            <a:r>
              <a:rPr lang="en-US" sz="2200" b="1" dirty="0">
                <a:latin typeface="+mj-lt"/>
              </a:rPr>
              <a:t>rectangle rule</a:t>
            </a:r>
            <a:r>
              <a:rPr lang="en-US" sz="2200" dirty="0">
                <a:latin typeface="+mj-lt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1F88A-2E1F-6D75-6F16-DFB634C74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689" y="1307484"/>
            <a:ext cx="2713706" cy="9242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7E014F-3A8B-2C7F-8263-1AC47C231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657" y="2844114"/>
            <a:ext cx="7247248" cy="11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822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Improper integrals: Singularities at endpoints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7CEDE-7B21-7BBD-878D-4DD53818F0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1F88A-2E1F-6D75-6F16-DFB634C74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06" y="1165086"/>
            <a:ext cx="2713706" cy="924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A01A9-74D5-9B7E-FB19-22E55D1CFF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646"/>
          <a:stretch/>
        </p:blipFill>
        <p:spPr>
          <a:xfrm>
            <a:off x="3560429" y="2249363"/>
            <a:ext cx="7927607" cy="3825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E7CE35-2FA4-B720-51EE-62EE52D74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64" y="2310664"/>
            <a:ext cx="2157898" cy="4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07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in Modern (Beamer-like)">
      <a:majorFont>
        <a:latin typeface="LM Sans 10"/>
        <a:ea typeface=""/>
        <a:cs typeface=""/>
      </a:majorFont>
      <a:minorFont>
        <a:latin typeface="LM Sans 10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ceStandard.potx" id="{68DB5CD3-6005-4466-AA38-EBD4F9E1AFDA}" vid="{31E8EE0F-63EF-41D6-BECB-9725E0583DB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2222</TotalTime>
  <Words>1768</Words>
  <Application>Microsoft Macintosh PowerPoint</Application>
  <PresentationFormat>Widescreen</PresentationFormat>
  <Paragraphs>289</Paragraphs>
  <Slides>56</Slides>
  <Notes>2</Notes>
  <HiddenSlides>12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Cambria Math</vt:lpstr>
      <vt:lpstr>Gill Sans MT</vt:lpstr>
      <vt:lpstr>LM Sans 10</vt:lpstr>
      <vt:lpstr>Times New Roman</vt:lpstr>
      <vt:lpstr>Тема Office</vt:lpstr>
      <vt:lpstr>Computational Physics @ NuSTEAM</vt:lpstr>
      <vt:lpstr>PowerPoint Presentation</vt:lpstr>
      <vt:lpstr>Numerical integration</vt:lpstr>
      <vt:lpstr>Numerical integration: rectangle (midpoint) rule</vt:lpstr>
      <vt:lpstr>Numerical integration: rectangle (midpoint) rule</vt:lpstr>
      <vt:lpstr>Numerical integration: rectangle (midpoint) rule</vt:lpstr>
      <vt:lpstr>Extended (composite) rectangle rule</vt:lpstr>
      <vt:lpstr>Extended (composite) rectangle rule</vt:lpstr>
      <vt:lpstr>Numerical integration: trapezoidal rule</vt:lpstr>
      <vt:lpstr>Numerical integration: trapezoidal rule</vt:lpstr>
      <vt:lpstr>Extended trapezoidal rule</vt:lpstr>
      <vt:lpstr>Extended (composite) trapezoidal rule</vt:lpstr>
      <vt:lpstr>Numerical integration: Simpson’s rule</vt:lpstr>
      <vt:lpstr>Numerical integration: Simpson’s rule</vt:lpstr>
      <vt:lpstr>Numerical integration: Simpson’s rule</vt:lpstr>
      <vt:lpstr>Extended Simpson’s rule</vt:lpstr>
      <vt:lpstr>Extended Simpson’s rule</vt:lpstr>
      <vt:lpstr>Comparing the methods</vt:lpstr>
      <vt:lpstr>Advanced methods</vt:lpstr>
      <vt:lpstr>Improper integrals</vt:lpstr>
      <vt:lpstr>Improper integrals: (Semi-)infinite intervals</vt:lpstr>
      <vt:lpstr>Improper integrals: Semi-infinite intervals</vt:lpstr>
      <vt:lpstr>Improper integrals: Infinite intervals</vt:lpstr>
      <vt:lpstr>Summary: Numerical integration</vt:lpstr>
      <vt:lpstr>PowerPoint Presentation</vt:lpstr>
      <vt:lpstr>Numerical differentiation</vt:lpstr>
      <vt:lpstr>Forward difference</vt:lpstr>
      <vt:lpstr>Backward difference</vt:lpstr>
      <vt:lpstr>Central difference</vt:lpstr>
      <vt:lpstr>High-order central difference</vt:lpstr>
      <vt:lpstr>Balancing truncation and round-off errors</vt:lpstr>
      <vt:lpstr>Balancing truncation and round-off errors</vt:lpstr>
      <vt:lpstr>Balancing truncation and round-off errors</vt:lpstr>
      <vt:lpstr>Balancing truncation and round-off errors</vt:lpstr>
      <vt:lpstr>Balancing truncation and round-off errors</vt:lpstr>
      <vt:lpstr>Balancing truncation and round-off errors</vt:lpstr>
      <vt:lpstr>High-order derivatives</vt:lpstr>
      <vt:lpstr>Second derivative</vt:lpstr>
      <vt:lpstr>Partial derivatives</vt:lpstr>
      <vt:lpstr>Balancing truncation and round-off errors</vt:lpstr>
      <vt:lpstr>Balancing truncation and round-off errors</vt:lpstr>
      <vt:lpstr>Balancing truncation and round-off errors</vt:lpstr>
      <vt:lpstr>Balancing truncation and round-off errors</vt:lpstr>
      <vt:lpstr>High-order derivatives</vt:lpstr>
      <vt:lpstr>Second derivative</vt:lpstr>
      <vt:lpstr>Partial derivatives</vt:lpstr>
      <vt:lpstr>Summary: Numerical differentiation</vt:lpstr>
      <vt:lpstr>Summary: Numerical differentiation</vt:lpstr>
      <vt:lpstr>PowerPoint Presentation</vt:lpstr>
      <vt:lpstr>Adaptive quadrature</vt:lpstr>
      <vt:lpstr>Adaptive trapezoidal rule</vt:lpstr>
      <vt:lpstr>Adaptive Simpson rule</vt:lpstr>
      <vt:lpstr>Adaptive quadratures: Romberg method</vt:lpstr>
      <vt:lpstr>Romberg method</vt:lpstr>
      <vt:lpstr>Improper integrals: Singularities at endpoints</vt:lpstr>
      <vt:lpstr>Improper integrals: Singularities at endpoints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Physics (PHYS6350)</dc:title>
  <dc:creator>Vovchenko Volodymyr</dc:creator>
  <cp:lastModifiedBy>Vovchenko Volodymyr</cp:lastModifiedBy>
  <cp:revision>1162</cp:revision>
  <cp:lastPrinted>2018-05-12T22:28:36Z</cp:lastPrinted>
  <dcterms:created xsi:type="dcterms:W3CDTF">2018-05-07T16:28:28Z</dcterms:created>
  <dcterms:modified xsi:type="dcterms:W3CDTF">2025-06-12T16:35:06Z</dcterms:modified>
</cp:coreProperties>
</file>