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5"/>
  </p:notesMasterIdLst>
  <p:sldIdLst>
    <p:sldId id="259" r:id="rId2"/>
    <p:sldId id="481" r:id="rId3"/>
    <p:sldId id="732" r:id="rId4"/>
    <p:sldId id="400" r:id="rId5"/>
    <p:sldId id="410" r:id="rId6"/>
    <p:sldId id="715" r:id="rId7"/>
    <p:sldId id="716" r:id="rId8"/>
    <p:sldId id="729" r:id="rId9"/>
    <p:sldId id="730" r:id="rId10"/>
    <p:sldId id="731" r:id="rId11"/>
    <p:sldId id="613" r:id="rId12"/>
    <p:sldId id="713" r:id="rId13"/>
    <p:sldId id="724" r:id="rId14"/>
    <p:sldId id="723" r:id="rId15"/>
    <p:sldId id="714" r:id="rId16"/>
    <p:sldId id="476" r:id="rId17"/>
    <p:sldId id="717" r:id="rId18"/>
    <p:sldId id="718" r:id="rId19"/>
    <p:sldId id="719" r:id="rId20"/>
    <p:sldId id="728" r:id="rId21"/>
    <p:sldId id="720" r:id="rId22"/>
    <p:sldId id="725" r:id="rId23"/>
    <p:sldId id="726" r:id="rId24"/>
  </p:sldIdLst>
  <p:sldSz cx="12192000" cy="6858000"/>
  <p:notesSz cx="7102475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A622845-6266-4D00-96BA-1436A2147006}">
          <p14:sldIdLst>
            <p14:sldId id="259"/>
            <p14:sldId id="481"/>
            <p14:sldId id="732"/>
            <p14:sldId id="400"/>
            <p14:sldId id="410"/>
            <p14:sldId id="715"/>
            <p14:sldId id="716"/>
            <p14:sldId id="729"/>
            <p14:sldId id="730"/>
            <p14:sldId id="731"/>
            <p14:sldId id="613"/>
            <p14:sldId id="713"/>
            <p14:sldId id="724"/>
            <p14:sldId id="723"/>
            <p14:sldId id="714"/>
            <p14:sldId id="476"/>
            <p14:sldId id="717"/>
            <p14:sldId id="718"/>
            <p14:sldId id="719"/>
            <p14:sldId id="728"/>
            <p14:sldId id="720"/>
            <p14:sldId id="725"/>
            <p14:sldId id="72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k36x6teoh@goetheuniversitaet.onmicrosoft.com" initials="j" lastIdx="1" clrIdx="0">
    <p:extLst>
      <p:ext uri="{19B8F6BF-5375-455C-9EA6-DF929625EA0E}">
        <p15:presenceInfo xmlns:p15="http://schemas.microsoft.com/office/powerpoint/2012/main" userId="jk36x6teoh@goetheuniversitaet.onmicrosoft.com" providerId="None"/>
      </p:ext>
    </p:extLst>
  </p:cmAuthor>
  <p:cmAuthor id="2" name="Vovchenko Volodymyr" initials="VV" lastIdx="9" clrIdx="1">
    <p:extLst>
      <p:ext uri="{19B8F6BF-5375-455C-9EA6-DF929625EA0E}">
        <p15:presenceInfo xmlns:p15="http://schemas.microsoft.com/office/powerpoint/2012/main" userId="9971ad54b2be89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808FF"/>
    <a:srgbClr val="122EA6"/>
    <a:srgbClr val="206F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746" autoAdjust="0"/>
    <p:restoredTop sz="90113" autoAdjust="0"/>
  </p:normalViewPr>
  <p:slideViewPr>
    <p:cSldViewPr snapToGrid="0">
      <p:cViewPr varScale="1">
        <p:scale>
          <a:sx n="105" d="100"/>
          <a:sy n="105" d="100"/>
        </p:scale>
        <p:origin x="192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7739" cy="51350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l">
              <a:defRPr sz="1300"/>
            </a:lvl1pPr>
          </a:lstStyle>
          <a:p>
            <a:endParaRPr lang="uk-UA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4023093" y="0"/>
            <a:ext cx="3077739" cy="513508"/>
          </a:xfrm>
          <a:prstGeom prst="rect">
            <a:avLst/>
          </a:prstGeom>
        </p:spPr>
        <p:txBody>
          <a:bodyPr vert="horz" lIns="99057" tIns="49528" rIns="99057" bIns="49528" rtlCol="0"/>
          <a:lstStyle>
            <a:lvl1pPr algn="r">
              <a:defRPr sz="1300"/>
            </a:lvl1pPr>
          </a:lstStyle>
          <a:p>
            <a:fld id="{961AF02B-09B0-4980-983D-27C0EDB561B5}" type="datetimeFigureOut">
              <a:rPr lang="uk-UA" smtClean="0"/>
              <a:t>10.06.25</a:t>
            </a:fld>
            <a:endParaRPr lang="uk-UA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7275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57" tIns="49528" rIns="99057" bIns="49528" rtlCol="0" anchor="ctr"/>
          <a:lstStyle/>
          <a:p>
            <a:endParaRPr lang="uk-UA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710248" y="4925407"/>
            <a:ext cx="5681980" cy="4029879"/>
          </a:xfrm>
          <a:prstGeom prst="rect">
            <a:avLst/>
          </a:prstGeom>
        </p:spPr>
        <p:txBody>
          <a:bodyPr vert="horz" lIns="99057" tIns="49528" rIns="99057" bIns="49528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uk-UA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7739" cy="51350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l">
              <a:defRPr sz="1300"/>
            </a:lvl1pPr>
          </a:lstStyle>
          <a:p>
            <a:endParaRPr lang="uk-UA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4023093" y="9721107"/>
            <a:ext cx="3077739" cy="513507"/>
          </a:xfrm>
          <a:prstGeom prst="rect">
            <a:avLst/>
          </a:prstGeom>
        </p:spPr>
        <p:txBody>
          <a:bodyPr vert="horz" lIns="99057" tIns="49528" rIns="99057" bIns="49528" rtlCol="0" anchor="b"/>
          <a:lstStyle>
            <a:lvl1pPr algn="r">
              <a:defRPr sz="1300"/>
            </a:lvl1pPr>
          </a:lstStyle>
          <a:p>
            <a:fld id="{2F0C5EC2-2CF5-460B-AE73-90022B24A426}" type="slidenum">
              <a:rPr lang="uk-UA" smtClean="0"/>
              <a:t>‹#›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364886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0C5EC2-2CF5-460B-AE73-90022B24A426}" type="slidenum">
              <a:rPr lang="uk-UA" smtClean="0"/>
              <a:t>1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6090274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60185" y="53790"/>
            <a:ext cx="11271623" cy="2034987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914398" y="2183414"/>
            <a:ext cx="10363199" cy="55592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Volodymyr Vovchenko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CBF37B5-78F5-4A7D-8B93-035842C50E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280703" y="4582035"/>
            <a:ext cx="5630583" cy="555922"/>
          </a:xfrm>
        </p:spPr>
        <p:txBody>
          <a:bodyPr>
            <a:normAutofit/>
          </a:bodyPr>
          <a:lstStyle>
            <a:lvl1pPr marL="0" indent="0" algn="ctr">
              <a:buNone/>
              <a:defRPr sz="2400" i="1"/>
            </a:lvl1pPr>
          </a:lstStyle>
          <a:p>
            <a:pPr lvl="0"/>
            <a:r>
              <a:rPr lang="en-US" dirty="0"/>
              <a:t>Conference, City, Country</a:t>
            </a:r>
            <a:endParaRPr lang="uk-UA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4FFC172-0F22-4283-A11C-0DC5E0AE852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73001" y="5019584"/>
            <a:ext cx="3845984" cy="555922"/>
          </a:xfrm>
        </p:spPr>
        <p:txBody>
          <a:bodyPr>
            <a:normAutofit/>
          </a:bodyPr>
          <a:lstStyle>
            <a:lvl1pPr marL="0" indent="0" algn="ctr">
              <a:buNone/>
              <a:defRPr sz="2000" b="1"/>
            </a:lvl1pPr>
          </a:lstStyle>
          <a:p>
            <a:pPr lvl="0"/>
            <a:r>
              <a:rPr lang="en-US" dirty="0"/>
              <a:t>January 1, 2018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78850A6-F8A6-4A0B-B3FD-B128F2AAAD0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914398" y="2651537"/>
            <a:ext cx="10363199" cy="415925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</a:lstStyle>
          <a:p>
            <a:pPr lvl="0"/>
            <a:r>
              <a:rPr lang="en-US" dirty="0"/>
              <a:t>Affiliation 1 &amp; Affiliation 2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400623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0542" y="1"/>
            <a:ext cx="11450917" cy="1165085"/>
          </a:xfrm>
        </p:spPr>
        <p:txBody>
          <a:bodyPr>
            <a:normAutofit/>
          </a:bodyPr>
          <a:lstStyle>
            <a:lvl1pPr>
              <a:defRPr sz="3000" b="1"/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0542" y="1165086"/>
            <a:ext cx="11450917" cy="5065379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9" y="6356351"/>
            <a:ext cx="1733177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uk-UA" dirty="0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211295" y="6356351"/>
            <a:ext cx="7769411" cy="365125"/>
          </a:xfrm>
          <a:prstGeom prst="rect">
            <a:avLst/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Lattice-based QCD equation of state at finite baryon density</a:t>
            </a:r>
            <a:endParaRPr lang="uk-UA" dirty="0"/>
          </a:p>
        </p:txBody>
      </p:sp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id="{E330716B-4A30-42ED-9EE2-313B727AF872}"/>
              </a:ext>
            </a:extLst>
          </p:cNvPr>
          <p:cNvCxnSpPr>
            <a:cxnSpLocks/>
          </p:cNvCxnSpPr>
          <p:nvPr userDrawn="1"/>
        </p:nvCxnSpPr>
        <p:spPr>
          <a:xfrm>
            <a:off x="525930" y="941290"/>
            <a:ext cx="11295529" cy="0"/>
          </a:xfrm>
          <a:prstGeom prst="line">
            <a:avLst/>
          </a:prstGeom>
          <a:ln w="38100" cap="rnd">
            <a:solidFill>
              <a:schemeClr val="accent1">
                <a:lumMod val="75000"/>
              </a:schemeClr>
            </a:solidFill>
            <a:miter lim="800000"/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AE6D348-82C6-4292-BBB3-9B6596DDBA2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0679331" y="6467291"/>
            <a:ext cx="1142128" cy="340472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dirty="0"/>
              <a:t>1/16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2903973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8B6DC0-C439-4E9C-83A1-0864A66907B2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2678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CBFA41-6503-4670-A030-C4026C269157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139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C605502-1E5D-40B4-9172-D712644FEDD1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0415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863152-FD27-4939-832D-B860C6DB12A5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+mn-lt"/>
              </a:rPr>
              <a:t>/16</a:t>
            </a:r>
            <a:endParaRPr lang="uk-UA" sz="1800" dirty="0">
              <a:solidFill>
                <a:schemeClr val="bg1">
                  <a:lumMod val="50000"/>
                </a:schemeClr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25027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01285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C18BA5-E72A-4B8B-9830-A8FD3E323A65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961168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66E4F29-ED37-4848-985D-7E7F13267723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6744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B9EB41E-26C4-40E9-BDFE-31AA4607F9C9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19806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8588" y="6356351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uk-UA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70730" y="6356352"/>
            <a:ext cx="5414681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Lattice-based QCD equation of state at finite baryon density</a:t>
            </a:r>
            <a:endParaRPr lang="uk-U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0C373-8171-4426-B0B4-D377060F6819}"/>
              </a:ext>
            </a:extLst>
          </p:cNvPr>
          <p:cNvSpPr txBox="1"/>
          <p:nvPr userDrawn="1"/>
        </p:nvSpPr>
        <p:spPr>
          <a:xfrm>
            <a:off x="10399058" y="6374886"/>
            <a:ext cx="14104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fld id="{F756D04E-A8B2-4ECC-B16F-BDE426F97B99}" type="slidenum">
              <a:rPr lang="uk-UA" sz="1800" smtClean="0">
                <a:solidFill>
                  <a:schemeClr val="bg1">
                    <a:lumMod val="50000"/>
                  </a:schemeClr>
                </a:solidFill>
              </a:rPr>
              <a:pPr algn="r"/>
              <a:t>‹#›</a:t>
            </a:fld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Gill Sans MT" panose="020B0502020104020203" pitchFamily="34" charset="0"/>
              </a:rPr>
              <a:t>/15</a:t>
            </a:r>
            <a:endParaRPr lang="uk-UA" sz="1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2574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8589" y="365127"/>
            <a:ext cx="11486777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8589" y="1825625"/>
            <a:ext cx="1148677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Text sample</a:t>
            </a:r>
            <a:endParaRPr lang="ru-RU" dirty="0"/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58589" y="6356351"/>
            <a:ext cx="17690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uk-UA" dirty="0"/>
              <a:t>16.05.2018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45975" y="6356350"/>
            <a:ext cx="785308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Lattice-based QCD equation of state at finite baryon density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3156810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nspirehep.net/literature/1751960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vovch/Thermal-FIS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hyperlink" Target="http://arxiv.org/abs/arXiv:1901.05249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t.io/" TargetMode="Externa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fias.uni-frankfurt.de/~vovchenko/project/thermal-fist/doc/" TargetMode="External"/><Relationship Id="rId5" Type="http://schemas.openxmlformats.org/officeDocument/2006/relationships/hyperlink" Target="https://github.com/vlvovch/Thermal-FIST/blob/master/docs/quickstart.md" TargetMode="External"/><Relationship Id="rId4" Type="http://schemas.openxmlformats.org/officeDocument/2006/relationships/hyperlink" Target="http://arxiv.org/abs/arXiv:1901.05249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www.qt.io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qt.io/download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make.org/cmake/help/latest/manual/cmake-gui.1.html" TargetMode="External"/><Relationship Id="rId2" Type="http://schemas.openxmlformats.org/officeDocument/2006/relationships/hyperlink" Target="https://github.com/vlvovch/Thermal-FIST/tree/nusteam/src/nustea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qt.io/download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arXiv:1901.05249" TargetMode="External"/><Relationship Id="rId2" Type="http://schemas.openxmlformats.org/officeDocument/2006/relationships/hyperlink" Target="https://github.com/vlvovch/Thermal-FIST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lvovch/Thermal-FIST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arxiv.org/abs/arXiv:1901.05249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arxiv.org/abs/arXiv:1901.05249" TargetMode="External"/><Relationship Id="rId2" Type="http://schemas.openxmlformats.org/officeDocument/2006/relationships/hyperlink" Target="https://github.com/vlvovch/Thermal-FIST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svg"/><Relationship Id="rId3" Type="http://schemas.openxmlformats.org/officeDocument/2006/relationships/hyperlink" Target="https://github.com/QuantStack/xeus-cling" TargetMode="External"/><Relationship Id="rId7" Type="http://schemas.openxmlformats.org/officeDocument/2006/relationships/image" Target="../media/image24.png"/><Relationship Id="rId2" Type="http://schemas.openxmlformats.org/officeDocument/2006/relationships/hyperlink" Target="https://www.qt.io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hyperlink" Target="https://github.com/vlvovch/FIST-jupyter" TargetMode="External"/><Relationship Id="rId4" Type="http://schemas.openxmlformats.org/officeDocument/2006/relationships/hyperlink" Target="https://github.com/root-project/cling" TargetMode="External"/><Relationship Id="rId9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0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7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hyperlink" Target="https://github.com/thermus-project/THERMUS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916B3BB-760D-4483-898C-0AAFC2D2C5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86045" y="696557"/>
            <a:ext cx="8419909" cy="1403733"/>
          </a:xfrm>
        </p:spPr>
        <p:txBody>
          <a:bodyPr>
            <a:normAutofit/>
          </a:bodyPr>
          <a:lstStyle/>
          <a:p>
            <a:r>
              <a:rPr lang="en-US" sz="3200" dirty="0"/>
              <a:t>HRG thermodynamics with Thermal-FIST</a:t>
            </a:r>
            <a:endParaRPr lang="uk-UA" sz="3200" dirty="0">
              <a:latin typeface="+mn-lt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F5CCB10-5F85-4A67-A582-0AB3D4C70A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8780" y="2504056"/>
            <a:ext cx="7772399" cy="555922"/>
          </a:xfrm>
        </p:spPr>
        <p:txBody>
          <a:bodyPr/>
          <a:lstStyle/>
          <a:p>
            <a:r>
              <a:rPr lang="en-US" dirty="0">
                <a:latin typeface="LM Sans 10" panose="00000500000000000000" pitchFamily="50" charset="0"/>
              </a:rPr>
              <a:t>Volodymyr </a:t>
            </a:r>
            <a:r>
              <a:rPr lang="en-US" dirty="0" err="1">
                <a:latin typeface="LM Sans 10" panose="00000500000000000000" pitchFamily="50" charset="0"/>
              </a:rPr>
              <a:t>Vovchenko</a:t>
            </a:r>
            <a:r>
              <a:rPr lang="en-US" dirty="0">
                <a:latin typeface="LM Sans 10" panose="00000500000000000000" pitchFamily="50" charset="0"/>
              </a:rPr>
              <a:t> (University of Houston)</a:t>
            </a:r>
            <a:endParaRPr lang="uk-UA" dirty="0">
              <a:latin typeface="+mj-lt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665EF24-B924-4E01-A6E6-6BC0EA434E2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5028" y="3229064"/>
            <a:ext cx="8419909" cy="415925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LM Sans 10" panose="00000500000000000000" pitchFamily="50" charset="0"/>
              </a:rPr>
              <a:t>NuSTEAM-2025</a:t>
            </a:r>
            <a:endParaRPr lang="uk-UA" sz="1600" dirty="0">
              <a:latin typeface="+mj-lt"/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D796605-FB44-46DD-8F22-288AE931FB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872004" y="4963355"/>
            <a:ext cx="4447989" cy="415925"/>
          </a:xfrm>
        </p:spPr>
        <p:txBody>
          <a:bodyPr>
            <a:normAutofit/>
          </a:bodyPr>
          <a:lstStyle/>
          <a:p>
            <a:r>
              <a:rPr lang="en-US" dirty="0">
                <a:latin typeface="LM Sans 10" panose="00000500000000000000" pitchFamily="50" charset="0"/>
              </a:rPr>
              <a:t>June 10, 2025</a:t>
            </a:r>
            <a:endParaRPr lang="uk-UA" dirty="0"/>
          </a:p>
        </p:txBody>
      </p:sp>
      <p:sp>
        <p:nvSpPr>
          <p:cNvPr id="14" name="Rectangle 13">
            <a:hlinkClick r:id="rId3"/>
            <a:extLst>
              <a:ext uri="{FF2B5EF4-FFF2-40B4-BE49-F238E27FC236}">
                <a16:creationId xmlns:a16="http://schemas.microsoft.com/office/drawing/2014/main" id="{868C7DEC-5BD5-4D14-AFE9-CF24A724A7B0}"/>
              </a:ext>
            </a:extLst>
          </p:cNvPr>
          <p:cNvSpPr/>
          <p:nvPr/>
        </p:nvSpPr>
        <p:spPr>
          <a:xfrm>
            <a:off x="4153680" y="4926467"/>
            <a:ext cx="2542955" cy="27731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pic>
        <p:nvPicPr>
          <p:cNvPr id="2" name="Picture 2" descr="UH Signature - University of Houston">
            <a:extLst>
              <a:ext uri="{FF2B5EF4-FFF2-40B4-BE49-F238E27FC236}">
                <a16:creationId xmlns:a16="http://schemas.microsoft.com/office/drawing/2014/main" id="{A413C8A7-6A7D-DD74-71C9-31C95B087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4795" y="5554781"/>
            <a:ext cx="1342408" cy="912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6D4680F-92BE-D6BC-F587-42E4417CA173}"/>
              </a:ext>
            </a:extLst>
          </p:cNvPr>
          <p:cNvSpPr txBox="1"/>
          <p:nvPr/>
        </p:nvSpPr>
        <p:spPr>
          <a:xfrm>
            <a:off x="2620527" y="3897952"/>
            <a:ext cx="69509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example on using open-source C++ code for scientific calculations</a:t>
            </a:r>
          </a:p>
        </p:txBody>
      </p:sp>
    </p:spTree>
    <p:extLst>
      <p:ext uri="{BB962C8B-B14F-4D97-AF65-F5344CB8AC3E}">
        <p14:creationId xmlns:p14="http://schemas.microsoft.com/office/powerpoint/2010/main" val="19422271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5D24FA-7E95-1ACF-7E62-F079B6F776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6267" y="2931009"/>
            <a:ext cx="4120970" cy="352372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Hadron resonance gas (HRG)</a:t>
            </a:r>
            <a:endParaRPr lang="uk-U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A49DD7-B59D-486D-AE99-066C7214F34A}"/>
              </a:ext>
            </a:extLst>
          </p:cNvPr>
          <p:cNvSpPr/>
          <p:nvPr/>
        </p:nvSpPr>
        <p:spPr>
          <a:xfrm>
            <a:off x="687418" y="1112238"/>
            <a:ext cx="94033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HRG:</a:t>
            </a:r>
            <a:r>
              <a:rPr lang="en-US" sz="2000" dirty="0"/>
              <a:t> Equation of state of hadronic matter as a multi-component (non-)interacting gas of known hadrons, resonances, and light nuclei (~400 components)</a:t>
            </a:r>
            <a:endParaRPr lang="uk-UA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D45E52-AE98-478B-A2FF-6144EA9A7560}"/>
                  </a:ext>
                </a:extLst>
              </p:cNvPr>
              <p:cNvSpPr/>
              <p:nvPr/>
            </p:nvSpPr>
            <p:spPr>
              <a:xfrm>
                <a:off x="687419" y="2599025"/>
                <a:ext cx="6282341" cy="42178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2000" b="1" dirty="0">
                    <a:solidFill>
                      <a:schemeClr val="accent1">
                        <a:lumMod val="50000"/>
                      </a:schemeClr>
                    </a:solidFill>
                  </a:rPr>
                  <a:t>Grand-canonical ensemble: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𝑞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𝑄</m:t>
                        </m:r>
                      </m:sub>
                    </m:sSub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endParaRPr lang="uk-UA" sz="2000" dirty="0"/>
              </a:p>
            </p:txBody>
          </p:sp>
        </mc:Choice>
        <mc:Fallback xmlns=""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8D45E52-AE98-478B-A2FF-6144EA9A756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419" y="2599025"/>
                <a:ext cx="6282341" cy="421782"/>
              </a:xfrm>
              <a:prstGeom prst="rect">
                <a:avLst/>
              </a:prstGeom>
              <a:blipFill>
                <a:blip r:embed="rId3"/>
                <a:stretch>
                  <a:fillRect l="-1212" t="-5714" b="-1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78C76349-6EBF-42F1-92FB-E02B9A325A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84194" y="3159604"/>
            <a:ext cx="3338207" cy="298584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E8D438A-945A-44F7-87C2-DE90F7CF3417}"/>
              </a:ext>
            </a:extLst>
          </p:cNvPr>
          <p:cNvSpPr/>
          <p:nvPr/>
        </p:nvSpPr>
        <p:spPr>
          <a:xfrm>
            <a:off x="6969760" y="2658489"/>
            <a:ext cx="241931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>
                <a:solidFill>
                  <a:schemeClr val="accent2">
                    <a:lumMod val="75000"/>
                  </a:schemeClr>
                </a:solidFill>
              </a:rPr>
              <a:t>chemical equilibrium</a:t>
            </a:r>
            <a:endParaRPr lang="uk-UA" i="1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F0A2A28-0A7F-4A5D-9B51-7EC21D637333}"/>
              </a:ext>
            </a:extLst>
          </p:cNvPr>
          <p:cNvSpPr/>
          <p:nvPr/>
        </p:nvSpPr>
        <p:spPr>
          <a:xfrm>
            <a:off x="1082445" y="6145444"/>
            <a:ext cx="143340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2">
                    <a:lumMod val="50000"/>
                  </a:schemeClr>
                </a:solidFill>
              </a:rPr>
              <a:t>© J. </a:t>
            </a:r>
            <a:r>
              <a:rPr lang="en-US" sz="1600" dirty="0" err="1">
                <a:solidFill>
                  <a:schemeClr val="bg2">
                    <a:lumMod val="50000"/>
                  </a:schemeClr>
                </a:solidFill>
              </a:rPr>
              <a:t>Cleymans</a:t>
            </a:r>
            <a:endParaRPr lang="uk-UA" sz="1600" dirty="0">
              <a:solidFill>
                <a:schemeClr val="bg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CE4B04-BFEF-42B6-BD34-E76943EDB55C}"/>
                  </a:ext>
                </a:extLst>
              </p:cNvPr>
              <p:cNvSpPr txBox="1"/>
              <p:nvPr/>
            </p:nvSpPr>
            <p:spPr>
              <a:xfrm>
                <a:off x="1637171" y="1839821"/>
                <a:ext cx="8917657" cy="6450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400">
                        <a:latin typeface="Cambria Math" panose="02040503050406030204" pitchFamily="18" charset="0"/>
                      </a:rPr>
                      <m:t>ln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𝑍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 ≈ 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sSubSup>
                              <m:sSub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𝑍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𝑖𝑑</m:t>
                                </m:r>
                              </m:sup>
                            </m:sSubSup>
                          </m:e>
                        </m:func>
                      </m:e>
                    </m:nary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sz="240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∈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𝑀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sub>
                      <m:sup/>
                      <m:e>
                        <m:f>
                          <m:fPr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e>
                              <m:sub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𝑉</m:t>
                            </m:r>
                          </m:num>
                          <m:den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  <m:sSup>
                              <m:sSupPr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  <m:sup>
                                <m:r>
                                  <a:rPr lang="en-US" sz="24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nary>
                    <m:nary>
                      <m:naryPr>
                        <m:ctrl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±</m:t>
                        </m:r>
                        <m:sSup>
                          <m:sSup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𝑝</m:t>
                            </m:r>
                          </m:e>
                          <m:sup>
                            <m: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𝑑𝑝</m:t>
                        </m:r>
                        <m:func>
                          <m:funcPr>
                            <m:ctrlPr>
                              <a:rPr lang="en-US" sz="24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4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ln</m:t>
                            </m:r>
                          </m:fName>
                          <m:e>
                            <m:d>
                              <m:dPr>
                                <m:begChr m:val="["/>
                                <m:endChr m:val="]"/>
                                <m:ctrlP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sz="2400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1±</m:t>
                                </m:r>
                                <m:func>
                                  <m:funcPr>
                                    <m:ctrlPr>
                                      <a:rPr lang="en-US" sz="2400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funcPr>
                                  <m:fName>
                                    <m:r>
                                      <m:rPr>
                                        <m:sty m:val="p"/>
                                      </m:rPr>
                                      <a:rPr lang="en-US" sz="240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exp</m:t>
                                    </m:r>
                                  </m:fName>
                                  <m:e>
                                    <m:d>
                                      <m:dPr>
                                        <m:ctrlPr>
                                          <a:rPr lang="en-US" sz="2400" i="1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f>
                                          <m:fPr>
                                            <m:ctrlP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</m:ctrlPr>
                                          </m:fPr>
                                          <m:num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𝜇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𝐸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US" sz="2400" i="1">
                                                    <a:latin typeface="Cambria Math" panose="02040503050406030204" pitchFamily="18" charset="0"/>
                                                    <a:ea typeface="Cambria Math" panose="02040503050406030204" pitchFamily="18" charset="0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num>
                                          <m:den>
                                            <m:r>
                                              <a:rPr lang="en-US" sz="2400" i="1">
                                                <a:latin typeface="Cambria Math" panose="02040503050406030204" pitchFamily="18" charset="0"/>
                                                <a:ea typeface="Cambria Math" panose="02040503050406030204" pitchFamily="18" charset="0"/>
                                              </a:rPr>
                                              <m:t>𝑇</m:t>
                                            </m:r>
                                          </m:den>
                                        </m:f>
                                      </m:e>
                                    </m:d>
                                  </m:e>
                                </m:func>
                              </m:e>
                            </m:d>
                          </m:e>
                        </m:func>
                      </m:e>
                    </m:nary>
                  </m:oMath>
                </a14:m>
                <a:r>
                  <a:rPr lang="en-US" sz="2400" dirty="0"/>
                  <a:t> </a:t>
                </a: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0CE4B04-BFEF-42B6-BD34-E76943EDB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7171" y="1839821"/>
                <a:ext cx="8917657" cy="645048"/>
              </a:xfrm>
              <a:prstGeom prst="rect">
                <a:avLst/>
              </a:prstGeom>
              <a:blipFill>
                <a:blip r:embed="rId5"/>
                <a:stretch>
                  <a:fillRect t="-98077" b="-15384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Oval 6">
            <a:extLst>
              <a:ext uri="{FF2B5EF4-FFF2-40B4-BE49-F238E27FC236}">
                <a16:creationId xmlns:a16="http://schemas.microsoft.com/office/drawing/2014/main" id="{77BC12F2-1E43-C43D-27B5-35F60E5463DB}"/>
              </a:ext>
            </a:extLst>
          </p:cNvPr>
          <p:cNvSpPr/>
          <p:nvPr/>
        </p:nvSpPr>
        <p:spPr>
          <a:xfrm>
            <a:off x="6360160" y="4497823"/>
            <a:ext cx="2143760" cy="143561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D5E2A461-BD95-82B6-4138-E9953CDEEA2A}"/>
              </a:ext>
            </a:extLst>
          </p:cNvPr>
          <p:cNvCxnSpPr>
            <a:cxnSpLocks/>
            <a:endCxn id="10" idx="3"/>
          </p:cNvCxnSpPr>
          <p:nvPr/>
        </p:nvCxnSpPr>
        <p:spPr>
          <a:xfrm flipH="1" flipV="1">
            <a:off x="4822401" y="4652524"/>
            <a:ext cx="2147359" cy="37361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88F210F0-8E63-4E75-64DE-32C4235E3BCD}"/>
              </a:ext>
            </a:extLst>
          </p:cNvPr>
          <p:cNvSpPr txBox="1"/>
          <p:nvPr/>
        </p:nvSpPr>
        <p:spPr>
          <a:xfrm>
            <a:off x="7691667" y="6300848"/>
            <a:ext cx="197842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Figure from 2303.17021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9A02847-93C5-4EDD-9519-465AA5F130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1830003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E6A03-783E-3FFB-6C9E-F52802AD2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ACFD1-E648-6697-6785-26403489E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Hadron resonance gas (HRG)</a:t>
            </a:r>
            <a:endParaRPr lang="uk-UA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9A5AD2-8E29-F1A7-6D4F-A5D9D44B10AB}"/>
              </a:ext>
            </a:extLst>
          </p:cNvPr>
          <p:cNvSpPr/>
          <p:nvPr/>
        </p:nvSpPr>
        <p:spPr>
          <a:xfrm>
            <a:off x="687418" y="1112238"/>
            <a:ext cx="940334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HRG </a:t>
            </a:r>
            <a:r>
              <a:rPr lang="en-US" sz="2000" dirty="0"/>
              <a:t>describes the hadronic part of the QCD </a:t>
            </a:r>
            <a:r>
              <a:rPr lang="en-US" sz="2000" dirty="0" err="1"/>
              <a:t>EoS</a:t>
            </a:r>
            <a:r>
              <a:rPr lang="en-US" sz="2000" dirty="0"/>
              <a:t> (low temperature) and the hadron abundances measured in heavy-ion collisions</a:t>
            </a:r>
            <a:endParaRPr lang="uk-UA" sz="200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709D94E-FFE7-6C42-5985-5728FFF1D17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E63C10-D924-B879-BA42-FF169F9B5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876" y="2069862"/>
            <a:ext cx="4905216" cy="36759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0642941-122F-0F02-D87E-F93BC7AC63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5665" y="2019332"/>
            <a:ext cx="5945794" cy="37264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1F1C7FD-A1DE-6CCD-E4F2-A86DD868A063}"/>
              </a:ext>
            </a:extLst>
          </p:cNvPr>
          <p:cNvSpPr txBox="1"/>
          <p:nvPr/>
        </p:nvSpPr>
        <p:spPr>
          <a:xfrm>
            <a:off x="8023173" y="5829553"/>
            <a:ext cx="39100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808FF"/>
                </a:solidFill>
              </a:rPr>
              <a:t>ALICE Collaboration, EPJC 84, 813 (2024)</a:t>
            </a:r>
            <a:endParaRPr lang="uk-UA" sz="1600" dirty="0">
              <a:solidFill>
                <a:srgbClr val="0808FF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39F81F4-450E-99CD-90C3-C4863B894570}"/>
              </a:ext>
            </a:extLst>
          </p:cNvPr>
          <p:cNvSpPr txBox="1"/>
          <p:nvPr/>
        </p:nvSpPr>
        <p:spPr>
          <a:xfrm>
            <a:off x="2049536" y="5826223"/>
            <a:ext cx="3339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808FF"/>
                </a:solidFill>
              </a:rPr>
              <a:t>Figure from </a:t>
            </a:r>
            <a:r>
              <a:rPr lang="en-US" sz="1600" dirty="0" err="1">
                <a:solidFill>
                  <a:srgbClr val="0808FF"/>
                </a:solidFill>
              </a:rPr>
              <a:t>HotQCD</a:t>
            </a:r>
            <a:r>
              <a:rPr lang="en-US" sz="1600" dirty="0">
                <a:solidFill>
                  <a:srgbClr val="0808FF"/>
                </a:solidFill>
              </a:rPr>
              <a:t> coll., PRD ‘14</a:t>
            </a:r>
          </a:p>
        </p:txBody>
      </p:sp>
    </p:spTree>
    <p:extLst>
      <p:ext uri="{BB962C8B-B14F-4D97-AF65-F5344CB8AC3E}">
        <p14:creationId xmlns:p14="http://schemas.microsoft.com/office/powerpoint/2010/main" val="207404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Thermal-FIST?</a:t>
            </a:r>
            <a:endParaRPr lang="uk-UA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97490C-5431-4627-9F89-A51CCBA365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0" y="1017319"/>
            <a:ext cx="720000" cy="720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361C4ED-6315-4EA5-A3E5-77A860943FCF}"/>
              </a:ext>
            </a:extLst>
          </p:cNvPr>
          <p:cNvSpPr txBox="1"/>
          <p:nvPr/>
        </p:nvSpPr>
        <p:spPr>
          <a:xfrm>
            <a:off x="530053" y="1215558"/>
            <a:ext cx="532709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Thermal-FIST* </a:t>
            </a:r>
            <a:r>
              <a:rPr lang="en-US" sz="2400" dirty="0"/>
              <a:t>(current version: v1.5)</a:t>
            </a:r>
            <a:endParaRPr lang="uk-UA" sz="2400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877C2B-7EDC-41B8-9FA6-7022D45AFEF8}"/>
              </a:ext>
            </a:extLst>
          </p:cNvPr>
          <p:cNvSpPr txBox="1"/>
          <p:nvPr/>
        </p:nvSpPr>
        <p:spPr>
          <a:xfrm>
            <a:off x="5872517" y="1294262"/>
            <a:ext cx="2494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808FF"/>
                </a:solidFill>
              </a:rPr>
              <a:t>[</a:t>
            </a:r>
            <a:r>
              <a:rPr lang="en-US" sz="1600" dirty="0" err="1">
                <a:solidFill>
                  <a:srgbClr val="0808FF"/>
                </a:solidFill>
              </a:rPr>
              <a:t>V.Vovchenko</a:t>
            </a:r>
            <a:r>
              <a:rPr lang="en-US" sz="1600" dirty="0">
                <a:solidFill>
                  <a:srgbClr val="0808FF"/>
                </a:solidFill>
              </a:rPr>
              <a:t>, </a:t>
            </a:r>
            <a:r>
              <a:rPr lang="en-US" sz="1600" dirty="0" err="1">
                <a:solidFill>
                  <a:srgbClr val="0808FF"/>
                </a:solidFill>
              </a:rPr>
              <a:t>H.Stoecker</a:t>
            </a:r>
            <a:r>
              <a:rPr lang="en-US" sz="1600" dirty="0">
                <a:solidFill>
                  <a:srgbClr val="0808FF"/>
                </a:solidFill>
              </a:rPr>
              <a:t>]</a:t>
            </a:r>
            <a:endParaRPr lang="uk-UA" sz="1600" dirty="0">
              <a:solidFill>
                <a:srgbClr val="0808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1C822-8608-47C9-8D26-1C1FBB1A96D4}"/>
              </a:ext>
            </a:extLst>
          </p:cNvPr>
          <p:cNvSpPr txBox="1"/>
          <p:nvPr/>
        </p:nvSpPr>
        <p:spPr>
          <a:xfrm>
            <a:off x="530052" y="2729187"/>
            <a:ext cx="61911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GitHub: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https://github.com/vlvovch/Thermal-FIST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sz="2000" b="1" dirty="0">
                <a:solidFill>
                  <a:srgbClr val="00B050"/>
                </a:solidFill>
              </a:rPr>
              <a:t>physics manual: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Comput</a:t>
            </a:r>
            <a:r>
              <a:rPr lang="en-US" dirty="0">
                <a:solidFill>
                  <a:srgbClr val="0070C0"/>
                </a:solidFill>
              </a:rPr>
              <a:t>. Phys. </a:t>
            </a:r>
            <a:r>
              <a:rPr lang="en-US" dirty="0" err="1">
                <a:solidFill>
                  <a:srgbClr val="0070C0"/>
                </a:solidFill>
              </a:rPr>
              <a:t>Commun</a:t>
            </a:r>
            <a:r>
              <a:rPr lang="en-US" dirty="0">
                <a:solidFill>
                  <a:srgbClr val="0070C0"/>
                </a:solidFill>
              </a:rPr>
              <a:t>. 244, 295 (2019)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37" name="Rectangle 36">
            <a:hlinkClick r:id="rId3"/>
            <a:extLst>
              <a:ext uri="{FF2B5EF4-FFF2-40B4-BE49-F238E27FC236}">
                <a16:creationId xmlns:a16="http://schemas.microsoft.com/office/drawing/2014/main" id="{D37660BA-D7EC-4577-95B3-81AF6378ADDA}"/>
              </a:ext>
            </a:extLst>
          </p:cNvPr>
          <p:cNvSpPr/>
          <p:nvPr/>
        </p:nvSpPr>
        <p:spPr>
          <a:xfrm>
            <a:off x="2118401" y="2294873"/>
            <a:ext cx="4197096" cy="311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AABFB5AE-D4D8-4118-9575-DD0F5229BE72}"/>
              </a:ext>
            </a:extLst>
          </p:cNvPr>
          <p:cNvSpPr/>
          <p:nvPr/>
        </p:nvSpPr>
        <p:spPr>
          <a:xfrm>
            <a:off x="2514307" y="2957928"/>
            <a:ext cx="4069341" cy="327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noFill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9D19D4-B1B5-40D7-B9CE-116EF014242B}"/>
              </a:ext>
            </a:extLst>
          </p:cNvPr>
          <p:cNvSpPr txBox="1"/>
          <p:nvPr/>
        </p:nvSpPr>
        <p:spPr>
          <a:xfrm>
            <a:off x="370541" y="6467291"/>
            <a:ext cx="5835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</a:t>
            </a:r>
            <a:r>
              <a:rPr lang="en-US" sz="1400" b="1" i="1" dirty="0"/>
              <a:t>T</a:t>
            </a:r>
            <a:r>
              <a:rPr lang="en-US" sz="1400" i="1" dirty="0"/>
              <a:t>hermal, </a:t>
            </a:r>
            <a:r>
              <a:rPr lang="en-US" sz="1400" b="1" i="1" dirty="0"/>
              <a:t>F</a:t>
            </a:r>
            <a:r>
              <a:rPr lang="en-US" sz="1400" i="1" dirty="0"/>
              <a:t>ast and </a:t>
            </a:r>
            <a:r>
              <a:rPr lang="en-US" sz="1400" b="1" i="1" dirty="0"/>
              <a:t>I</a:t>
            </a:r>
            <a:r>
              <a:rPr lang="en-US" sz="1400" i="1" dirty="0"/>
              <a:t>nteractive </a:t>
            </a:r>
            <a:r>
              <a:rPr lang="en-US" sz="1400" b="1" i="1" dirty="0"/>
              <a:t>S</a:t>
            </a:r>
            <a:r>
              <a:rPr lang="en-US" sz="1400" i="1" dirty="0"/>
              <a:t>tatistical </a:t>
            </a:r>
            <a:r>
              <a:rPr lang="en-US" sz="1400" b="1" i="1" dirty="0"/>
              <a:t>T</a:t>
            </a:r>
            <a:r>
              <a:rPr lang="en-US" sz="1400" i="1" dirty="0"/>
              <a:t>oolkit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59DBA-7441-8C9B-BA7C-BF376F76A580}"/>
              </a:ext>
            </a:extLst>
          </p:cNvPr>
          <p:cNvSpPr txBox="1"/>
          <p:nvPr/>
        </p:nvSpPr>
        <p:spPr>
          <a:xfrm>
            <a:off x="558874" y="1737319"/>
            <a:ext cx="7556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Open-source C++ package for general-purpose HRG model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61963-B0B9-0BB3-993F-808B5944D3C2}"/>
              </a:ext>
            </a:extLst>
          </p:cNvPr>
          <p:cNvSpPr txBox="1"/>
          <p:nvPr/>
        </p:nvSpPr>
        <p:spPr>
          <a:xfrm>
            <a:off x="558873" y="3605150"/>
            <a:ext cx="8179991" cy="23500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2014-2018: </a:t>
            </a:r>
            <a:r>
              <a:rPr lang="en-US" sz="2000" dirty="0"/>
              <a:t>Initial development and applications (closed source)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June 2018: </a:t>
            </a:r>
            <a:r>
              <a:rPr lang="en-US" sz="2000" dirty="0"/>
              <a:t>First public release (v0.6)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Jan 2019: </a:t>
            </a:r>
            <a:r>
              <a:rPr lang="en-US" sz="2000" dirty="0"/>
              <a:t>Code documentation and CPC article release (v1.0)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2019-2022: </a:t>
            </a:r>
            <a:r>
              <a:rPr lang="en-US" sz="2000" dirty="0"/>
              <a:t>Incremental upgrades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/>
              <a:t>2025-…: </a:t>
            </a:r>
            <a:r>
              <a:rPr lang="en-US" sz="2000" dirty="0"/>
              <a:t>Version 1.5 with new features (dense matter </a:t>
            </a:r>
            <a:r>
              <a:rPr lang="en-US" sz="2000" dirty="0" err="1"/>
              <a:t>EoS</a:t>
            </a:r>
            <a:r>
              <a:rPr lang="en-US" sz="2000" dirty="0"/>
              <a:t>, cosmology)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79F01-3F0E-CFAF-AEF8-89E068036B20}"/>
              </a:ext>
            </a:extLst>
          </p:cNvPr>
          <p:cNvSpPr txBox="1"/>
          <p:nvPr/>
        </p:nvSpPr>
        <p:spPr>
          <a:xfrm>
            <a:off x="530052" y="2420519"/>
            <a:ext cx="2100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License: </a:t>
            </a:r>
            <a:r>
              <a:rPr lang="en-US" sz="2000" dirty="0"/>
              <a:t>GPL-3.0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1DBB7-0BE3-A170-10B4-05CE86BD7455}"/>
              </a:ext>
            </a:extLst>
          </p:cNvPr>
          <p:cNvSpPr txBox="1"/>
          <p:nvPr/>
        </p:nvSpPr>
        <p:spPr>
          <a:xfrm>
            <a:off x="530052" y="2079337"/>
            <a:ext cx="6191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Cross-platform </a:t>
            </a:r>
            <a:r>
              <a:rPr lang="en-US" sz="2000" dirty="0"/>
              <a:t>(Linux, Mac, Windows) through </a:t>
            </a:r>
            <a:r>
              <a:rPr lang="en-US" sz="2000" b="1" dirty="0" err="1"/>
              <a:t>cmake</a:t>
            </a:r>
            <a:endParaRPr lang="uk-UA" sz="2000" b="1" dirty="0">
              <a:solidFill>
                <a:srgbClr val="0070C0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18984A7-A427-BFFB-B3C3-3DB78B50B1A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303F0A-434F-AF10-C921-7935341FCE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38863" y="3521885"/>
            <a:ext cx="3217793" cy="23851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A8C487-539C-379E-A1FD-2D07324C7D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0576" y="1118840"/>
            <a:ext cx="3259705" cy="2166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6619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Box 17">
            <a:extLst>
              <a:ext uri="{FF2B5EF4-FFF2-40B4-BE49-F238E27FC236}">
                <a16:creationId xmlns:a16="http://schemas.microsoft.com/office/drawing/2014/main" id="{51D1B322-760E-42DD-B511-6D79A292CABE}"/>
              </a:ext>
            </a:extLst>
          </p:cNvPr>
          <p:cNvSpPr txBox="1"/>
          <p:nvPr/>
        </p:nvSpPr>
        <p:spPr>
          <a:xfrm>
            <a:off x="8056513" y="6154459"/>
            <a:ext cx="1949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Physics manual</a:t>
            </a:r>
            <a:endParaRPr lang="uk-UA" sz="2000" b="1" dirty="0">
              <a:solidFill>
                <a:schemeClr val="accent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4BFEEF-E783-4DC4-A8EE-2AFF45C9CAA5}"/>
              </a:ext>
            </a:extLst>
          </p:cNvPr>
          <p:cNvSpPr txBox="1"/>
          <p:nvPr/>
        </p:nvSpPr>
        <p:spPr>
          <a:xfrm>
            <a:off x="1928930" y="6154458"/>
            <a:ext cx="21390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Quick start guide</a:t>
            </a:r>
            <a:endParaRPr lang="uk-UA" sz="2000" b="1" dirty="0">
              <a:solidFill>
                <a:schemeClr val="accen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Thermal-FIST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09864-3105-4AE7-8B05-61EFAB3761AA}"/>
              </a:ext>
            </a:extLst>
          </p:cNvPr>
          <p:cNvSpPr txBox="1"/>
          <p:nvPr/>
        </p:nvSpPr>
        <p:spPr>
          <a:xfrm>
            <a:off x="1161826" y="1157471"/>
            <a:ext cx="85881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Installation using </a:t>
            </a:r>
            <a:r>
              <a:rPr lang="en-US" sz="2000" b="1" dirty="0"/>
              <a:t>git</a:t>
            </a:r>
            <a:r>
              <a:rPr lang="en-US" sz="2000" dirty="0"/>
              <a:t> and </a:t>
            </a:r>
            <a:r>
              <a:rPr lang="en-US" sz="2000" b="1" dirty="0" err="1"/>
              <a:t>cmake</a:t>
            </a:r>
            <a:endParaRPr lang="uk-UA" sz="2000" b="1" dirty="0">
              <a:solidFill>
                <a:srgbClr val="0070C0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A5AA3C-0E06-43A1-8EC0-8B68B03C4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3515" y="1646172"/>
            <a:ext cx="6464969" cy="4340439"/>
          </a:xfrm>
          <a:prstGeom prst="rect">
            <a:avLst/>
          </a:prstGeom>
        </p:spPr>
      </p:pic>
      <p:sp>
        <p:nvSpPr>
          <p:cNvPr id="15" name="Rectangle 14">
            <a:hlinkClick r:id="rId3"/>
            <a:extLst>
              <a:ext uri="{FF2B5EF4-FFF2-40B4-BE49-F238E27FC236}">
                <a16:creationId xmlns:a16="http://schemas.microsoft.com/office/drawing/2014/main" id="{EEBE2743-7221-45EA-AF62-BC2010E249FB}"/>
              </a:ext>
            </a:extLst>
          </p:cNvPr>
          <p:cNvSpPr/>
          <p:nvPr/>
        </p:nvSpPr>
        <p:spPr>
          <a:xfrm>
            <a:off x="3393291" y="5840954"/>
            <a:ext cx="1349467" cy="323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16" name="Rectangle 15">
            <a:hlinkClick r:id="rId4"/>
            <a:extLst>
              <a:ext uri="{FF2B5EF4-FFF2-40B4-BE49-F238E27FC236}">
                <a16:creationId xmlns:a16="http://schemas.microsoft.com/office/drawing/2014/main" id="{CF0ABCC3-8677-4F57-B2B3-F371D050F479}"/>
              </a:ext>
            </a:extLst>
          </p:cNvPr>
          <p:cNvSpPr/>
          <p:nvPr/>
        </p:nvSpPr>
        <p:spPr>
          <a:xfrm>
            <a:off x="8038932" y="6216892"/>
            <a:ext cx="1881784" cy="29732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5BBE59-047A-4617-BB3B-D4E30C1D829F}"/>
              </a:ext>
            </a:extLst>
          </p:cNvPr>
          <p:cNvSpPr txBox="1"/>
          <p:nvPr/>
        </p:nvSpPr>
        <p:spPr>
          <a:xfrm>
            <a:off x="5194637" y="6154458"/>
            <a:ext cx="19492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accent1"/>
                </a:solidFill>
              </a:rPr>
              <a:t>Documentation</a:t>
            </a:r>
            <a:r>
              <a:rPr lang="en-US" sz="2200" i="1" dirty="0">
                <a:solidFill>
                  <a:schemeClr val="accent1"/>
                </a:solidFill>
              </a:rPr>
              <a:t> </a:t>
            </a:r>
            <a:endParaRPr lang="uk-UA" sz="2200" b="1" dirty="0">
              <a:solidFill>
                <a:schemeClr val="accent1"/>
              </a:solidFill>
            </a:endParaRPr>
          </a:p>
        </p:txBody>
      </p:sp>
      <p:sp>
        <p:nvSpPr>
          <p:cNvPr id="21" name="Rectangle 20">
            <a:hlinkClick r:id="rId5"/>
            <a:extLst>
              <a:ext uri="{FF2B5EF4-FFF2-40B4-BE49-F238E27FC236}">
                <a16:creationId xmlns:a16="http://schemas.microsoft.com/office/drawing/2014/main" id="{5CB9618E-CA0E-4BB4-9BC0-C9E15A68F21A}"/>
              </a:ext>
            </a:extLst>
          </p:cNvPr>
          <p:cNvSpPr/>
          <p:nvPr/>
        </p:nvSpPr>
        <p:spPr>
          <a:xfrm>
            <a:off x="1992814" y="6217042"/>
            <a:ext cx="1975622" cy="31363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noFill/>
            </a:endParaRPr>
          </a:p>
        </p:txBody>
      </p:sp>
      <p:sp>
        <p:nvSpPr>
          <p:cNvPr id="19" name="Rectangle 18">
            <a:hlinkClick r:id="rId6"/>
            <a:extLst>
              <a:ext uri="{FF2B5EF4-FFF2-40B4-BE49-F238E27FC236}">
                <a16:creationId xmlns:a16="http://schemas.microsoft.com/office/drawing/2014/main" id="{00ABE8D2-D388-4B73-BCF2-21A3028A1AAD}"/>
              </a:ext>
            </a:extLst>
          </p:cNvPr>
          <p:cNvSpPr/>
          <p:nvPr/>
        </p:nvSpPr>
        <p:spPr>
          <a:xfrm>
            <a:off x="5222151" y="6218831"/>
            <a:ext cx="1881784" cy="31185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noFill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0B7A77-27CB-2050-C61A-C59F65AF66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4140030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Thermal-FIST: Console mode</a:t>
            </a:r>
            <a:endParaRPr lang="uk-UA" dirty="0"/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EEBE2743-7221-45EA-AF62-BC2010E249FB}"/>
              </a:ext>
            </a:extLst>
          </p:cNvPr>
          <p:cNvSpPr/>
          <p:nvPr/>
        </p:nvSpPr>
        <p:spPr>
          <a:xfrm>
            <a:off x="3393291" y="5840954"/>
            <a:ext cx="1349467" cy="323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FF732-EFF9-25AF-74DE-38F58B9328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366" y="1165086"/>
            <a:ext cx="5193849" cy="391265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194D26C-D961-8069-8FC3-1DFEF7B141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609" y="1165086"/>
            <a:ext cx="5193850" cy="383793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03F8643-CE38-D98B-3B56-2BD3485EA811}"/>
              </a:ext>
            </a:extLst>
          </p:cNvPr>
          <p:cNvSpPr txBox="1"/>
          <p:nvPr/>
        </p:nvSpPr>
        <p:spPr>
          <a:xfrm>
            <a:off x="796365" y="5764632"/>
            <a:ext cx="45400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 most flexible way of using the code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676773-49C6-A7EC-5F3D-E2E4CCF72FC3}"/>
              </a:ext>
            </a:extLst>
          </p:cNvPr>
          <p:cNvSpPr txBox="1"/>
          <p:nvPr/>
        </p:nvSpPr>
        <p:spPr>
          <a:xfrm>
            <a:off x="796365" y="5292804"/>
            <a:ext cx="96664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Link to </a:t>
            </a:r>
            <a:r>
              <a:rPr lang="en-US" sz="2000" b="1" dirty="0" err="1"/>
              <a:t>libThermalFIST</a:t>
            </a:r>
            <a:r>
              <a:rPr lang="en-US" sz="2000" dirty="0"/>
              <a:t> and write a C++ macro doing whatever calculation you want 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316A7B2-18D8-B711-270F-AD8339176F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A566DE9-D3F3-63E6-23FE-FD08F697B495}"/>
              </a:ext>
            </a:extLst>
          </p:cNvPr>
          <p:cNvSpPr txBox="1"/>
          <p:nvPr/>
        </p:nvSpPr>
        <p:spPr>
          <a:xfrm>
            <a:off x="7449244" y="5768840"/>
            <a:ext cx="263405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git submodule is useful</a:t>
            </a:r>
          </a:p>
        </p:txBody>
      </p:sp>
    </p:spTree>
    <p:extLst>
      <p:ext uri="{BB962C8B-B14F-4D97-AF65-F5344CB8AC3E}">
        <p14:creationId xmlns:p14="http://schemas.microsoft.com/office/powerpoint/2010/main" val="20190691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Thermal-FIST: GUI</a:t>
            </a:r>
            <a:endParaRPr lang="uk-UA" dirty="0"/>
          </a:p>
        </p:txBody>
      </p:sp>
      <p:pic>
        <p:nvPicPr>
          <p:cNvPr id="3" name="Picture 4" descr="https://raw.githubusercontent.com/vlvovch/Thermal-FIST/master/src/gui/QtThermalFIST/images/QtThermalFIST.png">
            <a:extLst>
              <a:ext uri="{FF2B5EF4-FFF2-40B4-BE49-F238E27FC236}">
                <a16:creationId xmlns:a16="http://schemas.microsoft.com/office/drawing/2014/main" id="{18ECF42C-FEE8-D953-EE7B-34B3795898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7276" y="1639950"/>
            <a:ext cx="7957443" cy="42508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44D3DEF-2921-ED30-66FC-6FF0B4BABAF9}"/>
              </a:ext>
            </a:extLst>
          </p:cNvPr>
          <p:cNvSpPr txBox="1"/>
          <p:nvPr/>
        </p:nvSpPr>
        <p:spPr>
          <a:xfrm>
            <a:off x="1791737" y="1161772"/>
            <a:ext cx="860852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accent4">
                    <a:lumMod val="50000"/>
                  </a:schemeClr>
                </a:solidFill>
              </a:rPr>
              <a:t>Graphical user interface </a:t>
            </a:r>
            <a:r>
              <a:rPr lang="en-US" sz="2000" dirty="0"/>
              <a:t>for </a:t>
            </a:r>
            <a:r>
              <a:rPr lang="en-US" sz="2000" i="1" dirty="0"/>
              <a:t>general-purpose</a:t>
            </a:r>
            <a:r>
              <a:rPr lang="en-US" sz="2000" dirty="0"/>
              <a:t> HRG model applications</a:t>
            </a:r>
            <a:endParaRPr lang="uk-UA" sz="2000" dirty="0">
              <a:solidFill>
                <a:srgbClr val="FF0000"/>
              </a:solidFill>
            </a:endParaRP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CDCACA-58E8-F172-FC31-E856246AE6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E7E342-6695-3812-FFD5-C5F4408D964C}"/>
              </a:ext>
            </a:extLst>
          </p:cNvPr>
          <p:cNvSpPr txBox="1"/>
          <p:nvPr/>
        </p:nvSpPr>
        <p:spPr>
          <a:xfrm>
            <a:off x="712099" y="6282625"/>
            <a:ext cx="76274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Need to install free Qt6 framework from </a:t>
            </a:r>
            <a:r>
              <a:rPr lang="en-US" b="1" dirty="0">
                <a:hlinkClick r:id="rId3"/>
              </a:rPr>
              <a:t>https://</a:t>
            </a:r>
            <a:r>
              <a:rPr lang="en-US" b="1" dirty="0" err="1">
                <a:hlinkClick r:id="rId3"/>
              </a:rPr>
              <a:t>www.qt.io</a:t>
            </a:r>
            <a:r>
              <a:rPr lang="en-US" b="1" dirty="0">
                <a:hlinkClick r:id="rId3"/>
              </a:rPr>
              <a:t>/download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122149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D769315-FB38-4E43-931B-7B25AE190E83}"/>
              </a:ext>
            </a:extLst>
          </p:cNvPr>
          <p:cNvSpPr txBox="1"/>
          <p:nvPr/>
        </p:nvSpPr>
        <p:spPr>
          <a:xfrm>
            <a:off x="2126056" y="2721114"/>
            <a:ext cx="793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latin typeface="Gill Sans MT" panose="020B0502020104020203" pitchFamily="34" charset="0"/>
              </a:rPr>
              <a:t>Example case: HRG thermodynamics</a:t>
            </a:r>
            <a:endParaRPr lang="uk-UA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88408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case: HRG thermodynamics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CDCACA-58E8-F172-FC31-E856246AE6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9C8437-81F4-931D-BB51-6850D781D69E}"/>
              </a:ext>
            </a:extLst>
          </p:cNvPr>
          <p:cNvSpPr txBox="1"/>
          <p:nvPr/>
        </p:nvSpPr>
        <p:spPr>
          <a:xfrm>
            <a:off x="631179" y="1246173"/>
            <a:ext cx="102210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Go to </a:t>
            </a:r>
            <a:r>
              <a:rPr lang="en-US" dirty="0">
                <a:hlinkClick r:id="rId2"/>
              </a:rPr>
              <a:t>https://github.com/vlvovch/Thermal-FIST/tree/nusteam/src/nusteam</a:t>
            </a:r>
            <a:r>
              <a:rPr lang="en-US" dirty="0"/>
              <a:t> and follow the instructions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1182CE-73DF-23CC-FE00-09C88A3A602F}"/>
              </a:ext>
            </a:extLst>
          </p:cNvPr>
          <p:cNvSpPr txBox="1"/>
          <p:nvPr/>
        </p:nvSpPr>
        <p:spPr>
          <a:xfrm>
            <a:off x="721018" y="2061862"/>
            <a:ext cx="1013122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Necessary tools: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git</a:t>
            </a:r>
            <a:r>
              <a:rPr lang="en-US" dirty="0"/>
              <a:t> (source version control)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vscode</a:t>
            </a:r>
            <a:r>
              <a:rPr lang="en-US" dirty="0"/>
              <a:t> (preferred), Xcode, </a:t>
            </a:r>
            <a:r>
              <a:rPr lang="en-US" dirty="0" err="1"/>
              <a:t>Clion</a:t>
            </a:r>
            <a:r>
              <a:rPr lang="en-US" dirty="0"/>
              <a:t>, Cursor/Windsurf, or Visual Studio (Windows)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 err="1"/>
              <a:t>CMake</a:t>
            </a:r>
            <a:r>
              <a:rPr lang="en-US" dirty="0"/>
              <a:t> tool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On Windows use </a:t>
            </a:r>
            <a:r>
              <a:rPr lang="en-US" dirty="0" err="1"/>
              <a:t>cmake-gui</a:t>
            </a:r>
            <a:r>
              <a:rPr lang="en-US" dirty="0"/>
              <a:t> (</a:t>
            </a:r>
            <a:r>
              <a:rPr lang="en-US" dirty="0">
                <a:hlinkClick r:id="rId3"/>
              </a:rPr>
              <a:t>https://cmake.org/cmake/help/latest/manual/cmake-gui.1.html</a:t>
            </a:r>
            <a:r>
              <a:rPr lang="en-US" dirty="0"/>
              <a:t>) to generate a .</a:t>
            </a:r>
            <a:r>
              <a:rPr lang="en-US" dirty="0" err="1"/>
              <a:t>sln</a:t>
            </a:r>
            <a:r>
              <a:rPr lang="en-US" dirty="0"/>
              <a:t> project for use in Visual Studio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Qt6</a:t>
            </a:r>
            <a:r>
              <a:rPr lang="en-US" dirty="0"/>
              <a:t> framework for running graphical user interface </a:t>
            </a:r>
            <a:r>
              <a:rPr lang="en-US" dirty="0">
                <a:hlinkClick r:id="rId4"/>
              </a:rPr>
              <a:t>https://www.qt.io/download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Not required </a:t>
            </a:r>
            <a:r>
              <a:rPr lang="en-US" dirty="0"/>
              <a:t>for the above example but useful to play around with</a:t>
            </a:r>
          </a:p>
        </p:txBody>
      </p:sp>
    </p:spTree>
    <p:extLst>
      <p:ext uri="{BB962C8B-B14F-4D97-AF65-F5344CB8AC3E}">
        <p14:creationId xmlns:p14="http://schemas.microsoft.com/office/powerpoint/2010/main" val="2253596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Compare the results to published ones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0CDCACA-58E8-F172-FC31-E856246AE6C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9CEF2DC-0118-715D-C1C9-28BDD19DF274}"/>
              </a:ext>
            </a:extLst>
          </p:cNvPr>
          <p:cNvSpPr txBox="1"/>
          <p:nvPr/>
        </p:nvSpPr>
        <p:spPr>
          <a:xfrm>
            <a:off x="768743" y="1246173"/>
            <a:ext cx="103011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V. </a:t>
            </a:r>
            <a:r>
              <a:rPr lang="en-US" dirty="0" err="1"/>
              <a:t>Vovchenko</a:t>
            </a:r>
            <a:r>
              <a:rPr lang="en-US" dirty="0"/>
              <a:t>, M.I. </a:t>
            </a:r>
            <a:r>
              <a:rPr lang="en-US" dirty="0" err="1"/>
              <a:t>Gorenstein</a:t>
            </a:r>
            <a:r>
              <a:rPr lang="en-US" dirty="0"/>
              <a:t>, H. </a:t>
            </a:r>
            <a:r>
              <a:rPr lang="en-US" dirty="0" err="1"/>
              <a:t>Stoecker</a:t>
            </a:r>
            <a:r>
              <a:rPr lang="en-US" dirty="0"/>
              <a:t>, </a:t>
            </a:r>
            <a:r>
              <a:rPr lang="en-US" i="1" dirty="0"/>
              <a:t>van der Waals Interactions in Hadron Resonance Gas: From Nuclear Matter to Lattice QCD</a:t>
            </a:r>
            <a:r>
              <a:rPr lang="en-US" dirty="0"/>
              <a:t>, </a:t>
            </a:r>
            <a:r>
              <a:rPr lang="en-US" dirty="0" err="1"/>
              <a:t>Phys.Rev.Lett</a:t>
            </a:r>
            <a:r>
              <a:rPr lang="en-US" dirty="0"/>
              <a:t>. 118 (2017) 182301, arXiv:1609.03975 [hep-</a:t>
            </a:r>
            <a:r>
              <a:rPr lang="en-US" dirty="0" err="1"/>
              <a:t>ph</a:t>
            </a:r>
            <a:r>
              <a:rPr lang="en-US" dirty="0"/>
              <a:t>]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8EC83E-B8B3-2B39-582E-A974E93C8A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658" y="2535863"/>
            <a:ext cx="3492599" cy="24296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4F1D2D-D38C-8B02-C4B6-9457466F66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0835" y="2535863"/>
            <a:ext cx="3492599" cy="236409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A995478-ED87-0508-8B0E-E7B394549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10006" y="2492228"/>
            <a:ext cx="3718747" cy="251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323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ED769315-FB38-4E43-931B-7B25AE190E83}"/>
              </a:ext>
            </a:extLst>
          </p:cNvPr>
          <p:cNvSpPr txBox="1"/>
          <p:nvPr/>
        </p:nvSpPr>
        <p:spPr>
          <a:xfrm>
            <a:off x="2126056" y="2721114"/>
            <a:ext cx="79398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spcAft>
                <a:spcPts val="600"/>
              </a:spcAft>
            </a:pPr>
            <a:r>
              <a:rPr lang="en-US" sz="4000" dirty="0">
                <a:latin typeface="Gill Sans MT" panose="020B0502020104020203" pitchFamily="34" charset="0"/>
              </a:rPr>
              <a:t>Extra slides</a:t>
            </a:r>
            <a:endParaRPr lang="uk-UA" sz="4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050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HRG model applications</a:t>
            </a:r>
            <a:endParaRPr lang="uk-UA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1B890D-39CF-536B-8C93-F6A86000B802}"/>
              </a:ext>
            </a:extLst>
          </p:cNvPr>
          <p:cNvSpPr txBox="1"/>
          <p:nvPr/>
        </p:nvSpPr>
        <p:spPr>
          <a:xfrm>
            <a:off x="802974" y="1227954"/>
            <a:ext cx="6357831" cy="470898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Heavy-ion collisions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 err="1"/>
              <a:t>Hadrochemistry</a:t>
            </a:r>
            <a:r>
              <a:rPr lang="en-US" sz="2000" dirty="0"/>
              <a:t> (chemical freeze-out)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Fluctuations of conserved charges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Lattice QCD context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Understanding the degrees of freedom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Equation of state, susceptibilities, partial pressures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Early universe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Modeling QCD contribution to cosmic </a:t>
            </a:r>
            <a:r>
              <a:rPr lang="en-US" sz="2000" dirty="0" err="1"/>
              <a:t>EoS</a:t>
            </a: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Finite isospin density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Neutron-star matter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Extending to include non-resonant interactions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Hadronic part of the CMF model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15C558A-3871-D714-8A1A-FD1428DDEA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3444" y="1203845"/>
            <a:ext cx="1407414" cy="125127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564F23B-94C3-F9BD-6CB8-6932CC0FDA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260" y="2699409"/>
            <a:ext cx="2383908" cy="1674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95C9D1A-D635-248A-9F42-88507C3F85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4168" y="2767964"/>
            <a:ext cx="2633206" cy="167496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1F2046-8C90-DF3A-32F2-08390BB5667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7472" y="4687218"/>
            <a:ext cx="2466771" cy="1674968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CF7F3B4-315E-59FA-D778-7CF9BFD93EC7}"/>
              </a:ext>
            </a:extLst>
          </p:cNvPr>
          <p:cNvSpPr txBox="1"/>
          <p:nvPr/>
        </p:nvSpPr>
        <p:spPr>
          <a:xfrm>
            <a:off x="8330749" y="6330483"/>
            <a:ext cx="2026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Fujimoto et al., 2109.06799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B5F0DA-919A-58B7-B62C-1830F895F305}"/>
              </a:ext>
            </a:extLst>
          </p:cNvPr>
          <p:cNvSpPr txBox="1"/>
          <p:nvPr/>
        </p:nvSpPr>
        <p:spPr>
          <a:xfrm>
            <a:off x="6970260" y="4358526"/>
            <a:ext cx="1675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VV et al., PRL (2017) 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0C8515-213E-114C-896F-7AF4B36254D7}"/>
              </a:ext>
            </a:extLst>
          </p:cNvPr>
          <p:cNvSpPr txBox="1"/>
          <p:nvPr/>
        </p:nvSpPr>
        <p:spPr>
          <a:xfrm>
            <a:off x="10154962" y="4386209"/>
            <a:ext cx="1675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VV et al., PRL (2021)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E0C4E44-FF26-4A4E-3424-D1FA4F0957EB}"/>
              </a:ext>
            </a:extLst>
          </p:cNvPr>
          <p:cNvSpPr txBox="1"/>
          <p:nvPr/>
        </p:nvSpPr>
        <p:spPr>
          <a:xfrm>
            <a:off x="10276790" y="2531352"/>
            <a:ext cx="1475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ALICE Coll. (2022) 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77A4A1F-6674-5012-3A5F-F252428747B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33497" y="1100689"/>
            <a:ext cx="2148780" cy="1360132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FA311300-0581-70EB-668E-A6D27957305F}"/>
              </a:ext>
            </a:extLst>
          </p:cNvPr>
          <p:cNvSpPr txBox="1"/>
          <p:nvPr/>
        </p:nvSpPr>
        <p:spPr>
          <a:xfrm>
            <a:off x="863600" y="6024880"/>
            <a:ext cx="293862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Natural block for MUSES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AE374BB-B9F5-F788-A2C6-CB671E8A2EC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911949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HRG model aspects in Thermal-FIST</a:t>
            </a:r>
            <a:endParaRPr lang="uk-UA" dirty="0"/>
          </a:p>
        </p:txBody>
      </p:sp>
      <p:sp>
        <p:nvSpPr>
          <p:cNvPr id="37" name="Rectangle 36">
            <a:hlinkClick r:id="rId2"/>
            <a:extLst>
              <a:ext uri="{FF2B5EF4-FFF2-40B4-BE49-F238E27FC236}">
                <a16:creationId xmlns:a16="http://schemas.microsoft.com/office/drawing/2014/main" id="{D37660BA-D7EC-4577-95B3-81AF6378ADDA}"/>
              </a:ext>
            </a:extLst>
          </p:cNvPr>
          <p:cNvSpPr/>
          <p:nvPr/>
        </p:nvSpPr>
        <p:spPr>
          <a:xfrm>
            <a:off x="2678890" y="2314398"/>
            <a:ext cx="4197096" cy="311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39" name="Rectangle 38">
            <a:hlinkClick r:id="rId3"/>
            <a:extLst>
              <a:ext uri="{FF2B5EF4-FFF2-40B4-BE49-F238E27FC236}">
                <a16:creationId xmlns:a16="http://schemas.microsoft.com/office/drawing/2014/main" id="{AABFB5AE-D4D8-4118-9575-DD0F5229BE72}"/>
              </a:ext>
            </a:extLst>
          </p:cNvPr>
          <p:cNvSpPr/>
          <p:nvPr/>
        </p:nvSpPr>
        <p:spPr>
          <a:xfrm>
            <a:off x="3074796" y="2977453"/>
            <a:ext cx="4069341" cy="327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noFill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40BE69-1FBA-3093-DC3B-50A745F10CE4}"/>
              </a:ext>
            </a:extLst>
          </p:cNvPr>
          <p:cNvSpPr txBox="1">
            <a:spLocks/>
          </p:cNvSpPr>
          <p:nvPr/>
        </p:nvSpPr>
        <p:spPr>
          <a:xfrm>
            <a:off x="945310" y="1114848"/>
            <a:ext cx="8588188" cy="569291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solidFill>
                  <a:schemeClr val="accent4">
                    <a:lumMod val="50000"/>
                  </a:schemeClr>
                </a:solidFill>
              </a:rPr>
              <a:t>Equation of state and related properties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thermodynamics, hadron yields and fluctuations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solidFill>
                  <a:schemeClr val="accent4">
                    <a:lumMod val="50000"/>
                  </a:schemeClr>
                </a:solidFill>
              </a:rPr>
              <a:t>Extensions of the base HRG model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finite resonance widths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repulsive (excluded volume) and van der Waals interactions (criticality)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(non-)conserved charges fluctuations and correlations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partial chemical equilibrium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solidFill>
                  <a:schemeClr val="accent4">
                    <a:lumMod val="50000"/>
                  </a:schemeClr>
                </a:solidFill>
              </a:rPr>
              <a:t>Heavy-ion applications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thermal fits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small systems and canonical effects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Monte Carlo event generator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partial chemical equilibrium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light nuclei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2200" dirty="0">
                <a:solidFill>
                  <a:schemeClr val="accent4">
                    <a:lumMod val="50000"/>
                  </a:schemeClr>
                </a:solidFill>
              </a:rPr>
              <a:t>Other applications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Neutron star matter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800" dirty="0"/>
              <a:t>Early universe (cosmic </a:t>
            </a:r>
            <a:r>
              <a:rPr lang="en-US" sz="1800" dirty="0" err="1"/>
              <a:t>EoS</a:t>
            </a:r>
            <a:r>
              <a:rPr lang="en-US" sz="1800" dirty="0"/>
              <a:t>)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2B6258E-F7E0-A724-BE89-D92C3571192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177257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Thermal-FIST?</a:t>
            </a:r>
            <a:endParaRPr lang="uk-UA" dirty="0"/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E4655D7-C6AB-45D6-A579-A63CE604C24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533498" y="6467291"/>
            <a:ext cx="856596" cy="340472"/>
          </a:xfrm>
        </p:spPr>
        <p:txBody>
          <a:bodyPr/>
          <a:lstStyle/>
          <a:p>
            <a:r>
              <a:rPr lang="en-US" dirty="0"/>
              <a:t>3</a:t>
            </a:r>
            <a:endParaRPr lang="uk-UA" dirty="0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C97490C-5431-4627-9F89-A51CCBA365B4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370541" y="1165086"/>
            <a:ext cx="720000" cy="720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id="{3361C4ED-6315-4EA5-A3E5-77A860943FCF}"/>
              </a:ext>
            </a:extLst>
          </p:cNvPr>
          <p:cNvSpPr txBox="1"/>
          <p:nvPr/>
        </p:nvSpPr>
        <p:spPr>
          <a:xfrm>
            <a:off x="1090542" y="1235083"/>
            <a:ext cx="55659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/>
              <a:t>Thermal-FIST* </a:t>
            </a:r>
            <a:r>
              <a:rPr lang="en-US" sz="2400" dirty="0"/>
              <a:t>(current version: v1.4.2)</a:t>
            </a:r>
            <a:endParaRPr lang="uk-UA" sz="2400" i="1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54877C2B-7EDC-41B8-9FA6-7022D45AFEF8}"/>
              </a:ext>
            </a:extLst>
          </p:cNvPr>
          <p:cNvSpPr txBox="1"/>
          <p:nvPr/>
        </p:nvSpPr>
        <p:spPr>
          <a:xfrm>
            <a:off x="6659583" y="1296637"/>
            <a:ext cx="17395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rgbClr val="0808FF"/>
                </a:solidFill>
              </a:rPr>
              <a:t>[</a:t>
            </a:r>
            <a:r>
              <a:rPr lang="en-US" sz="1600" b="1" dirty="0">
                <a:solidFill>
                  <a:srgbClr val="0808FF"/>
                </a:solidFill>
              </a:rPr>
              <a:t>VV</a:t>
            </a:r>
            <a:r>
              <a:rPr lang="en-US" sz="1600" dirty="0">
                <a:solidFill>
                  <a:srgbClr val="0808FF"/>
                </a:solidFill>
              </a:rPr>
              <a:t>, H. Stoecker]</a:t>
            </a:r>
            <a:endParaRPr lang="uk-UA" sz="1600" dirty="0">
              <a:solidFill>
                <a:srgbClr val="0808FF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4201C822-8608-47C9-8D26-1C1FBB1A96D4}"/>
              </a:ext>
            </a:extLst>
          </p:cNvPr>
          <p:cNvSpPr txBox="1"/>
          <p:nvPr/>
        </p:nvSpPr>
        <p:spPr>
          <a:xfrm>
            <a:off x="1090541" y="2748712"/>
            <a:ext cx="619111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rgbClr val="00B050"/>
                </a:solidFill>
              </a:rPr>
              <a:t>GitHub:</a:t>
            </a:r>
            <a:r>
              <a:rPr lang="en-US" dirty="0">
                <a:solidFill>
                  <a:srgbClr val="00B050"/>
                </a:solidFill>
              </a:rPr>
              <a:t> </a:t>
            </a:r>
            <a:r>
              <a:rPr lang="en-US" dirty="0">
                <a:solidFill>
                  <a:srgbClr val="0070C0"/>
                </a:solidFill>
              </a:rPr>
              <a:t>https://github.com/vlvovch/Thermal-FIST</a:t>
            </a:r>
            <a:endParaRPr lang="en-US" b="1" dirty="0">
              <a:solidFill>
                <a:srgbClr val="00B050"/>
              </a:solidFill>
            </a:endParaRPr>
          </a:p>
          <a:p>
            <a:r>
              <a:rPr lang="en-US" sz="2000" b="1" dirty="0">
                <a:solidFill>
                  <a:srgbClr val="00B050"/>
                </a:solidFill>
              </a:rPr>
              <a:t>physics manual:</a:t>
            </a:r>
            <a:r>
              <a:rPr lang="en-US" sz="2200" dirty="0">
                <a:solidFill>
                  <a:srgbClr val="00B050"/>
                </a:solidFill>
              </a:rPr>
              <a:t> </a:t>
            </a:r>
            <a:r>
              <a:rPr lang="en-US" dirty="0" err="1">
                <a:solidFill>
                  <a:srgbClr val="0070C0"/>
                </a:solidFill>
              </a:rPr>
              <a:t>Comput</a:t>
            </a:r>
            <a:r>
              <a:rPr lang="en-US" dirty="0">
                <a:solidFill>
                  <a:srgbClr val="0070C0"/>
                </a:solidFill>
              </a:rPr>
              <a:t>. Phys. </a:t>
            </a:r>
            <a:r>
              <a:rPr lang="en-US" dirty="0" err="1">
                <a:solidFill>
                  <a:srgbClr val="0070C0"/>
                </a:solidFill>
              </a:rPr>
              <a:t>Commun</a:t>
            </a:r>
            <a:r>
              <a:rPr lang="en-US" dirty="0">
                <a:solidFill>
                  <a:srgbClr val="0070C0"/>
                </a:solidFill>
              </a:rPr>
              <a:t>. 244, 295 (2019)</a:t>
            </a:r>
            <a:endParaRPr lang="uk-UA" dirty="0">
              <a:solidFill>
                <a:srgbClr val="0070C0"/>
              </a:solidFill>
            </a:endParaRPr>
          </a:p>
        </p:txBody>
      </p:sp>
      <p:sp>
        <p:nvSpPr>
          <p:cNvPr id="37" name="Rectangle 36">
            <a:hlinkClick r:id="rId3"/>
            <a:extLst>
              <a:ext uri="{FF2B5EF4-FFF2-40B4-BE49-F238E27FC236}">
                <a16:creationId xmlns:a16="http://schemas.microsoft.com/office/drawing/2014/main" id="{D37660BA-D7EC-4577-95B3-81AF6378ADDA}"/>
              </a:ext>
            </a:extLst>
          </p:cNvPr>
          <p:cNvSpPr/>
          <p:nvPr/>
        </p:nvSpPr>
        <p:spPr>
          <a:xfrm>
            <a:off x="2678890" y="2314398"/>
            <a:ext cx="4197096" cy="311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39" name="Rectangle 38">
            <a:hlinkClick r:id="rId4"/>
            <a:extLst>
              <a:ext uri="{FF2B5EF4-FFF2-40B4-BE49-F238E27FC236}">
                <a16:creationId xmlns:a16="http://schemas.microsoft.com/office/drawing/2014/main" id="{AABFB5AE-D4D8-4118-9575-DD0F5229BE72}"/>
              </a:ext>
            </a:extLst>
          </p:cNvPr>
          <p:cNvSpPr/>
          <p:nvPr/>
        </p:nvSpPr>
        <p:spPr>
          <a:xfrm>
            <a:off x="3074796" y="2977453"/>
            <a:ext cx="4069341" cy="327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 dirty="0">
              <a:noFill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1BDB984-9703-4DC2-BAFD-197A4CC5865B}"/>
              </a:ext>
            </a:extLst>
          </p:cNvPr>
          <p:cNvSpPr txBox="1"/>
          <p:nvPr/>
        </p:nvSpPr>
        <p:spPr>
          <a:xfrm>
            <a:off x="7281659" y="2777398"/>
            <a:ext cx="14059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>
                <a:solidFill>
                  <a:schemeClr val="bg1">
                    <a:lumMod val="50000"/>
                  </a:schemeClr>
                </a:solidFill>
              </a:rPr>
              <a:t>Since 2018</a:t>
            </a:r>
            <a:endParaRPr lang="uk-UA" sz="2000" dirty="0">
              <a:solidFill>
                <a:srgbClr val="0070C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9D19D4-B1B5-40D7-B9CE-116EF014242B}"/>
              </a:ext>
            </a:extLst>
          </p:cNvPr>
          <p:cNvSpPr txBox="1"/>
          <p:nvPr/>
        </p:nvSpPr>
        <p:spPr>
          <a:xfrm>
            <a:off x="370541" y="6467291"/>
            <a:ext cx="5835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</a:t>
            </a:r>
            <a:r>
              <a:rPr lang="en-US" sz="1400" b="1" i="1" dirty="0"/>
              <a:t>T</a:t>
            </a:r>
            <a:r>
              <a:rPr lang="en-US" sz="1400" i="1" dirty="0"/>
              <a:t>hermal, </a:t>
            </a:r>
            <a:r>
              <a:rPr lang="en-US" sz="1400" b="1" i="1" dirty="0"/>
              <a:t>F</a:t>
            </a:r>
            <a:r>
              <a:rPr lang="en-US" sz="1400" i="1" dirty="0"/>
              <a:t>ast and </a:t>
            </a:r>
            <a:r>
              <a:rPr lang="en-US" sz="1400" b="1" i="1" dirty="0"/>
              <a:t>I</a:t>
            </a:r>
            <a:r>
              <a:rPr lang="en-US" sz="1400" i="1" dirty="0"/>
              <a:t>nteractive </a:t>
            </a:r>
            <a:r>
              <a:rPr lang="en-US" sz="1400" b="1" i="1" dirty="0"/>
              <a:t>S</a:t>
            </a:r>
            <a:r>
              <a:rPr lang="en-US" sz="1400" i="1" dirty="0"/>
              <a:t>tatistical </a:t>
            </a:r>
            <a:r>
              <a:rPr lang="en-US" sz="1400" b="1" i="1" dirty="0"/>
              <a:t>T</a:t>
            </a:r>
            <a:r>
              <a:rPr lang="en-US" sz="1400" i="1" dirty="0"/>
              <a:t>oolkit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959DBA-7441-8C9B-BA7C-BF376F76A580}"/>
              </a:ext>
            </a:extLst>
          </p:cNvPr>
          <p:cNvSpPr txBox="1"/>
          <p:nvPr/>
        </p:nvSpPr>
        <p:spPr>
          <a:xfrm>
            <a:off x="1119363" y="1756844"/>
            <a:ext cx="75568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Open-source C++ package for general-purpose HRG model analysis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61963-B0B9-0BB3-993F-808B5944D3C2}"/>
              </a:ext>
            </a:extLst>
          </p:cNvPr>
          <p:cNvSpPr txBox="1"/>
          <p:nvPr/>
        </p:nvSpPr>
        <p:spPr>
          <a:xfrm>
            <a:off x="1090541" y="3546172"/>
            <a:ext cx="5344733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Flexible particle lists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Non-resonant interactions (EV/</a:t>
            </a:r>
            <a:r>
              <a:rPr lang="en-US" sz="2000" dirty="0" err="1"/>
              <a:t>vdW</a:t>
            </a:r>
            <a:r>
              <a:rPr lang="en-US" sz="2000" dirty="0"/>
              <a:t>/…)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Finite resonance widths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Fluctuations and correlations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Canonical ensemble effects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Partial chemical equilibrium (hadronic phase)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Monte Carlo mode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Graphical user interface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9B79F01-3F0E-CFAF-AEF8-89E068036B20}"/>
              </a:ext>
            </a:extLst>
          </p:cNvPr>
          <p:cNvSpPr txBox="1"/>
          <p:nvPr/>
        </p:nvSpPr>
        <p:spPr>
          <a:xfrm>
            <a:off x="1090541" y="2440044"/>
            <a:ext cx="21002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License: </a:t>
            </a:r>
            <a:r>
              <a:rPr lang="en-US" sz="2000" dirty="0"/>
              <a:t>GPL-3.0</a:t>
            </a:r>
            <a:endParaRPr lang="en-US" sz="20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81DBB7-0BE3-A170-10B4-05CE86BD7455}"/>
              </a:ext>
            </a:extLst>
          </p:cNvPr>
          <p:cNvSpPr txBox="1"/>
          <p:nvPr/>
        </p:nvSpPr>
        <p:spPr>
          <a:xfrm>
            <a:off x="1090541" y="2098862"/>
            <a:ext cx="61911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i="1" dirty="0"/>
              <a:t>Cross-platform </a:t>
            </a:r>
            <a:r>
              <a:rPr lang="en-US" sz="2000" dirty="0"/>
              <a:t>(Linux, Mac, Windows) through </a:t>
            </a:r>
            <a:r>
              <a:rPr lang="en-US" sz="2000" b="1" dirty="0" err="1"/>
              <a:t>cmake</a:t>
            </a:r>
            <a:endParaRPr lang="uk-UA" sz="2000" b="1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42895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Thermal-FIST structure</a:t>
            </a:r>
            <a:endParaRPr lang="uk-UA" dirty="0"/>
          </a:p>
        </p:txBody>
      </p:sp>
      <p:sp>
        <p:nvSpPr>
          <p:cNvPr id="37" name="Rectangle 36">
            <a:hlinkClick r:id="rId2"/>
            <a:extLst>
              <a:ext uri="{FF2B5EF4-FFF2-40B4-BE49-F238E27FC236}">
                <a16:creationId xmlns:a16="http://schemas.microsoft.com/office/drawing/2014/main" id="{D37660BA-D7EC-4577-95B3-81AF6378ADDA}"/>
              </a:ext>
            </a:extLst>
          </p:cNvPr>
          <p:cNvSpPr/>
          <p:nvPr/>
        </p:nvSpPr>
        <p:spPr>
          <a:xfrm>
            <a:off x="2678890" y="2314398"/>
            <a:ext cx="4197096" cy="3119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39" name="Rectangle 38">
            <a:hlinkClick r:id="rId3"/>
            <a:extLst>
              <a:ext uri="{FF2B5EF4-FFF2-40B4-BE49-F238E27FC236}">
                <a16:creationId xmlns:a16="http://schemas.microsoft.com/office/drawing/2014/main" id="{AABFB5AE-D4D8-4118-9575-DD0F5229BE72}"/>
              </a:ext>
            </a:extLst>
          </p:cNvPr>
          <p:cNvSpPr/>
          <p:nvPr/>
        </p:nvSpPr>
        <p:spPr>
          <a:xfrm>
            <a:off x="3059968" y="2656316"/>
            <a:ext cx="1774154" cy="32712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E9D19D4-B1B5-40D7-B9CE-116EF014242B}"/>
              </a:ext>
            </a:extLst>
          </p:cNvPr>
          <p:cNvSpPr txBox="1"/>
          <p:nvPr/>
        </p:nvSpPr>
        <p:spPr>
          <a:xfrm>
            <a:off x="370541" y="6467291"/>
            <a:ext cx="58354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*</a:t>
            </a:r>
            <a:r>
              <a:rPr lang="en-US" sz="1400" b="1" i="1" dirty="0"/>
              <a:t>T</a:t>
            </a:r>
            <a:r>
              <a:rPr lang="en-US" sz="1400" i="1" dirty="0"/>
              <a:t>hermal, </a:t>
            </a:r>
            <a:r>
              <a:rPr lang="en-US" sz="1400" b="1" i="1" dirty="0"/>
              <a:t>F</a:t>
            </a:r>
            <a:r>
              <a:rPr lang="en-US" sz="1400" i="1" dirty="0"/>
              <a:t>ast and </a:t>
            </a:r>
            <a:r>
              <a:rPr lang="en-US" sz="1400" b="1" i="1" dirty="0"/>
              <a:t>I</a:t>
            </a:r>
            <a:r>
              <a:rPr lang="en-US" sz="1400" i="1" dirty="0"/>
              <a:t>nteractive </a:t>
            </a:r>
            <a:r>
              <a:rPr lang="en-US" sz="1400" b="1" i="1" dirty="0"/>
              <a:t>S</a:t>
            </a:r>
            <a:r>
              <a:rPr lang="en-US" sz="1400" i="1" dirty="0"/>
              <a:t>tatistical </a:t>
            </a:r>
            <a:r>
              <a:rPr lang="en-US" sz="1400" b="1" i="1" dirty="0"/>
              <a:t>T</a:t>
            </a:r>
            <a:r>
              <a:rPr lang="en-US" sz="1400" i="1" dirty="0"/>
              <a:t>oolkit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361963-B0B9-0BB3-993F-808B5944D3C2}"/>
              </a:ext>
            </a:extLst>
          </p:cNvPr>
          <p:cNvSpPr txBox="1"/>
          <p:nvPr/>
        </p:nvSpPr>
        <p:spPr>
          <a:xfrm>
            <a:off x="806061" y="1244500"/>
            <a:ext cx="687720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Core library (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</a:rPr>
              <a:t>libThermalFIST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Ideal (base) HRG model (</a:t>
            </a:r>
            <a:r>
              <a:rPr lang="en-US" sz="2000" dirty="0" err="1"/>
              <a:t>HRGBase</a:t>
            </a:r>
            <a:r>
              <a:rPr lang="en-US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Interacting HRG model (HRGEV/HRGVDW)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Partial chemical equilibrium (HRGPCE)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Monte Carlo mode (</a:t>
            </a:r>
            <a:r>
              <a:rPr lang="en-US" sz="2000" dirty="0" err="1"/>
              <a:t>HRGEventGenerator</a:t>
            </a:r>
            <a:r>
              <a:rPr lang="en-US" sz="2000" dirty="0"/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Thermal fits (</a:t>
            </a:r>
            <a:r>
              <a:rPr lang="en-US" sz="2000" dirty="0" err="1"/>
              <a:t>HRGThermalFit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Graphical user interface (</a:t>
            </a:r>
            <a:r>
              <a:rPr lang="en-US" sz="2000" dirty="0" err="1">
                <a:solidFill>
                  <a:schemeClr val="accent4">
                    <a:lumMod val="50000"/>
                  </a:schemeClr>
                </a:solidFill>
              </a:rPr>
              <a:t>QtThermalFIST</a:t>
            </a: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Based on Qt5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Wrapper around </a:t>
            </a:r>
            <a:r>
              <a:rPr lang="en-US" sz="2000" dirty="0" err="1"/>
              <a:t>libThermalFIST</a:t>
            </a: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4">
                    <a:lumMod val="50000"/>
                  </a:schemeClr>
                </a:solidFill>
              </a:rPr>
              <a:t>Sample console applications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Essentially just C++ macros linking to </a:t>
            </a:r>
            <a:r>
              <a:rPr lang="en-US" sz="2000" dirty="0" err="1"/>
              <a:t>libThermalFIST</a:t>
            </a: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5F1F42-671A-3A5C-0C2F-3A98EC8651EE}"/>
              </a:ext>
            </a:extLst>
          </p:cNvPr>
          <p:cNvSpPr txBox="1"/>
          <p:nvPr/>
        </p:nvSpPr>
        <p:spPr>
          <a:xfrm>
            <a:off x="806061" y="4867478"/>
            <a:ext cx="615264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External dependencies: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Eigen library for linear algebra (header-only, built-in)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Minuit2 (built-in, i.e. ROOT </a:t>
            </a:r>
            <a:r>
              <a:rPr lang="en-US" sz="2000" b="1" dirty="0"/>
              <a:t>not needed</a:t>
            </a:r>
            <a:r>
              <a:rPr lang="en-US" sz="2000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Qt6/Qt5 (for GUI only)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5D6A5EB-775A-94B4-EE38-F853AC7D637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7186055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Thermal-FIST: </a:t>
            </a:r>
            <a:r>
              <a:rPr lang="en-US" dirty="0" err="1"/>
              <a:t>Jupyter</a:t>
            </a:r>
            <a:r>
              <a:rPr lang="en-US" dirty="0"/>
              <a:t> notebooks</a:t>
            </a:r>
            <a:endParaRPr lang="uk-UA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1309864-3105-4AE7-8B05-61EFAB3761AA}"/>
              </a:ext>
            </a:extLst>
          </p:cNvPr>
          <p:cNvSpPr txBox="1"/>
          <p:nvPr/>
        </p:nvSpPr>
        <p:spPr>
          <a:xfrm>
            <a:off x="1801906" y="1065501"/>
            <a:ext cx="87240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2000" dirty="0"/>
              <a:t>Interactive notebooks through </a:t>
            </a:r>
            <a:r>
              <a:rPr lang="en-US" sz="2000" dirty="0" err="1">
                <a:solidFill>
                  <a:schemeClr val="accent2">
                    <a:lumMod val="75000"/>
                  </a:schemeClr>
                </a:solidFill>
              </a:rPr>
              <a:t>Jupyter</a:t>
            </a:r>
            <a:r>
              <a:rPr lang="en-US" sz="2000" dirty="0"/>
              <a:t> (</a:t>
            </a:r>
            <a:r>
              <a:rPr lang="en-US" sz="2000" dirty="0" err="1">
                <a:solidFill>
                  <a:srgbClr val="0808FF"/>
                </a:solidFill>
              </a:rPr>
              <a:t>xeus</a:t>
            </a:r>
            <a:r>
              <a:rPr lang="en-US" sz="2000" dirty="0"/>
              <a:t> kernel and </a:t>
            </a:r>
            <a:r>
              <a:rPr lang="en-US" sz="2000" dirty="0">
                <a:solidFill>
                  <a:srgbClr val="0808FF"/>
                </a:solidFill>
              </a:rPr>
              <a:t>ROOT-cling</a:t>
            </a:r>
            <a:r>
              <a:rPr lang="en-US" sz="2000" dirty="0"/>
              <a:t>)*</a:t>
            </a:r>
            <a:endParaRPr lang="uk-UA" sz="2000" b="1" dirty="0"/>
          </a:p>
        </p:txBody>
      </p:sp>
      <p:sp>
        <p:nvSpPr>
          <p:cNvPr id="15" name="Rectangle 14">
            <a:hlinkClick r:id="rId2"/>
            <a:extLst>
              <a:ext uri="{FF2B5EF4-FFF2-40B4-BE49-F238E27FC236}">
                <a16:creationId xmlns:a16="http://schemas.microsoft.com/office/drawing/2014/main" id="{EEBE2743-7221-45EA-AF62-BC2010E249FB}"/>
              </a:ext>
            </a:extLst>
          </p:cNvPr>
          <p:cNvSpPr/>
          <p:nvPr/>
        </p:nvSpPr>
        <p:spPr>
          <a:xfrm>
            <a:off x="3393291" y="5840954"/>
            <a:ext cx="1349467" cy="3237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17" name="Rectangle 16">
            <a:hlinkClick r:id="rId3"/>
            <a:extLst>
              <a:ext uri="{FF2B5EF4-FFF2-40B4-BE49-F238E27FC236}">
                <a16:creationId xmlns:a16="http://schemas.microsoft.com/office/drawing/2014/main" id="{63C03CDD-B8D6-4877-866F-0662ABA324CA}"/>
              </a:ext>
            </a:extLst>
          </p:cNvPr>
          <p:cNvSpPr/>
          <p:nvPr/>
        </p:nvSpPr>
        <p:spPr>
          <a:xfrm>
            <a:off x="6923605" y="1595292"/>
            <a:ext cx="495169" cy="305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24" name="Rectangle 23">
            <a:hlinkClick r:id="rId4"/>
            <a:extLst>
              <a:ext uri="{FF2B5EF4-FFF2-40B4-BE49-F238E27FC236}">
                <a16:creationId xmlns:a16="http://schemas.microsoft.com/office/drawing/2014/main" id="{958E3EEB-6883-4A53-A4F4-7383DA798A30}"/>
              </a:ext>
            </a:extLst>
          </p:cNvPr>
          <p:cNvSpPr/>
          <p:nvPr/>
        </p:nvSpPr>
        <p:spPr>
          <a:xfrm>
            <a:off x="8656230" y="1569479"/>
            <a:ext cx="1273365" cy="3053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8D32F0-75E8-4285-9502-0737F9FB8564}"/>
              </a:ext>
            </a:extLst>
          </p:cNvPr>
          <p:cNvSpPr txBox="1"/>
          <p:nvPr/>
        </p:nvSpPr>
        <p:spPr>
          <a:xfrm>
            <a:off x="288066" y="6467291"/>
            <a:ext cx="639810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/>
              <a:t>*Since version 1.2.1, example at </a:t>
            </a:r>
            <a:r>
              <a:rPr lang="en-US" sz="1600" dirty="0">
                <a:solidFill>
                  <a:srgbClr val="0808FF"/>
                </a:solidFill>
              </a:rPr>
              <a:t>github.com/</a:t>
            </a:r>
            <a:r>
              <a:rPr lang="en-US" sz="1600" dirty="0" err="1">
                <a:solidFill>
                  <a:srgbClr val="0808FF"/>
                </a:solidFill>
              </a:rPr>
              <a:t>vlvovch</a:t>
            </a:r>
            <a:r>
              <a:rPr lang="en-US" sz="1600" dirty="0">
                <a:solidFill>
                  <a:srgbClr val="0808FF"/>
                </a:solidFill>
              </a:rPr>
              <a:t>/FIST-</a:t>
            </a:r>
            <a:r>
              <a:rPr lang="en-US" sz="1600" dirty="0" err="1">
                <a:solidFill>
                  <a:srgbClr val="0808FF"/>
                </a:solidFill>
              </a:rPr>
              <a:t>jupyter</a:t>
            </a:r>
            <a:endParaRPr lang="en-US" sz="1600" i="1" dirty="0"/>
          </a:p>
        </p:txBody>
      </p:sp>
      <p:sp>
        <p:nvSpPr>
          <p:cNvPr id="26" name="Rectangle 25">
            <a:hlinkClick r:id="rId5"/>
            <a:extLst>
              <a:ext uri="{FF2B5EF4-FFF2-40B4-BE49-F238E27FC236}">
                <a16:creationId xmlns:a16="http://schemas.microsoft.com/office/drawing/2014/main" id="{2A7445E1-F753-4919-B416-5039DD1FD42F}"/>
              </a:ext>
            </a:extLst>
          </p:cNvPr>
          <p:cNvSpPr/>
          <p:nvPr/>
        </p:nvSpPr>
        <p:spPr>
          <a:xfrm>
            <a:off x="3172982" y="6493925"/>
            <a:ext cx="2954216" cy="3086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3FC554-5520-4508-8B4D-C0BD87CC57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65000" y="1569479"/>
            <a:ext cx="7642337" cy="4724449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997580E0-7420-42CC-B722-29F27535A19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56229" y="370918"/>
            <a:ext cx="828094" cy="423248"/>
          </a:xfrm>
          <a:prstGeom prst="rect">
            <a:avLst/>
          </a:prstGeom>
        </p:spPr>
      </p:pic>
      <p:pic>
        <p:nvPicPr>
          <p:cNvPr id="1028" name="Picture 4" descr="@jupyter">
            <a:extLst>
              <a:ext uri="{FF2B5EF4-FFF2-40B4-BE49-F238E27FC236}">
                <a16:creationId xmlns:a16="http://schemas.microsoft.com/office/drawing/2014/main" id="{3DB515FD-15C2-473D-B7B4-682D97EA7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87997" y="170144"/>
            <a:ext cx="624022" cy="624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79EBA-D806-C4A9-9C7D-02157555C47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865263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Thermal-FIST and HRG model equation of state</a:t>
            </a:r>
            <a:endParaRPr lang="uk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344B805-0D59-87CA-D467-6A3691DB2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5595" y="1180326"/>
            <a:ext cx="7800810" cy="433147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C2F84-D057-1962-2BDF-0C12BBAA2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A47032-750C-664E-0532-CCF5C431FC0F}"/>
                  </a:ext>
                </a:extLst>
              </p:cNvPr>
              <p:cNvSpPr txBox="1"/>
              <p:nvPr/>
            </p:nvSpPr>
            <p:spPr>
              <a:xfrm>
                <a:off x="660400" y="5923280"/>
                <a:ext cx="9820317" cy="72955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Base calculation is at fixed T &amp;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𝑄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en-US" sz="2000" dirty="0"/>
                  <a:t> (alternatively at fixed s/</a:t>
                </a:r>
                <a:r>
                  <a:rPr lang="en-US" sz="2000" dirty="0" err="1"/>
                  <a:t>n</a:t>
                </a:r>
                <a:r>
                  <a:rPr lang="en-US" sz="2000" baseline="-25000" dirty="0" err="1"/>
                  <a:t>B</a:t>
                </a:r>
                <a:r>
                  <a:rPr lang="en-US" sz="2000" dirty="0"/>
                  <a:t>, Q/B, S/|S|)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Thermodynamic functions, hadron abundances, </a:t>
                </a:r>
                <a:r>
                  <a:rPr lang="en-US" sz="2000" dirty="0" err="1"/>
                  <a:t>feeddown</a:t>
                </a:r>
                <a:r>
                  <a:rPr lang="en-US" sz="2000" dirty="0"/>
                  <a:t>, correlations and fluctuations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A47032-750C-664E-0532-CCF5C431F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5923280"/>
                <a:ext cx="9820317" cy="729559"/>
              </a:xfrm>
              <a:prstGeom prst="rect">
                <a:avLst/>
              </a:prstGeom>
              <a:blipFill>
                <a:blip r:embed="rId3"/>
                <a:stretch>
                  <a:fillRect l="-387" t="-5172" b="-155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0588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Thermal-FIST and Thermal-FITS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C2F84-D057-1962-2BDF-0C12BBAA2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A47032-750C-664E-0532-CCF5C431FC0F}"/>
                  </a:ext>
                </a:extLst>
              </p:cNvPr>
              <p:cNvSpPr txBox="1"/>
              <p:nvPr/>
            </p:nvSpPr>
            <p:spPr>
              <a:xfrm>
                <a:off x="660400" y="5923280"/>
                <a:ext cx="8502649" cy="73424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Extract chemical freeze-out parameters from heavy-ion hadron abundances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𝜒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2000" dirty="0"/>
                  <a:t> minimization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A47032-750C-664E-0532-CCF5C431F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400" y="5923280"/>
                <a:ext cx="8502649" cy="734240"/>
              </a:xfrm>
              <a:prstGeom prst="rect">
                <a:avLst/>
              </a:prstGeom>
              <a:blipFill>
                <a:blip r:embed="rId2"/>
                <a:stretch>
                  <a:fillRect l="-447" t="-5085" b="-101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F51D2061-0205-9AC4-4A16-D476CB2949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0801" y="1210730"/>
            <a:ext cx="8270397" cy="4666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826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Thermal-FIST and equation of state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C2F84-D057-1962-2BDF-0C12BBAA2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A47032-750C-664E-0532-CCF5C431FC0F}"/>
                  </a:ext>
                </a:extLst>
              </p:cNvPr>
              <p:cNvSpPr txBox="1"/>
              <p:nvPr/>
            </p:nvSpPr>
            <p:spPr>
              <a:xfrm>
                <a:off x="370541" y="5759405"/>
                <a:ext cx="11479425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Compute HRG model quantities along a fixed </a:t>
                </a:r>
                <a:r>
                  <a:rPr lang="en-US" sz="2000" i="1" dirty="0"/>
                  <a:t>T</a:t>
                </a:r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baseline="-25000" dirty="0"/>
                  <a:t>B</a:t>
                </a:r>
                <a:r>
                  <a:rPr lang="en-US" sz="2000" dirty="0"/>
                  <a:t>, 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</m:oMath>
                </a14:m>
                <a:r>
                  <a:rPr lang="en-US" sz="2000" baseline="-25000" dirty="0"/>
                  <a:t>B </a:t>
                </a:r>
                <a:r>
                  <a:rPr lang="en-US" sz="2000" dirty="0"/>
                  <a:t>/</a:t>
                </a:r>
                <a:r>
                  <a:rPr lang="en-US" sz="2000" i="1" dirty="0"/>
                  <a:t>T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sz="2000" dirty="0"/>
                  <a:t>Impose conservation laws [e.g. strangeness neutrality (heavy-ions) or charge neutrality (neutron stars)]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82A47032-750C-664E-0532-CCF5C431FC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0541" y="5759405"/>
                <a:ext cx="11479425" cy="707886"/>
              </a:xfrm>
              <a:prstGeom prst="rect">
                <a:avLst/>
              </a:prstGeom>
              <a:blipFill>
                <a:blip r:embed="rId2"/>
                <a:stretch>
                  <a:fillRect l="-552" t="-5263" b="-140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C17F4BFE-AC9D-BB65-0980-24FDFC940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65086"/>
            <a:ext cx="7772400" cy="438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1411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Thermal-FIST and equation of state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C2F84-D057-1962-2BDF-0C12BBAA2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A47032-750C-664E-0532-CCF5C431FC0F}"/>
              </a:ext>
            </a:extLst>
          </p:cNvPr>
          <p:cNvSpPr txBox="1"/>
          <p:nvPr/>
        </p:nvSpPr>
        <p:spPr>
          <a:xfrm>
            <a:off x="1201925" y="1165086"/>
            <a:ext cx="429636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Console mode provides more flexibility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A0E1BD3-EB05-BF1C-731A-76A699EEF8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835" y="2035732"/>
            <a:ext cx="5288579" cy="35609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9981C47-D8AB-0961-07BE-A8F2163BD3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35732"/>
            <a:ext cx="5233319" cy="356091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569C973-336B-90C7-5F74-1EB0344C4A58}"/>
              </a:ext>
            </a:extLst>
          </p:cNvPr>
          <p:cNvSpPr txBox="1"/>
          <p:nvPr/>
        </p:nvSpPr>
        <p:spPr>
          <a:xfrm>
            <a:off x="2535623" y="1666400"/>
            <a:ext cx="1628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baryon number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01AD7D-0614-D277-1938-D91226987BB6}"/>
              </a:ext>
            </a:extLst>
          </p:cNvPr>
          <p:cNvSpPr txBox="1"/>
          <p:nvPr/>
        </p:nvSpPr>
        <p:spPr>
          <a:xfrm>
            <a:off x="8027407" y="1666400"/>
            <a:ext cx="15712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electric charge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778B1B-9E00-23C3-FDB0-E82210004678}"/>
              </a:ext>
            </a:extLst>
          </p:cNvPr>
          <p:cNvSpPr txBox="1"/>
          <p:nvPr/>
        </p:nvSpPr>
        <p:spPr>
          <a:xfrm>
            <a:off x="6359482" y="5570302"/>
            <a:ext cx="490711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Figure from R.V. 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</a:rPr>
              <a:t>Poberezhnyuk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</a:rPr>
              <a:t> et al., PRC 99, 024907 (2019)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0552D54-204C-E828-0AA4-9EAFCB6A3BC4}"/>
              </a:ext>
            </a:extLst>
          </p:cNvPr>
          <p:cNvCxnSpPr/>
          <p:nvPr/>
        </p:nvCxnSpPr>
        <p:spPr>
          <a:xfrm>
            <a:off x="2631440" y="4886960"/>
            <a:ext cx="13004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82A83F3-34F3-5477-1D95-F1F13C7578A8}"/>
              </a:ext>
            </a:extLst>
          </p:cNvPr>
          <p:cNvCxnSpPr/>
          <p:nvPr/>
        </p:nvCxnSpPr>
        <p:spPr>
          <a:xfrm>
            <a:off x="7934960" y="4886960"/>
            <a:ext cx="1300480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5140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Thermal-FIST and HRG event generator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C2F84-D057-1962-2BDF-0C12BBAA2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A47032-750C-664E-0532-CCF5C431FC0F}"/>
              </a:ext>
            </a:extLst>
          </p:cNvPr>
          <p:cNvSpPr txBox="1"/>
          <p:nvPr/>
        </p:nvSpPr>
        <p:spPr>
          <a:xfrm>
            <a:off x="1400644" y="5754774"/>
            <a:ext cx="939071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Monte Carlo sampling of hadron abundances, momenta, and coordinates</a:t>
            </a:r>
            <a:endParaRPr lang="en-US" sz="2000" i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Superimposed on blast-wave flow velocity profile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Realistic modeling of acceptance effects, especially for correlations and fluctuations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11E0419-57E9-22CF-CB19-421A9C3594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8304" y="1165086"/>
            <a:ext cx="8215392" cy="4382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124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in HRG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C2F84-D057-1962-2BDF-0C12BBAA2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17</a:t>
            </a:r>
          </a:p>
        </p:txBody>
      </p:sp>
      <p:sp>
        <p:nvSpPr>
          <p:cNvPr id="10" name="Rectangle 9">
            <a:hlinkClick r:id="rId2"/>
            <a:extLst>
              <a:ext uri="{FF2B5EF4-FFF2-40B4-BE49-F238E27FC236}">
                <a16:creationId xmlns:a16="http://schemas.microsoft.com/office/drawing/2014/main" id="{E1AC8724-2075-B0B8-EF1C-807CB1220B4F}"/>
              </a:ext>
            </a:extLst>
          </p:cNvPr>
          <p:cNvSpPr/>
          <p:nvPr/>
        </p:nvSpPr>
        <p:spPr>
          <a:xfrm>
            <a:off x="528320" y="6483966"/>
            <a:ext cx="4750083" cy="3359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>
              <a:noFill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EFEEE8-FF20-864E-4D0A-592DFD0BDFC6}"/>
              </a:ext>
            </a:extLst>
          </p:cNvPr>
          <p:cNvSpPr txBox="1"/>
          <p:nvPr/>
        </p:nvSpPr>
        <p:spPr>
          <a:xfrm>
            <a:off x="528320" y="1198436"/>
            <a:ext cx="96552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Interacting HRG can be more smoothly connected to other QCD phases than ideal HRG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1738976-0597-AC2F-9F55-1A690AA3AD9B}"/>
              </a:ext>
            </a:extLst>
          </p:cNvPr>
          <p:cNvSpPr txBox="1"/>
          <p:nvPr/>
        </p:nvSpPr>
        <p:spPr>
          <a:xfrm>
            <a:off x="6200865" y="1598546"/>
            <a:ext cx="568777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e.g. the crossover in </a:t>
            </a:r>
            <a:r>
              <a:rPr lang="en-US" sz="1400" i="1" dirty="0"/>
              <a:t>T</a:t>
            </a:r>
            <a:r>
              <a:rPr lang="en-US" sz="1400" dirty="0"/>
              <a:t> direction, Albright, </a:t>
            </a:r>
            <a:r>
              <a:rPr lang="en-US" sz="1400" dirty="0" err="1"/>
              <a:t>Kapusta</a:t>
            </a:r>
            <a:r>
              <a:rPr lang="en-US" sz="1400" dirty="0"/>
              <a:t>, Young, PRC (2014)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BB988-36C6-A806-D201-B434ACFB4B1F}"/>
              </a:ext>
            </a:extLst>
          </p:cNvPr>
          <p:cNvSpPr txBox="1"/>
          <p:nvPr/>
        </p:nvSpPr>
        <p:spPr>
          <a:xfrm>
            <a:off x="528320" y="1998656"/>
            <a:ext cx="87655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Thermal-FIST incorporates van der Waals interactions in the most general form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3C28BE5-08C5-C2BA-4399-9FDD440146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27450" y="2429967"/>
            <a:ext cx="4737100" cy="71120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F452D47-347D-D250-946E-365DDAB05973}"/>
              </a:ext>
            </a:extLst>
          </p:cNvPr>
          <p:cNvSpPr txBox="1"/>
          <p:nvPr/>
        </p:nvSpPr>
        <p:spPr>
          <a:xfrm>
            <a:off x="528320" y="3346186"/>
            <a:ext cx="6388287" cy="32735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Separate excluded volume </a:t>
            </a:r>
            <a:r>
              <a:rPr lang="en-US" sz="2000" dirty="0" err="1"/>
              <a:t>b</a:t>
            </a:r>
            <a:r>
              <a:rPr lang="en-US" sz="2000" baseline="-25000" dirty="0" err="1"/>
              <a:t>ij</a:t>
            </a:r>
            <a:r>
              <a:rPr lang="en-US" sz="2000" dirty="0"/>
              <a:t> for each pair </a:t>
            </a:r>
            <a:r>
              <a:rPr lang="en-US" sz="2000" dirty="0" err="1"/>
              <a:t>i,j</a:t>
            </a:r>
            <a:r>
              <a:rPr lang="en-US" sz="2000" dirty="0"/>
              <a:t> of species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Separate mean field </a:t>
            </a:r>
            <a:r>
              <a:rPr lang="en-US" sz="2000" dirty="0" err="1"/>
              <a:t>a</a:t>
            </a:r>
            <a:r>
              <a:rPr lang="en-US" sz="2000" baseline="-25000" dirty="0" err="1"/>
              <a:t>ij</a:t>
            </a:r>
            <a:r>
              <a:rPr lang="en-US" sz="2000" dirty="0"/>
              <a:t> for each pair </a:t>
            </a:r>
            <a:r>
              <a:rPr lang="en-US" sz="2000" dirty="0" err="1"/>
              <a:t>i,j</a:t>
            </a:r>
            <a:r>
              <a:rPr lang="en-US" sz="2000" dirty="0"/>
              <a:t> of species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So far very little explored!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E.g. indications for flavor-dependent parameters from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Lattice QCD susceptibilities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Symmetry energy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Neutron-star matter </a:t>
            </a:r>
            <a:r>
              <a:rPr lang="en-US" sz="2000" dirty="0" err="1"/>
              <a:t>EoS</a:t>
            </a:r>
            <a:endParaRPr lang="en-US" sz="20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C6B475-3D19-8EFF-D12B-144241CCAF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760" y="3141329"/>
            <a:ext cx="2386817" cy="1612714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96983F27-BD56-EC1B-D5AC-123FDED579FB}"/>
              </a:ext>
            </a:extLst>
          </p:cNvPr>
          <p:cNvSpPr txBox="1"/>
          <p:nvPr/>
        </p:nvSpPr>
        <p:spPr>
          <a:xfrm>
            <a:off x="9058295" y="4826268"/>
            <a:ext cx="29065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VV, 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Motornenko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, Alba, et al., 1707.09215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80F5576-F102-0FA1-DA18-48B4C9A7981E}"/>
              </a:ext>
            </a:extLst>
          </p:cNvPr>
          <p:cNvSpPr txBox="1"/>
          <p:nvPr/>
        </p:nvSpPr>
        <p:spPr>
          <a:xfrm>
            <a:off x="4334649" y="5397953"/>
            <a:ext cx="20425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[</a:t>
            </a:r>
            <a:r>
              <a:rPr lang="en-US" sz="1200" dirty="0" err="1">
                <a:solidFill>
                  <a:schemeClr val="bg2">
                    <a:lumMod val="50000"/>
                  </a:schemeClr>
                </a:solidFill>
              </a:rPr>
              <a:t>Karthein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 et al., 2107.00588]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68B8F2C5-A21F-946D-4EDA-122F3243E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7448" y="3213555"/>
            <a:ext cx="2357412" cy="1540487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38DA07D7-504A-BA26-A61F-6101E4FE6EC5}"/>
              </a:ext>
            </a:extLst>
          </p:cNvPr>
          <p:cNvSpPr txBox="1"/>
          <p:nvPr/>
        </p:nvSpPr>
        <p:spPr>
          <a:xfrm>
            <a:off x="4220260" y="6245041"/>
            <a:ext cx="21162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[Fujimoto et al., 2109.06799] </a:t>
            </a:r>
          </a:p>
        </p:txBody>
      </p:sp>
    </p:spTree>
    <p:extLst>
      <p:ext uri="{BB962C8B-B14F-4D97-AF65-F5344CB8AC3E}">
        <p14:creationId xmlns:p14="http://schemas.microsoft.com/office/powerpoint/2010/main" val="22751131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AFA58-9F0A-4217-B38D-E58CFC4CAD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Interactions in HRG: Beyond van der Waals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A9C2F84-D057-1962-2BDF-0C12BBAA221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18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2DBB988-36C6-A806-D201-B434ACFB4B1F}"/>
              </a:ext>
            </a:extLst>
          </p:cNvPr>
          <p:cNvSpPr txBox="1"/>
          <p:nvPr/>
        </p:nvSpPr>
        <p:spPr>
          <a:xfrm>
            <a:off x="528320" y="1197361"/>
            <a:ext cx="82269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Standard van der Waals gives too stiff </a:t>
            </a:r>
            <a:r>
              <a:rPr lang="en-US" sz="2000" dirty="0" err="1"/>
              <a:t>EoS</a:t>
            </a:r>
            <a:r>
              <a:rPr lang="en-US" sz="2000" dirty="0"/>
              <a:t> beyond the saturation density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1BFFF89-1157-D025-3738-B56A36DE64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40560"/>
            <a:ext cx="2493376" cy="17035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000DED5-2A6F-4F18-BB43-2C756C2B42BD}"/>
              </a:ext>
            </a:extLst>
          </p:cNvPr>
          <p:cNvSpPr txBox="1"/>
          <p:nvPr/>
        </p:nvSpPr>
        <p:spPr>
          <a:xfrm>
            <a:off x="6658139" y="3654246"/>
            <a:ext cx="20185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VV, PRC 96, 015206 (2017)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BC8B2CA-AC45-5D43-8E38-CB3B16808237}"/>
              </a:ext>
            </a:extLst>
          </p:cNvPr>
          <p:cNvSpPr txBox="1"/>
          <p:nvPr/>
        </p:nvSpPr>
        <p:spPr>
          <a:xfrm>
            <a:off x="650240" y="1899920"/>
            <a:ext cx="44342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Beyond </a:t>
            </a:r>
            <a:r>
              <a:rPr lang="en-US" b="1" dirty="0" err="1"/>
              <a:t>vdW</a:t>
            </a:r>
            <a:r>
              <a:rPr lang="en-US" b="1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Generalized (non-linear) excluded volume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Carnahan-Starling (CS)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Density-dependent mean-field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Real gases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 err="1"/>
              <a:t>Skyrme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VDF model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B1780A-8096-AEA1-4972-E00851D2A30D}"/>
              </a:ext>
            </a:extLst>
          </p:cNvPr>
          <p:cNvSpPr txBox="1"/>
          <p:nvPr/>
        </p:nvSpPr>
        <p:spPr>
          <a:xfrm>
            <a:off x="1940560" y="3842415"/>
            <a:ext cx="32848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A. Sorensen, V. Koch, PRC 104, 034904 (2021)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2CBC9D-D45F-822E-B172-FB12C2623355}"/>
              </a:ext>
            </a:extLst>
          </p:cNvPr>
          <p:cNvSpPr txBox="1"/>
          <p:nvPr/>
        </p:nvSpPr>
        <p:spPr>
          <a:xfrm>
            <a:off x="528320" y="4289767"/>
            <a:ext cx="814832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Helps soften the </a:t>
            </a:r>
            <a:r>
              <a:rPr lang="en-US" sz="2000" dirty="0" err="1"/>
              <a:t>EoS</a:t>
            </a:r>
            <a:r>
              <a:rPr lang="en-US" sz="2000" dirty="0"/>
              <a:t> in the cold &amp; dense regime, making it easier to match with others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C1D723B-806B-44F4-D4AB-892EE89629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4800" y="4620360"/>
            <a:ext cx="2466771" cy="167496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7E0F88E-A823-23BC-F3CA-2FDAA1C689F7}"/>
              </a:ext>
            </a:extLst>
          </p:cNvPr>
          <p:cNvSpPr txBox="1"/>
          <p:nvPr/>
        </p:nvSpPr>
        <p:spPr>
          <a:xfrm>
            <a:off x="9635054" y="6257540"/>
            <a:ext cx="20265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Fujimoto et al., 2109.06799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CC99E4-6069-2245-3F9A-B94D33BFD535}"/>
              </a:ext>
            </a:extLst>
          </p:cNvPr>
          <p:cNvSpPr txBox="1"/>
          <p:nvPr/>
        </p:nvSpPr>
        <p:spPr>
          <a:xfrm>
            <a:off x="528320" y="5088104"/>
            <a:ext cx="8648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Available out-of-the-box in FIST in next version (already present in </a:t>
            </a:r>
            <a:r>
              <a:rPr lang="en-US" sz="2000" b="1" dirty="0" err="1"/>
              <a:t>devel</a:t>
            </a:r>
            <a:r>
              <a:rPr lang="en-US" sz="2000" dirty="0"/>
              <a:t> branch on </a:t>
            </a:r>
            <a:r>
              <a:rPr lang="en-US" sz="2000" dirty="0" err="1"/>
              <a:t>github</a:t>
            </a:r>
            <a:r>
              <a:rPr lang="en-US" sz="2000" dirty="0"/>
              <a:t>), adding leptons into the list one can do neutron-star matter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FF6E451-916B-E6A7-85D1-E3662F647CB0}"/>
              </a:ext>
            </a:extLst>
          </p:cNvPr>
          <p:cNvSpPr txBox="1"/>
          <p:nvPr/>
        </p:nvSpPr>
        <p:spPr>
          <a:xfrm>
            <a:off x="528320" y="5998904"/>
            <a:ext cx="86664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Another extension: pion interactions and condensation at finite isospin density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BCC0CD-DFB6-B328-68FD-DC35C897A943}"/>
              </a:ext>
            </a:extLst>
          </p:cNvPr>
          <p:cNvSpPr txBox="1"/>
          <p:nvPr/>
        </p:nvSpPr>
        <p:spPr>
          <a:xfrm>
            <a:off x="7363267" y="6343945"/>
            <a:ext cx="16754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solidFill>
                  <a:schemeClr val="bg2">
                    <a:lumMod val="50000"/>
                  </a:schemeClr>
                </a:solidFill>
              </a:rPr>
              <a:t>VV et al., PRL (2021) 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58CE0E83-113F-94A1-974B-6074DC5E63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76944" y="2764807"/>
            <a:ext cx="2484627" cy="1633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45196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Latin Modern (Beamer-like)">
      <a:majorFont>
        <a:latin typeface="LM Sans 10"/>
        <a:ea typeface=""/>
        <a:cs typeface=""/>
      </a:majorFont>
      <a:minorFont>
        <a:latin typeface="LM Sans 10"/>
        <a:ea typeface=""/>
        <a:cs typeface="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ienceStandard.potx" id="{68DB5CD3-6005-4466-AA38-EBD4F9E1AFDA}" vid="{31E8EE0F-63EF-41D6-BECB-9725E0583DB1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722</TotalTime>
  <Words>1357</Words>
  <Application>Microsoft Macintosh PowerPoint</Application>
  <PresentationFormat>Widescreen</PresentationFormat>
  <Paragraphs>201</Paragraphs>
  <Slides>23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Calibri</vt:lpstr>
      <vt:lpstr>Cambria Math</vt:lpstr>
      <vt:lpstr>Gill Sans MT</vt:lpstr>
      <vt:lpstr>LM Sans 10</vt:lpstr>
      <vt:lpstr>Тема Office</vt:lpstr>
      <vt:lpstr>HRG thermodynamics with Thermal-FIST</vt:lpstr>
      <vt:lpstr>Hadron resonance gas (HRG)</vt:lpstr>
      <vt:lpstr>Hadron resonance gas (HRG)</vt:lpstr>
      <vt:lpstr>What is Thermal-FIST?</vt:lpstr>
      <vt:lpstr>Using Thermal-FIST</vt:lpstr>
      <vt:lpstr>Using Thermal-FIST: Console mode</vt:lpstr>
      <vt:lpstr>Using Thermal-FIST: GUI</vt:lpstr>
      <vt:lpstr>PowerPoint Presentation</vt:lpstr>
      <vt:lpstr>Example case: HRG thermodynamics</vt:lpstr>
      <vt:lpstr>Compare the results to published ones</vt:lpstr>
      <vt:lpstr>PowerPoint Presentation</vt:lpstr>
      <vt:lpstr>HRG model applications</vt:lpstr>
      <vt:lpstr>HRG model aspects in Thermal-FIST</vt:lpstr>
      <vt:lpstr>What is Thermal-FIST?</vt:lpstr>
      <vt:lpstr>Thermal-FIST structure</vt:lpstr>
      <vt:lpstr>Using Thermal-FIST: Jupyter notebooks</vt:lpstr>
      <vt:lpstr>Thermal-FIST and HRG model equation of state</vt:lpstr>
      <vt:lpstr>Thermal-FIST and Thermal-FITS</vt:lpstr>
      <vt:lpstr>Thermal-FIST and equation of state</vt:lpstr>
      <vt:lpstr>Thermal-FIST and equation of state</vt:lpstr>
      <vt:lpstr>Thermal-FIST and HRG event generator</vt:lpstr>
      <vt:lpstr>Interactions in HRG</vt:lpstr>
      <vt:lpstr>Interactions in HRG: Beyond van der Waals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Hadronic resonance production in a partial chemical equilibrium model</dc:title>
  <dc:creator>Vovchenko Volodymyr</dc:creator>
  <cp:lastModifiedBy>Vovchenko Volodymyr</cp:lastModifiedBy>
  <cp:revision>1150</cp:revision>
  <cp:lastPrinted>2018-05-12T22:28:36Z</cp:lastPrinted>
  <dcterms:created xsi:type="dcterms:W3CDTF">2018-05-07T16:28:28Z</dcterms:created>
  <dcterms:modified xsi:type="dcterms:W3CDTF">2025-06-10T19:14:35Z</dcterms:modified>
</cp:coreProperties>
</file>