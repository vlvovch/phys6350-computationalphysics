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6"/>
  </p:notesMasterIdLst>
  <p:sldIdLst>
    <p:sldId id="817" r:id="rId2"/>
    <p:sldId id="752" r:id="rId3"/>
    <p:sldId id="735" r:id="rId4"/>
    <p:sldId id="786" r:id="rId5"/>
    <p:sldId id="787" r:id="rId6"/>
    <p:sldId id="789" r:id="rId7"/>
    <p:sldId id="790" r:id="rId8"/>
    <p:sldId id="792" r:id="rId9"/>
    <p:sldId id="791" r:id="rId10"/>
    <p:sldId id="793" r:id="rId11"/>
    <p:sldId id="795" r:id="rId12"/>
    <p:sldId id="796" r:id="rId13"/>
    <p:sldId id="797" r:id="rId14"/>
    <p:sldId id="798" r:id="rId15"/>
    <p:sldId id="799" r:id="rId16"/>
    <p:sldId id="800" r:id="rId17"/>
    <p:sldId id="801" r:id="rId18"/>
    <p:sldId id="802" r:id="rId19"/>
    <p:sldId id="803" r:id="rId20"/>
    <p:sldId id="810" r:id="rId21"/>
    <p:sldId id="804" r:id="rId22"/>
    <p:sldId id="805" r:id="rId23"/>
    <p:sldId id="806" r:id="rId24"/>
    <p:sldId id="807" r:id="rId25"/>
    <p:sldId id="808" r:id="rId26"/>
    <p:sldId id="809" r:id="rId27"/>
    <p:sldId id="816" r:id="rId28"/>
    <p:sldId id="815" r:id="rId29"/>
    <p:sldId id="1097" r:id="rId30"/>
    <p:sldId id="849" r:id="rId31"/>
    <p:sldId id="848" r:id="rId32"/>
    <p:sldId id="851" r:id="rId33"/>
    <p:sldId id="972" r:id="rId34"/>
    <p:sldId id="1015" r:id="rId35"/>
    <p:sldId id="1054" r:id="rId36"/>
    <p:sldId id="1055" r:id="rId37"/>
    <p:sldId id="1056" r:id="rId38"/>
    <p:sldId id="1098" r:id="rId39"/>
    <p:sldId id="1082" r:id="rId40"/>
    <p:sldId id="1099" r:id="rId41"/>
    <p:sldId id="1057" r:id="rId42"/>
    <p:sldId id="1058" r:id="rId43"/>
    <p:sldId id="1064" r:id="rId44"/>
    <p:sldId id="1059" r:id="rId45"/>
    <p:sldId id="1060" r:id="rId46"/>
    <p:sldId id="1061" r:id="rId47"/>
    <p:sldId id="1062" r:id="rId48"/>
    <p:sldId id="1063" r:id="rId49"/>
    <p:sldId id="1100" r:id="rId50"/>
    <p:sldId id="1101" r:id="rId51"/>
    <p:sldId id="1102" r:id="rId52"/>
    <p:sldId id="1103" r:id="rId53"/>
    <p:sldId id="1081" r:id="rId54"/>
    <p:sldId id="1083" r:id="rId55"/>
    <p:sldId id="1104" r:id="rId56"/>
    <p:sldId id="1085" r:id="rId57"/>
    <p:sldId id="1105" r:id="rId58"/>
    <p:sldId id="1065" r:id="rId59"/>
    <p:sldId id="1086" r:id="rId60"/>
    <p:sldId id="1087" r:id="rId61"/>
    <p:sldId id="1016" r:id="rId62"/>
    <p:sldId id="1069" r:id="rId63"/>
    <p:sldId id="1089" r:id="rId64"/>
    <p:sldId id="1091" r:id="rId65"/>
    <p:sldId id="1070" r:id="rId66"/>
    <p:sldId id="1078" r:id="rId67"/>
    <p:sldId id="1079" r:id="rId68"/>
    <p:sldId id="1080" r:id="rId69"/>
    <p:sldId id="1106" r:id="rId70"/>
    <p:sldId id="1107" r:id="rId71"/>
    <p:sldId id="1108" r:id="rId72"/>
    <p:sldId id="1109" r:id="rId73"/>
    <p:sldId id="1110" r:id="rId74"/>
    <p:sldId id="850" r:id="rId75"/>
    <p:sldId id="811" r:id="rId76"/>
    <p:sldId id="812" r:id="rId77"/>
    <p:sldId id="813" r:id="rId78"/>
    <p:sldId id="814" r:id="rId79"/>
    <p:sldId id="1072" r:id="rId80"/>
    <p:sldId id="1073" r:id="rId81"/>
    <p:sldId id="1074" r:id="rId82"/>
    <p:sldId id="1093" r:id="rId83"/>
    <p:sldId id="1076" r:id="rId84"/>
    <p:sldId id="1077" r:id="rId85"/>
  </p:sldIdLst>
  <p:sldSz cx="12192000" cy="6858000"/>
  <p:notesSz cx="7102475"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622845-6266-4D00-96BA-1436A2147006}">
          <p14:sldIdLst>
            <p14:sldId id="817"/>
            <p14:sldId id="752"/>
            <p14:sldId id="735"/>
            <p14:sldId id="786"/>
            <p14:sldId id="787"/>
            <p14:sldId id="789"/>
            <p14:sldId id="790"/>
            <p14:sldId id="792"/>
            <p14:sldId id="791"/>
            <p14:sldId id="793"/>
            <p14:sldId id="795"/>
            <p14:sldId id="796"/>
            <p14:sldId id="797"/>
            <p14:sldId id="798"/>
            <p14:sldId id="799"/>
            <p14:sldId id="800"/>
            <p14:sldId id="801"/>
            <p14:sldId id="802"/>
            <p14:sldId id="803"/>
            <p14:sldId id="810"/>
            <p14:sldId id="804"/>
            <p14:sldId id="805"/>
            <p14:sldId id="806"/>
            <p14:sldId id="807"/>
            <p14:sldId id="808"/>
            <p14:sldId id="809"/>
            <p14:sldId id="816"/>
            <p14:sldId id="815"/>
            <p14:sldId id="1097"/>
            <p14:sldId id="849"/>
            <p14:sldId id="848"/>
            <p14:sldId id="851"/>
            <p14:sldId id="972"/>
            <p14:sldId id="1015"/>
            <p14:sldId id="1054"/>
            <p14:sldId id="1055"/>
            <p14:sldId id="1056"/>
            <p14:sldId id="1098"/>
            <p14:sldId id="1082"/>
            <p14:sldId id="1099"/>
            <p14:sldId id="1057"/>
            <p14:sldId id="1058"/>
            <p14:sldId id="1064"/>
            <p14:sldId id="1059"/>
            <p14:sldId id="1060"/>
            <p14:sldId id="1061"/>
            <p14:sldId id="1062"/>
            <p14:sldId id="1063"/>
            <p14:sldId id="1100"/>
            <p14:sldId id="1101"/>
            <p14:sldId id="1102"/>
            <p14:sldId id="1103"/>
            <p14:sldId id="1081"/>
            <p14:sldId id="1083"/>
            <p14:sldId id="1104"/>
            <p14:sldId id="1085"/>
            <p14:sldId id="1105"/>
            <p14:sldId id="1065"/>
            <p14:sldId id="1086"/>
            <p14:sldId id="1087"/>
            <p14:sldId id="1016"/>
            <p14:sldId id="1069"/>
            <p14:sldId id="1089"/>
            <p14:sldId id="1091"/>
            <p14:sldId id="1070"/>
            <p14:sldId id="1078"/>
            <p14:sldId id="1079"/>
            <p14:sldId id="1080"/>
            <p14:sldId id="1106"/>
            <p14:sldId id="1107"/>
            <p14:sldId id="1108"/>
            <p14:sldId id="1109"/>
            <p14:sldId id="1110"/>
            <p14:sldId id="850"/>
            <p14:sldId id="811"/>
            <p14:sldId id="812"/>
            <p14:sldId id="813"/>
            <p14:sldId id="814"/>
            <p14:sldId id="1072"/>
            <p14:sldId id="1073"/>
            <p14:sldId id="1074"/>
            <p14:sldId id="1093"/>
            <p14:sldId id="1076"/>
            <p14:sldId id="10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k36x6teoh@goetheuniversitaet.onmicrosoft.com" initials="j" lastIdx="1" clrIdx="0">
    <p:extLst>
      <p:ext uri="{19B8F6BF-5375-455C-9EA6-DF929625EA0E}">
        <p15:presenceInfo xmlns:p15="http://schemas.microsoft.com/office/powerpoint/2012/main" userId="jk36x6teoh@goetheuniversitaet.onmicrosoft.com" providerId="None"/>
      </p:ext>
    </p:extLst>
  </p:cmAuthor>
  <p:cmAuthor id="2" name="Vovchenko Volodymyr" initials="VV" lastIdx="3" clrIdx="1">
    <p:extLst>
      <p:ext uri="{19B8F6BF-5375-455C-9EA6-DF929625EA0E}">
        <p15:presenceInfo xmlns:p15="http://schemas.microsoft.com/office/powerpoint/2012/main" userId="9971ad54b2be89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FF"/>
    <a:srgbClr val="122EA6"/>
    <a:srgbClr val="3B3838"/>
    <a:srgbClr val="A4A3A3"/>
    <a:srgbClr val="206F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324" autoAdjust="0"/>
    <p:restoredTop sz="94984" autoAdjust="0"/>
  </p:normalViewPr>
  <p:slideViewPr>
    <p:cSldViewPr snapToGrid="0">
      <p:cViewPr varScale="1">
        <p:scale>
          <a:sx n="108" d="100"/>
          <a:sy n="108" d="100"/>
        </p:scale>
        <p:origin x="144" y="19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1" y="0"/>
            <a:ext cx="3077739" cy="513508"/>
          </a:xfrm>
          <a:prstGeom prst="rect">
            <a:avLst/>
          </a:prstGeom>
        </p:spPr>
        <p:txBody>
          <a:bodyPr vert="horz" lIns="99057" tIns="49528" rIns="99057" bIns="49528" rtlCol="0"/>
          <a:lstStyle>
            <a:lvl1pPr algn="l">
              <a:defRPr sz="1300"/>
            </a:lvl1pPr>
          </a:lstStyle>
          <a:p>
            <a:endParaRPr lang="uk-UA"/>
          </a:p>
        </p:txBody>
      </p:sp>
      <p:sp>
        <p:nvSpPr>
          <p:cNvPr id="3" name="Дата 2"/>
          <p:cNvSpPr>
            <a:spLocks noGrp="1"/>
          </p:cNvSpPr>
          <p:nvPr>
            <p:ph type="dt" idx="1"/>
          </p:nvPr>
        </p:nvSpPr>
        <p:spPr>
          <a:xfrm>
            <a:off x="4023093" y="0"/>
            <a:ext cx="3077739" cy="513508"/>
          </a:xfrm>
          <a:prstGeom prst="rect">
            <a:avLst/>
          </a:prstGeom>
        </p:spPr>
        <p:txBody>
          <a:bodyPr vert="horz" lIns="99057" tIns="49528" rIns="99057" bIns="49528" rtlCol="0"/>
          <a:lstStyle>
            <a:lvl1pPr algn="r">
              <a:defRPr sz="1300"/>
            </a:lvl1pPr>
          </a:lstStyle>
          <a:p>
            <a:fld id="{961AF02B-09B0-4980-983D-27C0EDB561B5}" type="datetimeFigureOut">
              <a:rPr lang="uk-UA" smtClean="0"/>
              <a:t>13.06.25</a:t>
            </a:fld>
            <a:endParaRPr lang="uk-UA"/>
          </a:p>
        </p:txBody>
      </p:sp>
      <p:sp>
        <p:nvSpPr>
          <p:cNvPr id="4" name="Образ слайда 3"/>
          <p:cNvSpPr>
            <a:spLocks noGrp="1" noRot="1" noChangeAspect="1"/>
          </p:cNvSpPr>
          <p:nvPr>
            <p:ph type="sldImg" idx="2"/>
          </p:nvPr>
        </p:nvSpPr>
        <p:spPr>
          <a:xfrm>
            <a:off x="482600" y="1279525"/>
            <a:ext cx="6137275" cy="3452813"/>
          </a:xfrm>
          <a:prstGeom prst="rect">
            <a:avLst/>
          </a:prstGeom>
          <a:noFill/>
          <a:ln w="12700">
            <a:solidFill>
              <a:prstClr val="black"/>
            </a:solidFill>
          </a:ln>
        </p:spPr>
        <p:txBody>
          <a:bodyPr vert="horz" lIns="99057" tIns="49528" rIns="99057" bIns="49528" rtlCol="0" anchor="ctr"/>
          <a:lstStyle/>
          <a:p>
            <a:endParaRPr lang="uk-UA"/>
          </a:p>
        </p:txBody>
      </p:sp>
      <p:sp>
        <p:nvSpPr>
          <p:cNvPr id="5" name="Заметки 4"/>
          <p:cNvSpPr>
            <a:spLocks noGrp="1"/>
          </p:cNvSpPr>
          <p:nvPr>
            <p:ph type="body" sz="quarter" idx="3"/>
          </p:nvPr>
        </p:nvSpPr>
        <p:spPr>
          <a:xfrm>
            <a:off x="710248" y="4925407"/>
            <a:ext cx="5681980" cy="4029879"/>
          </a:xfrm>
          <a:prstGeom prst="rect">
            <a:avLst/>
          </a:prstGeom>
        </p:spPr>
        <p:txBody>
          <a:bodyPr vert="horz" lIns="99057" tIns="49528" rIns="99057" bIns="49528"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6" name="Нижний колонтитул 5"/>
          <p:cNvSpPr>
            <a:spLocks noGrp="1"/>
          </p:cNvSpPr>
          <p:nvPr>
            <p:ph type="ftr" sz="quarter" idx="4"/>
          </p:nvPr>
        </p:nvSpPr>
        <p:spPr>
          <a:xfrm>
            <a:off x="1" y="9721107"/>
            <a:ext cx="3077739" cy="513507"/>
          </a:xfrm>
          <a:prstGeom prst="rect">
            <a:avLst/>
          </a:prstGeom>
        </p:spPr>
        <p:txBody>
          <a:bodyPr vert="horz" lIns="99057" tIns="49528" rIns="99057" bIns="49528" rtlCol="0" anchor="b"/>
          <a:lstStyle>
            <a:lvl1pPr algn="l">
              <a:defRPr sz="1300"/>
            </a:lvl1pPr>
          </a:lstStyle>
          <a:p>
            <a:endParaRPr lang="uk-UA"/>
          </a:p>
        </p:txBody>
      </p:sp>
      <p:sp>
        <p:nvSpPr>
          <p:cNvPr id="7" name="Номер слайда 6"/>
          <p:cNvSpPr>
            <a:spLocks noGrp="1"/>
          </p:cNvSpPr>
          <p:nvPr>
            <p:ph type="sldNum" sz="quarter" idx="5"/>
          </p:nvPr>
        </p:nvSpPr>
        <p:spPr>
          <a:xfrm>
            <a:off x="4023093" y="9721107"/>
            <a:ext cx="3077739" cy="513507"/>
          </a:xfrm>
          <a:prstGeom prst="rect">
            <a:avLst/>
          </a:prstGeom>
        </p:spPr>
        <p:txBody>
          <a:bodyPr vert="horz" lIns="99057" tIns="49528" rIns="99057" bIns="49528" rtlCol="0" anchor="b"/>
          <a:lstStyle>
            <a:lvl1pPr algn="r">
              <a:defRPr sz="1300"/>
            </a:lvl1pPr>
          </a:lstStyle>
          <a:p>
            <a:fld id="{2F0C5EC2-2CF5-460B-AE73-90022B24A426}" type="slidenum">
              <a:rPr lang="uk-UA" smtClean="0"/>
              <a:t>‹#›</a:t>
            </a:fld>
            <a:endParaRPr lang="uk-UA"/>
          </a:p>
        </p:txBody>
      </p:sp>
    </p:spTree>
    <p:extLst>
      <p:ext uri="{BB962C8B-B14F-4D97-AF65-F5344CB8AC3E}">
        <p14:creationId xmlns:p14="http://schemas.microsoft.com/office/powerpoint/2010/main" val="3736488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1</a:t>
            </a:fld>
            <a:endParaRPr lang="uk-UA"/>
          </a:p>
        </p:txBody>
      </p:sp>
    </p:spTree>
    <p:extLst>
      <p:ext uri="{BB962C8B-B14F-4D97-AF65-F5344CB8AC3E}">
        <p14:creationId xmlns:p14="http://schemas.microsoft.com/office/powerpoint/2010/main" val="2609027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33</a:t>
            </a:fld>
            <a:endParaRPr lang="uk-UA"/>
          </a:p>
        </p:txBody>
      </p:sp>
    </p:spTree>
    <p:extLst>
      <p:ext uri="{BB962C8B-B14F-4D97-AF65-F5344CB8AC3E}">
        <p14:creationId xmlns:p14="http://schemas.microsoft.com/office/powerpoint/2010/main" val="652511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34</a:t>
            </a:fld>
            <a:endParaRPr lang="uk-UA"/>
          </a:p>
        </p:txBody>
      </p:sp>
    </p:spTree>
    <p:extLst>
      <p:ext uri="{BB962C8B-B14F-4D97-AF65-F5344CB8AC3E}">
        <p14:creationId xmlns:p14="http://schemas.microsoft.com/office/powerpoint/2010/main" val="1124947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35</a:t>
            </a:fld>
            <a:endParaRPr lang="uk-UA"/>
          </a:p>
        </p:txBody>
      </p:sp>
    </p:spTree>
    <p:extLst>
      <p:ext uri="{BB962C8B-B14F-4D97-AF65-F5344CB8AC3E}">
        <p14:creationId xmlns:p14="http://schemas.microsoft.com/office/powerpoint/2010/main" val="718950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36</a:t>
            </a:fld>
            <a:endParaRPr lang="uk-UA"/>
          </a:p>
        </p:txBody>
      </p:sp>
    </p:spTree>
    <p:extLst>
      <p:ext uri="{BB962C8B-B14F-4D97-AF65-F5344CB8AC3E}">
        <p14:creationId xmlns:p14="http://schemas.microsoft.com/office/powerpoint/2010/main" val="1463871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37</a:t>
            </a:fld>
            <a:endParaRPr lang="uk-UA"/>
          </a:p>
        </p:txBody>
      </p:sp>
    </p:spTree>
    <p:extLst>
      <p:ext uri="{BB962C8B-B14F-4D97-AF65-F5344CB8AC3E}">
        <p14:creationId xmlns:p14="http://schemas.microsoft.com/office/powerpoint/2010/main" val="1502748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5472-A020-6131-9D43-A3A547016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AC69C-ADDA-9925-8979-8BF5B47AD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C9887-95F6-F6C1-11D0-8A7DA05DC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EACD6B-1924-E070-A36C-DBD0073CC484}"/>
              </a:ext>
            </a:extLst>
          </p:cNvPr>
          <p:cNvSpPr>
            <a:spLocks noGrp="1"/>
          </p:cNvSpPr>
          <p:nvPr>
            <p:ph type="sldNum" sz="quarter" idx="5"/>
          </p:nvPr>
        </p:nvSpPr>
        <p:spPr/>
        <p:txBody>
          <a:bodyPr/>
          <a:lstStyle/>
          <a:p>
            <a:fld id="{2F0C5EC2-2CF5-460B-AE73-90022B24A426}" type="slidenum">
              <a:rPr lang="uk-UA" smtClean="0"/>
              <a:t>38</a:t>
            </a:fld>
            <a:endParaRPr lang="uk-UA"/>
          </a:p>
        </p:txBody>
      </p:sp>
    </p:spTree>
    <p:extLst>
      <p:ext uri="{BB962C8B-B14F-4D97-AF65-F5344CB8AC3E}">
        <p14:creationId xmlns:p14="http://schemas.microsoft.com/office/powerpoint/2010/main" val="3419761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C9A9-6A4F-5865-72D3-F1130ECBC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A613A-6FC8-4A82-30E5-0FEE98535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ED223-D44B-6639-162A-9FFA00A12D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917AF-B916-6CDE-961F-F52E0009D07E}"/>
              </a:ext>
            </a:extLst>
          </p:cNvPr>
          <p:cNvSpPr>
            <a:spLocks noGrp="1"/>
          </p:cNvSpPr>
          <p:nvPr>
            <p:ph type="sldNum" sz="quarter" idx="5"/>
          </p:nvPr>
        </p:nvSpPr>
        <p:spPr/>
        <p:txBody>
          <a:bodyPr/>
          <a:lstStyle/>
          <a:p>
            <a:fld id="{2F0C5EC2-2CF5-460B-AE73-90022B24A426}" type="slidenum">
              <a:rPr lang="uk-UA" smtClean="0"/>
              <a:t>39</a:t>
            </a:fld>
            <a:endParaRPr lang="uk-UA"/>
          </a:p>
        </p:txBody>
      </p:sp>
    </p:spTree>
    <p:extLst>
      <p:ext uri="{BB962C8B-B14F-4D97-AF65-F5344CB8AC3E}">
        <p14:creationId xmlns:p14="http://schemas.microsoft.com/office/powerpoint/2010/main" val="1436167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40</a:t>
            </a:fld>
            <a:endParaRPr lang="uk-UA"/>
          </a:p>
        </p:txBody>
      </p:sp>
    </p:spTree>
    <p:extLst>
      <p:ext uri="{BB962C8B-B14F-4D97-AF65-F5344CB8AC3E}">
        <p14:creationId xmlns:p14="http://schemas.microsoft.com/office/powerpoint/2010/main" val="2346764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41</a:t>
            </a:fld>
            <a:endParaRPr lang="uk-UA"/>
          </a:p>
        </p:txBody>
      </p:sp>
    </p:spTree>
    <p:extLst>
      <p:ext uri="{BB962C8B-B14F-4D97-AF65-F5344CB8AC3E}">
        <p14:creationId xmlns:p14="http://schemas.microsoft.com/office/powerpoint/2010/main" val="565525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42</a:t>
            </a:fld>
            <a:endParaRPr lang="uk-UA"/>
          </a:p>
        </p:txBody>
      </p:sp>
    </p:spTree>
    <p:extLst>
      <p:ext uri="{BB962C8B-B14F-4D97-AF65-F5344CB8AC3E}">
        <p14:creationId xmlns:p14="http://schemas.microsoft.com/office/powerpoint/2010/main" val="1494635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43</a:t>
            </a:fld>
            <a:endParaRPr lang="uk-UA"/>
          </a:p>
        </p:txBody>
      </p:sp>
    </p:spTree>
    <p:extLst>
      <p:ext uri="{BB962C8B-B14F-4D97-AF65-F5344CB8AC3E}">
        <p14:creationId xmlns:p14="http://schemas.microsoft.com/office/powerpoint/2010/main" val="1210756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44</a:t>
            </a:fld>
            <a:endParaRPr lang="uk-UA"/>
          </a:p>
        </p:txBody>
      </p:sp>
    </p:spTree>
    <p:extLst>
      <p:ext uri="{BB962C8B-B14F-4D97-AF65-F5344CB8AC3E}">
        <p14:creationId xmlns:p14="http://schemas.microsoft.com/office/powerpoint/2010/main" val="2346764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45</a:t>
            </a:fld>
            <a:endParaRPr lang="uk-UA"/>
          </a:p>
        </p:txBody>
      </p:sp>
    </p:spTree>
    <p:extLst>
      <p:ext uri="{BB962C8B-B14F-4D97-AF65-F5344CB8AC3E}">
        <p14:creationId xmlns:p14="http://schemas.microsoft.com/office/powerpoint/2010/main" val="4154613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46</a:t>
            </a:fld>
            <a:endParaRPr lang="uk-UA"/>
          </a:p>
        </p:txBody>
      </p:sp>
    </p:spTree>
    <p:extLst>
      <p:ext uri="{BB962C8B-B14F-4D97-AF65-F5344CB8AC3E}">
        <p14:creationId xmlns:p14="http://schemas.microsoft.com/office/powerpoint/2010/main" val="2643611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47</a:t>
            </a:fld>
            <a:endParaRPr lang="uk-UA"/>
          </a:p>
        </p:txBody>
      </p:sp>
    </p:spTree>
    <p:extLst>
      <p:ext uri="{BB962C8B-B14F-4D97-AF65-F5344CB8AC3E}">
        <p14:creationId xmlns:p14="http://schemas.microsoft.com/office/powerpoint/2010/main" val="994759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48</a:t>
            </a:fld>
            <a:endParaRPr lang="uk-UA"/>
          </a:p>
        </p:txBody>
      </p:sp>
    </p:spTree>
    <p:extLst>
      <p:ext uri="{BB962C8B-B14F-4D97-AF65-F5344CB8AC3E}">
        <p14:creationId xmlns:p14="http://schemas.microsoft.com/office/powerpoint/2010/main" val="1201494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A927-AB8A-05FC-6972-39FA57160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125CF-004C-66EE-A92A-B10BEAFCA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85ECF-1C0A-CC57-552C-FB6D3999B7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0DBE06-55F2-9A8C-67AF-D4D909167877}"/>
              </a:ext>
            </a:extLst>
          </p:cNvPr>
          <p:cNvSpPr>
            <a:spLocks noGrp="1"/>
          </p:cNvSpPr>
          <p:nvPr>
            <p:ph type="sldNum" sz="quarter" idx="5"/>
          </p:nvPr>
        </p:nvSpPr>
        <p:spPr/>
        <p:txBody>
          <a:bodyPr/>
          <a:lstStyle/>
          <a:p>
            <a:fld id="{2F0C5EC2-2CF5-460B-AE73-90022B24A426}" type="slidenum">
              <a:rPr lang="uk-UA" smtClean="0"/>
              <a:t>49</a:t>
            </a:fld>
            <a:endParaRPr lang="uk-UA"/>
          </a:p>
        </p:txBody>
      </p:sp>
    </p:spTree>
    <p:extLst>
      <p:ext uri="{BB962C8B-B14F-4D97-AF65-F5344CB8AC3E}">
        <p14:creationId xmlns:p14="http://schemas.microsoft.com/office/powerpoint/2010/main" val="1053421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50</a:t>
            </a:fld>
            <a:endParaRPr lang="uk-UA"/>
          </a:p>
        </p:txBody>
      </p:sp>
    </p:spTree>
    <p:extLst>
      <p:ext uri="{BB962C8B-B14F-4D97-AF65-F5344CB8AC3E}">
        <p14:creationId xmlns:p14="http://schemas.microsoft.com/office/powerpoint/2010/main" val="2643611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51</a:t>
            </a:fld>
            <a:endParaRPr lang="uk-UA"/>
          </a:p>
        </p:txBody>
      </p:sp>
    </p:spTree>
    <p:extLst>
      <p:ext uri="{BB962C8B-B14F-4D97-AF65-F5344CB8AC3E}">
        <p14:creationId xmlns:p14="http://schemas.microsoft.com/office/powerpoint/2010/main" val="994759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52</a:t>
            </a:fld>
            <a:endParaRPr lang="uk-UA"/>
          </a:p>
        </p:txBody>
      </p:sp>
    </p:spTree>
    <p:extLst>
      <p:ext uri="{BB962C8B-B14F-4D97-AF65-F5344CB8AC3E}">
        <p14:creationId xmlns:p14="http://schemas.microsoft.com/office/powerpoint/2010/main" val="120149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53</a:t>
            </a:fld>
            <a:endParaRPr lang="uk-UA"/>
          </a:p>
        </p:txBody>
      </p:sp>
    </p:spTree>
    <p:extLst>
      <p:ext uri="{BB962C8B-B14F-4D97-AF65-F5344CB8AC3E}">
        <p14:creationId xmlns:p14="http://schemas.microsoft.com/office/powerpoint/2010/main" val="3865478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54</a:t>
            </a:fld>
            <a:endParaRPr lang="uk-UA"/>
          </a:p>
        </p:txBody>
      </p:sp>
    </p:spTree>
    <p:extLst>
      <p:ext uri="{BB962C8B-B14F-4D97-AF65-F5344CB8AC3E}">
        <p14:creationId xmlns:p14="http://schemas.microsoft.com/office/powerpoint/2010/main" val="1968250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55</a:t>
            </a:fld>
            <a:endParaRPr lang="uk-UA"/>
          </a:p>
        </p:txBody>
      </p:sp>
    </p:spTree>
    <p:extLst>
      <p:ext uri="{BB962C8B-B14F-4D97-AF65-F5344CB8AC3E}">
        <p14:creationId xmlns:p14="http://schemas.microsoft.com/office/powerpoint/2010/main" val="38654781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56</a:t>
            </a:fld>
            <a:endParaRPr lang="uk-UA"/>
          </a:p>
        </p:txBody>
      </p:sp>
    </p:spTree>
    <p:extLst>
      <p:ext uri="{BB962C8B-B14F-4D97-AF65-F5344CB8AC3E}">
        <p14:creationId xmlns:p14="http://schemas.microsoft.com/office/powerpoint/2010/main" val="1968250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57</a:t>
            </a:fld>
            <a:endParaRPr lang="uk-UA"/>
          </a:p>
        </p:txBody>
      </p:sp>
    </p:spTree>
    <p:extLst>
      <p:ext uri="{BB962C8B-B14F-4D97-AF65-F5344CB8AC3E}">
        <p14:creationId xmlns:p14="http://schemas.microsoft.com/office/powerpoint/2010/main" val="34301582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58</a:t>
            </a:fld>
            <a:endParaRPr lang="uk-UA"/>
          </a:p>
        </p:txBody>
      </p:sp>
    </p:spTree>
    <p:extLst>
      <p:ext uri="{BB962C8B-B14F-4D97-AF65-F5344CB8AC3E}">
        <p14:creationId xmlns:p14="http://schemas.microsoft.com/office/powerpoint/2010/main" val="1649299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B4EA4-427B-7F11-482F-6D1D9DD6C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FCE88-D58B-CB13-6BA0-98EDC8847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4F5DA-CB4E-D7DC-1C84-37FB9A1067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5EACF2-488B-C9BB-65A8-A2D12A7FDFAC}"/>
              </a:ext>
            </a:extLst>
          </p:cNvPr>
          <p:cNvSpPr>
            <a:spLocks noGrp="1"/>
          </p:cNvSpPr>
          <p:nvPr>
            <p:ph type="sldNum" sz="quarter" idx="5"/>
          </p:nvPr>
        </p:nvSpPr>
        <p:spPr/>
        <p:txBody>
          <a:bodyPr/>
          <a:lstStyle/>
          <a:p>
            <a:fld id="{2F0C5EC2-2CF5-460B-AE73-90022B24A426}" type="slidenum">
              <a:rPr lang="uk-UA" smtClean="0"/>
              <a:t>59</a:t>
            </a:fld>
            <a:endParaRPr lang="uk-UA"/>
          </a:p>
        </p:txBody>
      </p:sp>
    </p:spTree>
    <p:extLst>
      <p:ext uri="{BB962C8B-B14F-4D97-AF65-F5344CB8AC3E}">
        <p14:creationId xmlns:p14="http://schemas.microsoft.com/office/powerpoint/2010/main" val="2923590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2F1C4-65EF-CB36-1832-587C80A02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C717C-E47C-AD3C-2B6C-CC244E500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57C5B-21DD-D34B-F5C9-9810782C27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176568-7229-FD31-F39B-ADCFBB30C490}"/>
              </a:ext>
            </a:extLst>
          </p:cNvPr>
          <p:cNvSpPr>
            <a:spLocks noGrp="1"/>
          </p:cNvSpPr>
          <p:nvPr>
            <p:ph type="sldNum" sz="quarter" idx="5"/>
          </p:nvPr>
        </p:nvSpPr>
        <p:spPr/>
        <p:txBody>
          <a:bodyPr/>
          <a:lstStyle/>
          <a:p>
            <a:fld id="{2F0C5EC2-2CF5-460B-AE73-90022B24A426}" type="slidenum">
              <a:rPr lang="uk-UA" smtClean="0"/>
              <a:t>60</a:t>
            </a:fld>
            <a:endParaRPr lang="uk-UA"/>
          </a:p>
        </p:txBody>
      </p:sp>
    </p:spTree>
    <p:extLst>
      <p:ext uri="{BB962C8B-B14F-4D97-AF65-F5344CB8AC3E}">
        <p14:creationId xmlns:p14="http://schemas.microsoft.com/office/powerpoint/2010/main" val="1294552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61</a:t>
            </a:fld>
            <a:endParaRPr lang="uk-UA"/>
          </a:p>
        </p:txBody>
      </p:sp>
    </p:spTree>
    <p:extLst>
      <p:ext uri="{BB962C8B-B14F-4D97-AF65-F5344CB8AC3E}">
        <p14:creationId xmlns:p14="http://schemas.microsoft.com/office/powerpoint/2010/main" val="981253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62</a:t>
            </a:fld>
            <a:endParaRPr lang="uk-UA"/>
          </a:p>
        </p:txBody>
      </p:sp>
    </p:spTree>
    <p:extLst>
      <p:ext uri="{BB962C8B-B14F-4D97-AF65-F5344CB8AC3E}">
        <p14:creationId xmlns:p14="http://schemas.microsoft.com/office/powerpoint/2010/main" val="1084530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22D5F-5ED9-10D9-635F-4767C4181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24B0C-7A7D-05CC-D4C1-51B7C363F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3D254-2173-7009-DB3B-A49CE442E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F4CE3B-85A5-DE80-5B18-0CE1385A2C43}"/>
              </a:ext>
            </a:extLst>
          </p:cNvPr>
          <p:cNvSpPr>
            <a:spLocks noGrp="1"/>
          </p:cNvSpPr>
          <p:nvPr>
            <p:ph type="sldNum" sz="quarter" idx="5"/>
          </p:nvPr>
        </p:nvSpPr>
        <p:spPr/>
        <p:txBody>
          <a:bodyPr/>
          <a:lstStyle/>
          <a:p>
            <a:fld id="{2F0C5EC2-2CF5-460B-AE73-90022B24A426}" type="slidenum">
              <a:rPr lang="uk-UA" smtClean="0"/>
              <a:t>63</a:t>
            </a:fld>
            <a:endParaRPr lang="uk-UA"/>
          </a:p>
        </p:txBody>
      </p:sp>
    </p:spTree>
    <p:extLst>
      <p:ext uri="{BB962C8B-B14F-4D97-AF65-F5344CB8AC3E}">
        <p14:creationId xmlns:p14="http://schemas.microsoft.com/office/powerpoint/2010/main" val="308905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400D-3D95-FE3A-833C-8F4FCB7C7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8C4AB-9D03-F676-8E4C-5A1084C9C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986D3-F462-AEC3-236D-AA634C4A0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4F14AC-E004-649D-D539-9F4621A52098}"/>
              </a:ext>
            </a:extLst>
          </p:cNvPr>
          <p:cNvSpPr>
            <a:spLocks noGrp="1"/>
          </p:cNvSpPr>
          <p:nvPr>
            <p:ph type="sldNum" sz="quarter" idx="5"/>
          </p:nvPr>
        </p:nvSpPr>
        <p:spPr/>
        <p:txBody>
          <a:bodyPr/>
          <a:lstStyle/>
          <a:p>
            <a:fld id="{2F0C5EC2-2CF5-460B-AE73-90022B24A426}" type="slidenum">
              <a:rPr lang="uk-UA" smtClean="0"/>
              <a:t>64</a:t>
            </a:fld>
            <a:endParaRPr lang="uk-UA"/>
          </a:p>
        </p:txBody>
      </p:sp>
    </p:spTree>
    <p:extLst>
      <p:ext uri="{BB962C8B-B14F-4D97-AF65-F5344CB8AC3E}">
        <p14:creationId xmlns:p14="http://schemas.microsoft.com/office/powerpoint/2010/main" val="30593129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65</a:t>
            </a:fld>
            <a:endParaRPr lang="uk-UA"/>
          </a:p>
        </p:txBody>
      </p:sp>
    </p:spTree>
    <p:extLst>
      <p:ext uri="{BB962C8B-B14F-4D97-AF65-F5344CB8AC3E}">
        <p14:creationId xmlns:p14="http://schemas.microsoft.com/office/powerpoint/2010/main" val="14192610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66</a:t>
            </a:fld>
            <a:endParaRPr lang="uk-UA"/>
          </a:p>
        </p:txBody>
      </p:sp>
    </p:spTree>
    <p:extLst>
      <p:ext uri="{BB962C8B-B14F-4D97-AF65-F5344CB8AC3E}">
        <p14:creationId xmlns:p14="http://schemas.microsoft.com/office/powerpoint/2010/main" val="27734855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67</a:t>
            </a:fld>
            <a:endParaRPr lang="uk-UA"/>
          </a:p>
        </p:txBody>
      </p:sp>
    </p:spTree>
    <p:extLst>
      <p:ext uri="{BB962C8B-B14F-4D97-AF65-F5344CB8AC3E}">
        <p14:creationId xmlns:p14="http://schemas.microsoft.com/office/powerpoint/2010/main" val="10567550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68</a:t>
            </a:fld>
            <a:endParaRPr lang="uk-UA"/>
          </a:p>
        </p:txBody>
      </p:sp>
    </p:spTree>
    <p:extLst>
      <p:ext uri="{BB962C8B-B14F-4D97-AF65-F5344CB8AC3E}">
        <p14:creationId xmlns:p14="http://schemas.microsoft.com/office/powerpoint/2010/main" val="32870603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69</a:t>
            </a:fld>
            <a:endParaRPr lang="uk-UA"/>
          </a:p>
        </p:txBody>
      </p:sp>
    </p:spTree>
    <p:extLst>
      <p:ext uri="{BB962C8B-B14F-4D97-AF65-F5344CB8AC3E}">
        <p14:creationId xmlns:p14="http://schemas.microsoft.com/office/powerpoint/2010/main" val="25834819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70</a:t>
            </a:fld>
            <a:endParaRPr lang="uk-UA"/>
          </a:p>
        </p:txBody>
      </p:sp>
    </p:spTree>
    <p:extLst>
      <p:ext uri="{BB962C8B-B14F-4D97-AF65-F5344CB8AC3E}">
        <p14:creationId xmlns:p14="http://schemas.microsoft.com/office/powerpoint/2010/main" val="4271877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71</a:t>
            </a:fld>
            <a:endParaRPr lang="uk-UA"/>
          </a:p>
        </p:txBody>
      </p:sp>
    </p:spTree>
    <p:extLst>
      <p:ext uri="{BB962C8B-B14F-4D97-AF65-F5344CB8AC3E}">
        <p14:creationId xmlns:p14="http://schemas.microsoft.com/office/powerpoint/2010/main" val="2000550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72</a:t>
            </a:fld>
            <a:endParaRPr lang="uk-UA"/>
          </a:p>
        </p:txBody>
      </p:sp>
    </p:spTree>
    <p:extLst>
      <p:ext uri="{BB962C8B-B14F-4D97-AF65-F5344CB8AC3E}">
        <p14:creationId xmlns:p14="http://schemas.microsoft.com/office/powerpoint/2010/main" val="292142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73</a:t>
            </a:fld>
            <a:endParaRPr lang="uk-UA"/>
          </a:p>
        </p:txBody>
      </p:sp>
    </p:spTree>
    <p:extLst>
      <p:ext uri="{BB962C8B-B14F-4D97-AF65-F5344CB8AC3E}">
        <p14:creationId xmlns:p14="http://schemas.microsoft.com/office/powerpoint/2010/main" val="3179134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79</a:t>
            </a:fld>
            <a:endParaRPr lang="uk-UA"/>
          </a:p>
        </p:txBody>
      </p:sp>
    </p:spTree>
    <p:extLst>
      <p:ext uri="{BB962C8B-B14F-4D97-AF65-F5344CB8AC3E}">
        <p14:creationId xmlns:p14="http://schemas.microsoft.com/office/powerpoint/2010/main" val="24042051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80</a:t>
            </a:fld>
            <a:endParaRPr lang="uk-UA"/>
          </a:p>
        </p:txBody>
      </p:sp>
    </p:spTree>
    <p:extLst>
      <p:ext uri="{BB962C8B-B14F-4D97-AF65-F5344CB8AC3E}">
        <p14:creationId xmlns:p14="http://schemas.microsoft.com/office/powerpoint/2010/main" val="32516434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81</a:t>
            </a:fld>
            <a:endParaRPr lang="uk-UA"/>
          </a:p>
        </p:txBody>
      </p:sp>
    </p:spTree>
    <p:extLst>
      <p:ext uri="{BB962C8B-B14F-4D97-AF65-F5344CB8AC3E}">
        <p14:creationId xmlns:p14="http://schemas.microsoft.com/office/powerpoint/2010/main" val="1378959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5C2E9-EA3E-D504-33AC-DAB5C9FFB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A6F4F-6C26-9EAC-4862-D8E02267A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32E45-19DB-2263-B055-10E33B2B6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6BED9-525F-11F3-52AF-8E76A95322DD}"/>
              </a:ext>
            </a:extLst>
          </p:cNvPr>
          <p:cNvSpPr>
            <a:spLocks noGrp="1"/>
          </p:cNvSpPr>
          <p:nvPr>
            <p:ph type="sldNum" sz="quarter" idx="5"/>
          </p:nvPr>
        </p:nvSpPr>
        <p:spPr/>
        <p:txBody>
          <a:bodyPr/>
          <a:lstStyle/>
          <a:p>
            <a:fld id="{2F0C5EC2-2CF5-460B-AE73-90022B24A426}" type="slidenum">
              <a:rPr lang="uk-UA" smtClean="0"/>
              <a:t>82</a:t>
            </a:fld>
            <a:endParaRPr lang="uk-UA"/>
          </a:p>
        </p:txBody>
      </p:sp>
    </p:spTree>
    <p:extLst>
      <p:ext uri="{BB962C8B-B14F-4D97-AF65-F5344CB8AC3E}">
        <p14:creationId xmlns:p14="http://schemas.microsoft.com/office/powerpoint/2010/main" val="2197585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83</a:t>
            </a:fld>
            <a:endParaRPr lang="uk-UA"/>
          </a:p>
        </p:txBody>
      </p:sp>
    </p:spTree>
    <p:extLst>
      <p:ext uri="{BB962C8B-B14F-4D97-AF65-F5344CB8AC3E}">
        <p14:creationId xmlns:p14="http://schemas.microsoft.com/office/powerpoint/2010/main" val="30097352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C5EC2-2CF5-460B-AE73-90022B24A426}" type="slidenum">
              <a:rPr lang="uk-UA" smtClean="0"/>
              <a:t>84</a:t>
            </a:fld>
            <a:endParaRPr lang="uk-UA"/>
          </a:p>
        </p:txBody>
      </p:sp>
    </p:spTree>
    <p:extLst>
      <p:ext uri="{BB962C8B-B14F-4D97-AF65-F5344CB8AC3E}">
        <p14:creationId xmlns:p14="http://schemas.microsoft.com/office/powerpoint/2010/main" val="2461153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0185" y="53790"/>
            <a:ext cx="11271623" cy="2034987"/>
          </a:xfrm>
        </p:spPr>
        <p:txBody>
          <a:bodyPr anchor="b">
            <a:normAutofit/>
          </a:bodyPr>
          <a:lstStyle>
            <a:lvl1pPr algn="ctr">
              <a:defRPr sz="4400" b="1"/>
            </a:lvl1pPr>
          </a:lstStyle>
          <a:p>
            <a:r>
              <a:rPr lang="en-US" dirty="0"/>
              <a:t>Title</a:t>
            </a:r>
          </a:p>
        </p:txBody>
      </p:sp>
      <p:sp>
        <p:nvSpPr>
          <p:cNvPr id="3" name="Subtitle 2"/>
          <p:cNvSpPr>
            <a:spLocks noGrp="1"/>
          </p:cNvSpPr>
          <p:nvPr>
            <p:ph type="subTitle" idx="1" hasCustomPrompt="1"/>
          </p:nvPr>
        </p:nvSpPr>
        <p:spPr>
          <a:xfrm>
            <a:off x="914398" y="2183414"/>
            <a:ext cx="10363199" cy="55592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Volodymyr Vovchenko</a:t>
            </a:r>
          </a:p>
        </p:txBody>
      </p:sp>
      <p:sp>
        <p:nvSpPr>
          <p:cNvPr id="12" name="Text Placeholder 11">
            <a:extLst>
              <a:ext uri="{FF2B5EF4-FFF2-40B4-BE49-F238E27FC236}">
                <a16:creationId xmlns:a16="http://schemas.microsoft.com/office/drawing/2014/main" id="{6CBF37B5-78F5-4A7D-8B93-035842C50E85}"/>
              </a:ext>
            </a:extLst>
          </p:cNvPr>
          <p:cNvSpPr>
            <a:spLocks noGrp="1"/>
          </p:cNvSpPr>
          <p:nvPr>
            <p:ph type="body" sz="quarter" idx="10" hasCustomPrompt="1"/>
          </p:nvPr>
        </p:nvSpPr>
        <p:spPr>
          <a:xfrm>
            <a:off x="3280703" y="4582035"/>
            <a:ext cx="5630583" cy="555922"/>
          </a:xfrm>
        </p:spPr>
        <p:txBody>
          <a:bodyPr>
            <a:normAutofit/>
          </a:bodyPr>
          <a:lstStyle>
            <a:lvl1pPr marL="0" indent="0" algn="ctr">
              <a:buNone/>
              <a:defRPr sz="2400" i="1"/>
            </a:lvl1pPr>
          </a:lstStyle>
          <a:p>
            <a:pPr lvl="0"/>
            <a:r>
              <a:rPr lang="en-US" dirty="0"/>
              <a:t>Conference, City, Country</a:t>
            </a:r>
            <a:endParaRPr lang="uk-UA" dirty="0"/>
          </a:p>
        </p:txBody>
      </p:sp>
      <p:sp>
        <p:nvSpPr>
          <p:cNvPr id="14" name="Text Placeholder 13">
            <a:extLst>
              <a:ext uri="{FF2B5EF4-FFF2-40B4-BE49-F238E27FC236}">
                <a16:creationId xmlns:a16="http://schemas.microsoft.com/office/drawing/2014/main" id="{E4FFC172-0F22-4283-A11C-0DC5E0AE852F}"/>
              </a:ext>
            </a:extLst>
          </p:cNvPr>
          <p:cNvSpPr>
            <a:spLocks noGrp="1"/>
          </p:cNvSpPr>
          <p:nvPr>
            <p:ph type="body" sz="quarter" idx="11" hasCustomPrompt="1"/>
          </p:nvPr>
        </p:nvSpPr>
        <p:spPr>
          <a:xfrm>
            <a:off x="4173001" y="5019584"/>
            <a:ext cx="3845984" cy="555922"/>
          </a:xfrm>
        </p:spPr>
        <p:txBody>
          <a:bodyPr>
            <a:normAutofit/>
          </a:bodyPr>
          <a:lstStyle>
            <a:lvl1pPr marL="0" indent="0" algn="ctr">
              <a:buNone/>
              <a:defRPr sz="2000" b="1"/>
            </a:lvl1pPr>
          </a:lstStyle>
          <a:p>
            <a:pPr lvl="0"/>
            <a:r>
              <a:rPr lang="en-US" dirty="0"/>
              <a:t>January 1, 2018</a:t>
            </a:r>
          </a:p>
        </p:txBody>
      </p:sp>
      <p:sp>
        <p:nvSpPr>
          <p:cNvPr id="16" name="Text Placeholder 15">
            <a:extLst>
              <a:ext uri="{FF2B5EF4-FFF2-40B4-BE49-F238E27FC236}">
                <a16:creationId xmlns:a16="http://schemas.microsoft.com/office/drawing/2014/main" id="{678850A6-F8A6-4A0B-B3FD-B128F2AAAD0E}"/>
              </a:ext>
            </a:extLst>
          </p:cNvPr>
          <p:cNvSpPr>
            <a:spLocks noGrp="1"/>
          </p:cNvSpPr>
          <p:nvPr>
            <p:ph type="body" sz="quarter" idx="12" hasCustomPrompt="1"/>
          </p:nvPr>
        </p:nvSpPr>
        <p:spPr>
          <a:xfrm>
            <a:off x="914398" y="2651537"/>
            <a:ext cx="10363199" cy="415925"/>
          </a:xfrm>
        </p:spPr>
        <p:txBody>
          <a:bodyPr>
            <a:normAutofit/>
          </a:bodyPr>
          <a:lstStyle>
            <a:lvl1pPr marL="0" indent="0" algn="ctr">
              <a:buNone/>
              <a:defRPr sz="1600"/>
            </a:lvl1pPr>
          </a:lstStyle>
          <a:p>
            <a:pPr lvl="0"/>
            <a:r>
              <a:rPr lang="en-US" dirty="0"/>
              <a:t>Affiliation 1 &amp; Affiliation 2</a:t>
            </a:r>
            <a:endParaRPr lang="uk-UA" dirty="0"/>
          </a:p>
        </p:txBody>
      </p:sp>
    </p:spTree>
    <p:extLst>
      <p:ext uri="{BB962C8B-B14F-4D97-AF65-F5344CB8AC3E}">
        <p14:creationId xmlns:p14="http://schemas.microsoft.com/office/powerpoint/2010/main" val="400623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0542" y="1"/>
            <a:ext cx="11450917" cy="1165085"/>
          </a:xfrm>
        </p:spPr>
        <p:txBody>
          <a:bodyPr>
            <a:normAutofit/>
          </a:bodyPr>
          <a:lstStyle>
            <a:lvl1pPr>
              <a:defRPr sz="3000" b="1"/>
            </a:lvl1pPr>
          </a:lstStyle>
          <a:p>
            <a:r>
              <a:rPr lang="en-US" dirty="0"/>
              <a:t>Slide title</a:t>
            </a:r>
          </a:p>
        </p:txBody>
      </p:sp>
      <p:sp>
        <p:nvSpPr>
          <p:cNvPr id="3" name="Content Placeholder 2"/>
          <p:cNvSpPr>
            <a:spLocks noGrp="1"/>
          </p:cNvSpPr>
          <p:nvPr>
            <p:ph idx="1"/>
          </p:nvPr>
        </p:nvSpPr>
        <p:spPr>
          <a:xfrm>
            <a:off x="370542" y="1165086"/>
            <a:ext cx="11450917" cy="5065379"/>
          </a:xfrm>
        </p:spPr>
        <p:txBody>
          <a:bodyPr/>
          <a:lstStyle>
            <a:lvl1pPr>
              <a:defRPr sz="2600"/>
            </a:lvl1pPr>
            <a:lvl2pPr>
              <a:defRPr sz="2200"/>
            </a:lvl2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10"/>
          </p:nvPr>
        </p:nvSpPr>
        <p:spPr>
          <a:xfrm>
            <a:off x="358589" y="6356351"/>
            <a:ext cx="1733177" cy="365125"/>
          </a:xfrm>
          <a:prstGeom prst="rect">
            <a:avLst/>
          </a:prstGeom>
        </p:spPr>
        <p:txBody>
          <a:bodyPr/>
          <a:lstStyle>
            <a:lvl1pPr>
              <a:defRPr sz="1800"/>
            </a:lvl1pPr>
          </a:lstStyle>
          <a:p>
            <a:r>
              <a:rPr lang="uk-UA" dirty="0"/>
              <a:t>16.05.2018</a:t>
            </a:r>
          </a:p>
        </p:txBody>
      </p:sp>
      <p:sp>
        <p:nvSpPr>
          <p:cNvPr id="5" name="Footer Placeholder 4"/>
          <p:cNvSpPr>
            <a:spLocks noGrp="1"/>
          </p:cNvSpPr>
          <p:nvPr>
            <p:ph type="ftr" sz="quarter" idx="11"/>
          </p:nvPr>
        </p:nvSpPr>
        <p:spPr>
          <a:xfrm>
            <a:off x="2211295" y="6356351"/>
            <a:ext cx="7769411" cy="365125"/>
          </a:xfrm>
          <a:prstGeom prst="rect">
            <a:avLst/>
          </a:prstGeom>
        </p:spPr>
        <p:txBody>
          <a:bodyPr/>
          <a:lstStyle>
            <a:lvl1pPr>
              <a:defRPr sz="1800"/>
            </a:lvl1pPr>
          </a:lstStyle>
          <a:p>
            <a:r>
              <a:rPr lang="en-US" dirty="0"/>
              <a:t>Lattice-based QCD equation of state at finite baryon density</a:t>
            </a:r>
            <a:endParaRPr lang="uk-UA" dirty="0"/>
          </a:p>
        </p:txBody>
      </p:sp>
      <p:cxnSp>
        <p:nvCxnSpPr>
          <p:cNvPr id="8" name="Прямая соединительная линия 7">
            <a:extLst>
              <a:ext uri="{FF2B5EF4-FFF2-40B4-BE49-F238E27FC236}">
                <a16:creationId xmlns:a16="http://schemas.microsoft.com/office/drawing/2014/main" id="{E330716B-4A30-42ED-9EE2-313B727AF872}"/>
              </a:ext>
            </a:extLst>
          </p:cNvPr>
          <p:cNvCxnSpPr>
            <a:cxnSpLocks/>
          </p:cNvCxnSpPr>
          <p:nvPr userDrawn="1"/>
        </p:nvCxnSpPr>
        <p:spPr>
          <a:xfrm>
            <a:off x="525930" y="941290"/>
            <a:ext cx="11295529" cy="0"/>
          </a:xfrm>
          <a:prstGeom prst="line">
            <a:avLst/>
          </a:prstGeom>
          <a:ln w="38100" cap="rnd">
            <a:solidFill>
              <a:schemeClr val="accent1">
                <a:lumMod val="75000"/>
              </a:schemeClr>
            </a:solidFill>
            <a:miter lim="800000"/>
            <a:headEnd type="none"/>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6AE6D348-82C6-4292-BBB3-9B6596DDBA2C}"/>
              </a:ext>
            </a:extLst>
          </p:cNvPr>
          <p:cNvSpPr>
            <a:spLocks noGrp="1"/>
          </p:cNvSpPr>
          <p:nvPr>
            <p:ph type="body" sz="quarter" idx="12" hasCustomPrompt="1"/>
          </p:nvPr>
        </p:nvSpPr>
        <p:spPr>
          <a:xfrm>
            <a:off x="10679331" y="6467291"/>
            <a:ext cx="1142128" cy="340472"/>
          </a:xfrm>
        </p:spPr>
        <p:txBody>
          <a:bodyPr/>
          <a:lstStyle>
            <a:lvl1pPr marL="0" indent="0" algn="r">
              <a:buNone/>
              <a:defRPr sz="1800">
                <a:solidFill>
                  <a:schemeClr val="bg1">
                    <a:lumMod val="50000"/>
                  </a:schemeClr>
                </a:solidFill>
              </a:defRPr>
            </a:lvl1pPr>
          </a:lstStyle>
          <a:p>
            <a:pPr lvl="0"/>
            <a:r>
              <a:rPr lang="en-US" dirty="0"/>
              <a:t>1/16</a:t>
            </a:r>
            <a:endParaRPr lang="uk-UA" dirty="0"/>
          </a:p>
        </p:txBody>
      </p:sp>
    </p:spTree>
    <p:extLst>
      <p:ext uri="{BB962C8B-B14F-4D97-AF65-F5344CB8AC3E}">
        <p14:creationId xmlns:p14="http://schemas.microsoft.com/office/powerpoint/2010/main" val="290397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ru-RU" dirty="0"/>
              <a:t>Образец заголовка</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5" name="Footer Placeholder 4"/>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7" name="TextBox 6">
            <a:extLst>
              <a:ext uri="{FF2B5EF4-FFF2-40B4-BE49-F238E27FC236}">
                <a16:creationId xmlns:a16="http://schemas.microsoft.com/office/drawing/2014/main" id="{5B8B6DC0-C439-4E9C-83A1-0864A66907B2}"/>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3939267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6" name="Footer Placeholder 5"/>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8" name="TextBox 7">
            <a:extLst>
              <a:ext uri="{FF2B5EF4-FFF2-40B4-BE49-F238E27FC236}">
                <a16:creationId xmlns:a16="http://schemas.microsoft.com/office/drawing/2014/main" id="{92CBFA41-6503-4670-A030-C4026C269157}"/>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2715139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9"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1"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8" name="Footer Placeholder 7"/>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10" name="TextBox 9">
            <a:extLst>
              <a:ext uri="{FF2B5EF4-FFF2-40B4-BE49-F238E27FC236}">
                <a16:creationId xmlns:a16="http://schemas.microsoft.com/office/drawing/2014/main" id="{BC605502-1E5D-40B4-9172-D712644FEDD1}"/>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2620415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4" name="Footer Placeholder 3"/>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6" name="TextBox 5">
            <a:extLst>
              <a:ext uri="{FF2B5EF4-FFF2-40B4-BE49-F238E27FC236}">
                <a16:creationId xmlns:a16="http://schemas.microsoft.com/office/drawing/2014/main" id="{57863152-FD27-4939-832D-B860C6DB12A5}"/>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mn-lt"/>
              </a:rPr>
              <a:t>/16</a:t>
            </a:r>
            <a:endParaRPr lang="uk-UA" sz="1800" dirty="0">
              <a:solidFill>
                <a:schemeClr val="bg1">
                  <a:lumMod val="50000"/>
                </a:schemeClr>
              </a:solidFill>
              <a:latin typeface="+mn-lt"/>
            </a:endParaRPr>
          </a:p>
        </p:txBody>
      </p:sp>
    </p:spTree>
    <p:extLst>
      <p:ext uri="{BB962C8B-B14F-4D97-AF65-F5344CB8AC3E}">
        <p14:creationId xmlns:p14="http://schemas.microsoft.com/office/powerpoint/2010/main" val="625027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3" name="Footer Placeholder 2"/>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Tree>
    <p:extLst>
      <p:ext uri="{BB962C8B-B14F-4D97-AF65-F5344CB8AC3E}">
        <p14:creationId xmlns:p14="http://schemas.microsoft.com/office/powerpoint/2010/main" val="1012853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6" name="Footer Placeholder 5"/>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8" name="TextBox 7">
            <a:extLst>
              <a:ext uri="{FF2B5EF4-FFF2-40B4-BE49-F238E27FC236}">
                <a16:creationId xmlns:a16="http://schemas.microsoft.com/office/drawing/2014/main" id="{7BC18BA5-E72A-4B8B-9830-A8FD3E323A65}"/>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199611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6" name="Footer Placeholder 5"/>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8" name="TextBox 7">
            <a:extLst>
              <a:ext uri="{FF2B5EF4-FFF2-40B4-BE49-F238E27FC236}">
                <a16:creationId xmlns:a16="http://schemas.microsoft.com/office/drawing/2014/main" id="{566E4F29-ED37-4848-985D-7E7F13267723}"/>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788674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5" name="Footer Placeholder 4"/>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7" name="TextBox 6">
            <a:extLst>
              <a:ext uri="{FF2B5EF4-FFF2-40B4-BE49-F238E27FC236}">
                <a16:creationId xmlns:a16="http://schemas.microsoft.com/office/drawing/2014/main" id="{EB9EB41E-26C4-40E9-BDFE-31AA4607F9C9}"/>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3641980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358588" y="6356351"/>
            <a:ext cx="2743200" cy="365125"/>
          </a:xfrm>
          <a:prstGeom prst="rect">
            <a:avLst/>
          </a:prstGeom>
        </p:spPr>
        <p:txBody>
          <a:bodyPr/>
          <a:lstStyle/>
          <a:p>
            <a:r>
              <a:rPr lang="uk-UA"/>
              <a:t>16.05.2018</a:t>
            </a:r>
          </a:p>
        </p:txBody>
      </p:sp>
      <p:sp>
        <p:nvSpPr>
          <p:cNvPr id="5" name="Footer Placeholder 4"/>
          <p:cNvSpPr>
            <a:spLocks noGrp="1"/>
          </p:cNvSpPr>
          <p:nvPr>
            <p:ph type="ftr" sz="quarter" idx="11"/>
          </p:nvPr>
        </p:nvSpPr>
        <p:spPr>
          <a:xfrm>
            <a:off x="3370730" y="6356352"/>
            <a:ext cx="5414681" cy="365125"/>
          </a:xfrm>
          <a:prstGeom prst="rect">
            <a:avLst/>
          </a:prstGeom>
        </p:spPr>
        <p:txBody>
          <a:bodyPr/>
          <a:lstStyle/>
          <a:p>
            <a:r>
              <a:rPr lang="en-US"/>
              <a:t>Lattice-based QCD equation of state at finite baryon density</a:t>
            </a:r>
            <a:endParaRPr lang="uk-UA"/>
          </a:p>
        </p:txBody>
      </p:sp>
      <p:sp>
        <p:nvSpPr>
          <p:cNvPr id="7" name="TextBox 6">
            <a:extLst>
              <a:ext uri="{FF2B5EF4-FFF2-40B4-BE49-F238E27FC236}">
                <a16:creationId xmlns:a16="http://schemas.microsoft.com/office/drawing/2014/main" id="{28E0C373-8171-4426-B0B4-D377060F6819}"/>
              </a:ext>
            </a:extLst>
          </p:cNvPr>
          <p:cNvSpPr txBox="1"/>
          <p:nvPr userDrawn="1"/>
        </p:nvSpPr>
        <p:spPr>
          <a:xfrm>
            <a:off x="10399058" y="6374886"/>
            <a:ext cx="1410447" cy="369332"/>
          </a:xfrm>
          <a:prstGeom prst="rect">
            <a:avLst/>
          </a:prstGeom>
          <a:noFill/>
        </p:spPr>
        <p:txBody>
          <a:bodyPr wrap="square" rtlCol="0">
            <a:spAutoFit/>
          </a:bodyPr>
          <a:lstStyle/>
          <a:p>
            <a:pPr algn="r"/>
            <a:fld id="{F756D04E-A8B2-4ECC-B16F-BDE426F97B99}" type="slidenum">
              <a:rPr lang="uk-UA" sz="1800" smtClean="0">
                <a:solidFill>
                  <a:schemeClr val="bg1">
                    <a:lumMod val="50000"/>
                  </a:schemeClr>
                </a:solidFill>
              </a:rPr>
              <a:pPr algn="r"/>
              <a:t>‹#›</a:t>
            </a:fld>
            <a:r>
              <a:rPr lang="en-US" sz="1800" dirty="0">
                <a:solidFill>
                  <a:schemeClr val="bg1">
                    <a:lumMod val="50000"/>
                  </a:schemeClr>
                </a:solidFill>
                <a:latin typeface="Gill Sans MT" panose="020B0502020104020203" pitchFamily="34" charset="0"/>
              </a:rPr>
              <a:t>/15</a:t>
            </a:r>
            <a:endParaRPr lang="uk-UA" sz="1800" dirty="0">
              <a:solidFill>
                <a:schemeClr val="bg1">
                  <a:lumMod val="50000"/>
                </a:schemeClr>
              </a:solidFill>
            </a:endParaRPr>
          </a:p>
        </p:txBody>
      </p:sp>
    </p:spTree>
    <p:extLst>
      <p:ext uri="{BB962C8B-B14F-4D97-AF65-F5344CB8AC3E}">
        <p14:creationId xmlns:p14="http://schemas.microsoft.com/office/powerpoint/2010/main" val="2512574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8589" y="365127"/>
            <a:ext cx="11486777" cy="1325563"/>
          </a:xfrm>
          <a:prstGeom prst="rect">
            <a:avLst/>
          </a:prstGeom>
        </p:spPr>
        <p:txBody>
          <a:bodyPr vert="horz" lIns="91440" tIns="45720" rIns="91440" bIns="45720" rtlCol="0" anchor="ctr">
            <a:normAutofit/>
          </a:bodyPr>
          <a:lstStyle/>
          <a:p>
            <a:r>
              <a:rPr lang="en-US" dirty="0"/>
              <a:t>Title</a:t>
            </a:r>
          </a:p>
        </p:txBody>
      </p:sp>
      <p:sp>
        <p:nvSpPr>
          <p:cNvPr id="3" name="Text Placeholder 2"/>
          <p:cNvSpPr>
            <a:spLocks noGrp="1"/>
          </p:cNvSpPr>
          <p:nvPr>
            <p:ph type="body" idx="1"/>
          </p:nvPr>
        </p:nvSpPr>
        <p:spPr>
          <a:xfrm>
            <a:off x="358589" y="1825625"/>
            <a:ext cx="11486777" cy="4351338"/>
          </a:xfrm>
          <a:prstGeom prst="rect">
            <a:avLst/>
          </a:prstGeom>
        </p:spPr>
        <p:txBody>
          <a:bodyPr vert="horz" lIns="91440" tIns="45720" rIns="91440" bIns="45720" rtlCol="0">
            <a:normAutofit/>
          </a:bodyPr>
          <a:lstStyle/>
          <a:p>
            <a:pPr lvl="0"/>
            <a:r>
              <a:rPr lang="en-US" dirty="0"/>
              <a:t>Text sample</a:t>
            </a:r>
            <a:endParaRPr lang="ru-RU" dirty="0"/>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358589" y="6356351"/>
            <a:ext cx="1769036" cy="365125"/>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uk-UA" dirty="0"/>
              <a:t>16.05.2018</a:t>
            </a:r>
          </a:p>
        </p:txBody>
      </p:sp>
      <p:sp>
        <p:nvSpPr>
          <p:cNvPr id="5" name="Footer Placeholder 4"/>
          <p:cNvSpPr>
            <a:spLocks noGrp="1"/>
          </p:cNvSpPr>
          <p:nvPr>
            <p:ph type="ftr" sz="quarter" idx="3"/>
          </p:nvPr>
        </p:nvSpPr>
        <p:spPr>
          <a:xfrm>
            <a:off x="2545975" y="6356350"/>
            <a:ext cx="7853083" cy="365125"/>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dirty="0"/>
              <a:t>Lattice-based QCD equation of state at finite baryon density</a:t>
            </a:r>
            <a:endParaRPr lang="uk-UA" dirty="0"/>
          </a:p>
        </p:txBody>
      </p:sp>
    </p:spTree>
    <p:extLst>
      <p:ext uri="{BB962C8B-B14F-4D97-AF65-F5344CB8AC3E}">
        <p14:creationId xmlns:p14="http://schemas.microsoft.com/office/powerpoint/2010/main" val="3156810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vovchenko@uh.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vovchenko.net/computational-physics" TargetMode="External"/><Relationship Id="rId5" Type="http://schemas.openxmlformats.org/officeDocument/2006/relationships/hyperlink" Target="https://github.com/vlvovch/PHYS6350-ComputationalPhysics/tree/nustea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gif"/><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7.gif"/><Relationship Id="rId4" Type="http://schemas.openxmlformats.org/officeDocument/2006/relationships/image" Target="../media/image14.gif"/></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gif"/></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gif"/></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5.gif"/></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gif"/><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2.gif"/><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3.gif"/><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11.gif"/><Relationship Id="rId1" Type="http://schemas.openxmlformats.org/officeDocument/2006/relationships/slideLayout" Target="../slideLayouts/slideLayout2.xml"/><Relationship Id="rId4" Type="http://schemas.openxmlformats.org/officeDocument/2006/relationships/image" Target="../media/image3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370.png"/><Relationship Id="rId7" Type="http://schemas.openxmlformats.org/officeDocument/2006/relationships/image" Target="../media/image40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370.png"/><Relationship Id="rId7" Type="http://schemas.openxmlformats.org/officeDocument/2006/relationships/image" Target="../media/image40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image" Target="../media/image76.png"/></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49.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2.png"/><Relationship Id="rId7" Type="http://schemas.openxmlformats.org/officeDocument/2006/relationships/image" Target="../media/image8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9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55.xml.rels><?xml version="1.0" encoding="UTF-8" standalone="yes"?>
<Relationships xmlns="http://schemas.openxmlformats.org/package/2006/relationships"><Relationship Id="rId3" Type="http://schemas.openxmlformats.org/officeDocument/2006/relationships/image" Target="../media/image420.png"/><Relationship Id="rId7" Type="http://schemas.openxmlformats.org/officeDocument/2006/relationships/image" Target="../media/image9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59.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102.png"/><Relationship Id="rId4" Type="http://schemas.openxmlformats.org/officeDocument/2006/relationships/image" Target="../media/image101.png"/></Relationships>
</file>

<file path=ppt/slides/_rels/slide6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6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6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11.png"/></Relationships>
</file>

<file path=ppt/slides/_rels/slide63.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11.png"/><Relationship Id="rId4" Type="http://schemas.openxmlformats.org/officeDocument/2006/relationships/image" Target="../media/image112.png"/></Relationships>
</file>

<file path=ppt/slides/_rels/slide64.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15.png"/><Relationship Id="rId4" Type="http://schemas.openxmlformats.org/officeDocument/2006/relationships/image" Target="../media/image114.png"/></Relationships>
</file>

<file path=ppt/slides/_rels/slide65.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6.png"/><Relationship Id="rId7" Type="http://schemas.openxmlformats.org/officeDocument/2006/relationships/image" Target="../media/image11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8.png"/><Relationship Id="rId10" Type="http://schemas.openxmlformats.org/officeDocument/2006/relationships/image" Target="NULL"/><Relationship Id="rId4" Type="http://schemas.openxmlformats.org/officeDocument/2006/relationships/image" Target="../media/image117.png"/><Relationship Id="rId9" Type="http://schemas.openxmlformats.org/officeDocument/2006/relationships/image" Target="NULL"/></Relationships>
</file>

<file path=ppt/slides/_rels/slide6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22.png"/><Relationship Id="rId3" Type="http://schemas.openxmlformats.org/officeDocument/2006/relationships/image" Target="../media/image119.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21.png"/><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6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6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5.png"/><Relationship Id="rId7" Type="http://schemas.openxmlformats.org/officeDocument/2006/relationships/image" Target="../media/image12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27.png"/><Relationship Id="rId4" Type="http://schemas.openxmlformats.org/officeDocument/2006/relationships/image" Target="../media/image126.png"/><Relationship Id="rId9" Type="http://schemas.openxmlformats.org/officeDocument/2006/relationships/image" Target="../media/image130.png"/></Relationships>
</file>

<file path=ppt/slides/_rels/slide7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31.png"/><Relationship Id="rId4" Type="http://schemas.openxmlformats.org/officeDocument/2006/relationships/image" Target="../media/image129.png"/></Relationships>
</file>

<file path=ppt/slides/_rels/slide7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73.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39.png"/><Relationship Id="rId7" Type="http://schemas.openxmlformats.org/officeDocument/2006/relationships/image" Target="../media/image14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50.png"/><Relationship Id="rId5" Type="http://schemas.openxmlformats.org/officeDocument/2006/relationships/image" Target="../media/image143.png"/><Relationship Id="rId10" Type="http://schemas.openxmlformats.org/officeDocument/2006/relationships/image" Target="../media/image149.png"/><Relationship Id="rId4" Type="http://schemas.openxmlformats.org/officeDocument/2006/relationships/image" Target="../media/image142.png"/><Relationship Id="rId9" Type="http://schemas.openxmlformats.org/officeDocument/2006/relationships/image" Target="../media/image14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s>
</file>

<file path=ppt/slides/_rels/slide76.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4.svg"/><Relationship Id="rId7" Type="http://schemas.openxmlformats.org/officeDocument/2006/relationships/image" Target="../media/image161.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svg"/><Relationship Id="rId4" Type="http://schemas.openxmlformats.org/officeDocument/2006/relationships/image" Target="../media/image158.png"/><Relationship Id="rId9" Type="http://schemas.openxmlformats.org/officeDocument/2006/relationships/image" Target="../media/image162.png"/></Relationships>
</file>

<file path=ppt/slides/_rels/slide78.xml.rels><?xml version="1.0" encoding="UTF-8" standalone="yes"?>
<Relationships xmlns="http://schemas.openxmlformats.org/package/2006/relationships"><Relationship Id="rId8" Type="http://schemas.openxmlformats.org/officeDocument/2006/relationships/image" Target="../media/image166.svg"/><Relationship Id="rId3" Type="http://schemas.openxmlformats.org/officeDocument/2006/relationships/image" Target="../media/image12.png"/><Relationship Id="rId7" Type="http://schemas.openxmlformats.org/officeDocument/2006/relationships/image" Target="../media/image165.png"/><Relationship Id="rId12" Type="http://schemas.openxmlformats.org/officeDocument/2006/relationships/image" Target="../media/image720.png"/><Relationship Id="rId2" Type="http://schemas.openxmlformats.org/officeDocument/2006/relationships/image" Target="../media/image660.png"/><Relationship Id="rId1" Type="http://schemas.openxmlformats.org/officeDocument/2006/relationships/slideLayout" Target="../slideLayouts/slideLayout2.xml"/><Relationship Id="rId6" Type="http://schemas.openxmlformats.org/officeDocument/2006/relationships/image" Target="../media/image164.svg"/><Relationship Id="rId11" Type="http://schemas.openxmlformats.org/officeDocument/2006/relationships/image" Target="../media/image169.svg"/><Relationship Id="rId5" Type="http://schemas.openxmlformats.org/officeDocument/2006/relationships/image" Target="../media/image163.png"/><Relationship Id="rId10" Type="http://schemas.openxmlformats.org/officeDocument/2006/relationships/image" Target="../media/image168.png"/><Relationship Id="rId4" Type="http://schemas.openxmlformats.org/officeDocument/2006/relationships/image" Target="../media/image13.svg"/><Relationship Id="rId9" Type="http://schemas.openxmlformats.org/officeDocument/2006/relationships/image" Target="../media/image167.png"/></Relationships>
</file>

<file path=ppt/slides/_rels/slide7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8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73.pn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44.xml"/><Relationship Id="rId16" Type="http://schemas.openxmlformats.org/officeDocument/2006/relationships/image" Target="../media/image175.png"/><Relationship Id="rId1" Type="http://schemas.openxmlformats.org/officeDocument/2006/relationships/slideLayout" Target="../slideLayouts/slideLayout2.xml"/><Relationship Id="rId6" Type="http://schemas.openxmlformats.org/officeDocument/2006/relationships/image" Target="../media/image170.png"/><Relationship Id="rId11" Type="http://schemas.openxmlformats.org/officeDocument/2006/relationships/image" Target="../media/image172.png"/><Relationship Id="rId5" Type="http://schemas.openxmlformats.org/officeDocument/2006/relationships/image" Target="NULL"/><Relationship Id="rId15" Type="http://schemas.openxmlformats.org/officeDocument/2006/relationships/image" Target="../media/image174.png"/><Relationship Id="rId10" Type="http://schemas.openxmlformats.org/officeDocument/2006/relationships/image" Target="../media/image171.png"/><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8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77.png"/></Relationships>
</file>

<file path=ppt/slides/_rels/slide82.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NUL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NULL"/><Relationship Id="rId4" Type="http://schemas.openxmlformats.org/officeDocument/2006/relationships/image" Target="../media/image179.png"/></Relationships>
</file>

<file path=ppt/slides/_rels/slide83.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16B3BB-760D-4483-898C-0AAFC2D2C5FF}"/>
              </a:ext>
            </a:extLst>
          </p:cNvPr>
          <p:cNvSpPr>
            <a:spLocks noGrp="1"/>
          </p:cNvSpPr>
          <p:nvPr>
            <p:ph type="ctrTitle"/>
          </p:nvPr>
        </p:nvSpPr>
        <p:spPr>
          <a:xfrm>
            <a:off x="1518129" y="861587"/>
            <a:ext cx="9155737" cy="1403733"/>
          </a:xfrm>
        </p:spPr>
        <p:txBody>
          <a:bodyPr>
            <a:normAutofit/>
          </a:bodyPr>
          <a:lstStyle/>
          <a:p>
            <a:r>
              <a:rPr lang="en-US" sz="3200" dirty="0"/>
              <a:t>Computational Physics @ </a:t>
            </a:r>
            <a:r>
              <a:rPr lang="en-US" sz="3200" dirty="0" err="1"/>
              <a:t>NuSTEAM</a:t>
            </a:r>
            <a:endParaRPr lang="uk-UA" sz="3200" dirty="0">
              <a:latin typeface="+mn-lt"/>
            </a:endParaRPr>
          </a:p>
        </p:txBody>
      </p:sp>
      <p:sp>
        <p:nvSpPr>
          <p:cNvPr id="5" name="Subtitle 4">
            <a:extLst>
              <a:ext uri="{FF2B5EF4-FFF2-40B4-BE49-F238E27FC236}">
                <a16:creationId xmlns:a16="http://schemas.microsoft.com/office/drawing/2014/main" id="{CF5CCB10-5F85-4A67-A582-0AB3D4C70AE8}"/>
              </a:ext>
            </a:extLst>
          </p:cNvPr>
          <p:cNvSpPr>
            <a:spLocks noGrp="1"/>
          </p:cNvSpPr>
          <p:nvPr>
            <p:ph type="subTitle" idx="1"/>
          </p:nvPr>
        </p:nvSpPr>
        <p:spPr>
          <a:xfrm>
            <a:off x="2209793" y="5152843"/>
            <a:ext cx="7772399" cy="555922"/>
          </a:xfrm>
        </p:spPr>
        <p:txBody>
          <a:bodyPr>
            <a:normAutofit/>
          </a:bodyPr>
          <a:lstStyle/>
          <a:p>
            <a:r>
              <a:rPr lang="en-US" b="1" dirty="0">
                <a:latin typeface="LM Sans 10" panose="00000500000000000000" pitchFamily="50" charset="0"/>
              </a:rPr>
              <a:t>Instructor:</a:t>
            </a:r>
            <a:r>
              <a:rPr lang="en-US" dirty="0">
                <a:latin typeface="LM Sans 10" panose="00000500000000000000" pitchFamily="50" charset="0"/>
              </a:rPr>
              <a:t> Volodymyr Vovchenko (</a:t>
            </a:r>
            <a:r>
              <a:rPr lang="en-US" dirty="0">
                <a:latin typeface="LM Sans 10" panose="00000500000000000000" pitchFamily="50" charset="0"/>
                <a:hlinkClick r:id="rId3"/>
              </a:rPr>
              <a:t>vvovchenko@uh.edu</a:t>
            </a:r>
            <a:r>
              <a:rPr lang="en-US" dirty="0">
                <a:latin typeface="LM Sans 10" panose="00000500000000000000" pitchFamily="50" charset="0"/>
              </a:rPr>
              <a:t>)</a:t>
            </a:r>
            <a:endParaRPr lang="uk-UA" dirty="0">
              <a:latin typeface="+mj-lt"/>
            </a:endParaRPr>
          </a:p>
        </p:txBody>
      </p:sp>
      <p:sp>
        <p:nvSpPr>
          <p:cNvPr id="6" name="Text Placeholder 5">
            <a:extLst>
              <a:ext uri="{FF2B5EF4-FFF2-40B4-BE49-F238E27FC236}">
                <a16:creationId xmlns:a16="http://schemas.microsoft.com/office/drawing/2014/main" id="{7665EF24-B924-4E01-A6E6-6BC0EA434E23}"/>
              </a:ext>
            </a:extLst>
          </p:cNvPr>
          <p:cNvSpPr>
            <a:spLocks noGrp="1"/>
          </p:cNvSpPr>
          <p:nvPr>
            <p:ph type="body" sz="quarter" idx="10"/>
          </p:nvPr>
        </p:nvSpPr>
        <p:spPr>
          <a:xfrm>
            <a:off x="1886045" y="2505622"/>
            <a:ext cx="8419909" cy="1750692"/>
          </a:xfrm>
        </p:spPr>
        <p:txBody>
          <a:bodyPr>
            <a:normAutofit/>
          </a:bodyPr>
          <a:lstStyle/>
          <a:p>
            <a:r>
              <a:rPr lang="en-US" sz="2200" dirty="0">
                <a:latin typeface="LM Sans 10" panose="00000500000000000000" pitchFamily="50" charset="0"/>
              </a:rPr>
              <a:t>Lecture 3</a:t>
            </a:r>
          </a:p>
          <a:p>
            <a:pPr marL="342900" indent="-342900" algn="l">
              <a:buFont typeface="Arial" panose="020B0604020202020204" pitchFamily="34" charset="0"/>
              <a:buChar char="•"/>
            </a:pPr>
            <a:r>
              <a:rPr lang="en-US" sz="2200" dirty="0">
                <a:latin typeface="+mj-lt"/>
              </a:rPr>
              <a:t>Non-linear equations</a:t>
            </a:r>
          </a:p>
          <a:p>
            <a:pPr marL="342900" indent="-342900" algn="l">
              <a:buFont typeface="Arial" panose="020B0604020202020204" pitchFamily="34" charset="0"/>
              <a:buChar char="•"/>
            </a:pPr>
            <a:r>
              <a:rPr lang="en-US" sz="2200" dirty="0">
                <a:latin typeface="+mj-lt"/>
              </a:rPr>
              <a:t>Random numbers</a:t>
            </a:r>
            <a:endParaRPr lang="uk-UA" sz="2200" dirty="0">
              <a:latin typeface="+mj-lt"/>
            </a:endParaRPr>
          </a:p>
        </p:txBody>
      </p:sp>
      <p:sp>
        <p:nvSpPr>
          <p:cNvPr id="7" name="Text Placeholder 6">
            <a:extLst>
              <a:ext uri="{FF2B5EF4-FFF2-40B4-BE49-F238E27FC236}">
                <a16:creationId xmlns:a16="http://schemas.microsoft.com/office/drawing/2014/main" id="{1D796605-FB44-46DD-8F22-288AE931FB27}"/>
              </a:ext>
            </a:extLst>
          </p:cNvPr>
          <p:cNvSpPr>
            <a:spLocks noGrp="1"/>
          </p:cNvSpPr>
          <p:nvPr>
            <p:ph type="body" sz="quarter" idx="11"/>
          </p:nvPr>
        </p:nvSpPr>
        <p:spPr>
          <a:xfrm>
            <a:off x="3872000" y="4496616"/>
            <a:ext cx="4447989" cy="415925"/>
          </a:xfrm>
        </p:spPr>
        <p:txBody>
          <a:bodyPr>
            <a:normAutofit/>
          </a:bodyPr>
          <a:lstStyle/>
          <a:p>
            <a:r>
              <a:rPr lang="en-US" dirty="0">
                <a:latin typeface="LM Sans 10" panose="00000500000000000000" pitchFamily="50" charset="0"/>
              </a:rPr>
              <a:t>June 13, 2025</a:t>
            </a:r>
            <a:endParaRPr lang="uk-UA" dirty="0"/>
          </a:p>
        </p:txBody>
      </p:sp>
      <p:pic>
        <p:nvPicPr>
          <p:cNvPr id="11" name="Picture 4">
            <a:extLst>
              <a:ext uri="{FF2B5EF4-FFF2-40B4-BE49-F238E27FC236}">
                <a16:creationId xmlns:a16="http://schemas.microsoft.com/office/drawing/2014/main" id="{7D74D978-C625-42FF-9C54-2ECC393DA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9212" y="656174"/>
            <a:ext cx="753572" cy="6345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4B009D6-3173-C377-CC54-F8BC4A13A7E0}"/>
              </a:ext>
            </a:extLst>
          </p:cNvPr>
          <p:cNvSpPr txBox="1"/>
          <p:nvPr/>
        </p:nvSpPr>
        <p:spPr>
          <a:xfrm>
            <a:off x="559361" y="5806758"/>
            <a:ext cx="11073265" cy="923330"/>
          </a:xfrm>
          <a:prstGeom prst="rect">
            <a:avLst/>
          </a:prstGeom>
          <a:noFill/>
        </p:spPr>
        <p:txBody>
          <a:bodyPr wrap="square">
            <a:spAutoFit/>
          </a:bodyPr>
          <a:lstStyle/>
          <a:p>
            <a:r>
              <a:rPr lang="en-US" kern="150" dirty="0">
                <a:latin typeface="+mj-lt"/>
                <a:ea typeface="Times New Roman" panose="02020603050405020304" pitchFamily="18" charset="0"/>
                <a:cs typeface="Times New Roman" panose="02020603050405020304" pitchFamily="18" charset="0"/>
              </a:rPr>
              <a:t>b</a:t>
            </a:r>
            <a:r>
              <a:rPr lang="en-US" kern="150" dirty="0">
                <a:effectLst/>
                <a:latin typeface="+mj-lt"/>
                <a:ea typeface="Times New Roman" panose="02020603050405020304" pitchFamily="18" charset="0"/>
                <a:cs typeface="Times New Roman" panose="02020603050405020304" pitchFamily="18" charset="0"/>
              </a:rPr>
              <a:t>ased on Computations Physics course at UH </a:t>
            </a:r>
          </a:p>
          <a:p>
            <a:r>
              <a:rPr lang="en-US" b="1" kern="150" dirty="0">
                <a:ea typeface="Times New Roman" panose="02020603050405020304" pitchFamily="18" charset="0"/>
                <a:cs typeface="Times New Roman" panose="02020603050405020304" pitchFamily="18" charset="0"/>
              </a:rPr>
              <a:t>GitHub:</a:t>
            </a:r>
            <a:r>
              <a:rPr lang="en-US" kern="150" dirty="0">
                <a:ea typeface="Times New Roman" panose="02020603050405020304" pitchFamily="18" charset="0"/>
                <a:cs typeface="Times New Roman" panose="02020603050405020304" pitchFamily="18" charset="0"/>
              </a:rPr>
              <a:t> </a:t>
            </a:r>
            <a:r>
              <a:rPr lang="en-US" dirty="0">
                <a:hlinkClick r:id="rId5"/>
              </a:rPr>
              <a:t>https://github.com/vlvovch/PHYS6350-ComputationalPhysics/tree/nusteam</a:t>
            </a:r>
            <a:endParaRPr lang="en-US" dirty="0"/>
          </a:p>
          <a:p>
            <a:r>
              <a:rPr lang="en-US" b="1" kern="150" dirty="0">
                <a:latin typeface="+mj-lt"/>
                <a:ea typeface="Times New Roman" panose="02020603050405020304" pitchFamily="18" charset="0"/>
                <a:cs typeface="Times New Roman" panose="02020603050405020304" pitchFamily="18" charset="0"/>
              </a:rPr>
              <a:t>Online textbook:</a:t>
            </a:r>
            <a:r>
              <a:rPr lang="en-US" kern="150" dirty="0">
                <a:latin typeface="+mj-lt"/>
                <a:ea typeface="Times New Roman" panose="02020603050405020304" pitchFamily="18" charset="0"/>
                <a:cs typeface="Times New Roman" panose="02020603050405020304" pitchFamily="18" charset="0"/>
              </a:rPr>
              <a:t> </a:t>
            </a:r>
            <a:r>
              <a:rPr lang="en-US" kern="150" dirty="0">
                <a:latin typeface="+mj-lt"/>
                <a:ea typeface="Times New Roman" panose="02020603050405020304" pitchFamily="18" charset="0"/>
                <a:cs typeface="Times New Roman" panose="02020603050405020304" pitchFamily="18" charset="0"/>
                <a:hlinkClick r:id="rId6"/>
              </a:rPr>
              <a:t>https://vovchenko.net/computational-physics</a:t>
            </a:r>
            <a:endParaRPr lang="en-US" kern="150" dirty="0">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7535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D769315-FB38-4E43-931B-7B25AE190E83}"/>
              </a:ext>
            </a:extLst>
          </p:cNvPr>
          <p:cNvSpPr txBox="1"/>
          <p:nvPr/>
        </p:nvSpPr>
        <p:spPr>
          <a:xfrm>
            <a:off x="2126055" y="1288100"/>
            <a:ext cx="7939889" cy="707886"/>
          </a:xfrm>
          <a:prstGeom prst="rect">
            <a:avLst/>
          </a:prstGeom>
          <a:noFill/>
        </p:spPr>
        <p:txBody>
          <a:bodyPr wrap="square" rtlCol="0">
            <a:spAutoFit/>
          </a:bodyPr>
          <a:lstStyle/>
          <a:p>
            <a:pPr algn="ctr">
              <a:spcAft>
                <a:spcPts val="600"/>
              </a:spcAft>
            </a:pPr>
            <a:r>
              <a:rPr lang="en-US" sz="4000" dirty="0">
                <a:latin typeface="+mj-lt"/>
              </a:rPr>
              <a:t>Non-linear equations</a:t>
            </a:r>
            <a:endParaRPr lang="uk-UA" sz="4000" dirty="0">
              <a:solidFill>
                <a:schemeClr val="bg1">
                  <a:lumMod val="50000"/>
                </a:schemeClr>
              </a:solidFill>
              <a:latin typeface="+mj-lt"/>
            </a:endParaRPr>
          </a:p>
        </p:txBody>
      </p:sp>
      <p:sp>
        <p:nvSpPr>
          <p:cNvPr id="2" name="TextBox 1">
            <a:extLst>
              <a:ext uri="{FF2B5EF4-FFF2-40B4-BE49-F238E27FC236}">
                <a16:creationId xmlns:a16="http://schemas.microsoft.com/office/drawing/2014/main" id="{65664AA0-20FA-56B1-28D7-3870005B195C}"/>
              </a:ext>
            </a:extLst>
          </p:cNvPr>
          <p:cNvSpPr txBox="1"/>
          <p:nvPr/>
        </p:nvSpPr>
        <p:spPr>
          <a:xfrm>
            <a:off x="784025" y="6316220"/>
            <a:ext cx="7713799" cy="369332"/>
          </a:xfrm>
          <a:prstGeom prst="rect">
            <a:avLst/>
          </a:prstGeom>
          <a:noFill/>
        </p:spPr>
        <p:txBody>
          <a:bodyPr wrap="square">
            <a:spAutoFit/>
          </a:bodyPr>
          <a:lstStyle/>
          <a:p>
            <a:r>
              <a:rPr lang="en-US" b="1" dirty="0" err="1">
                <a:solidFill>
                  <a:srgbClr val="0808FF"/>
                </a:solidFill>
              </a:rPr>
              <a:t>Jupyter</a:t>
            </a:r>
            <a:r>
              <a:rPr lang="en-US" b="1" dirty="0">
                <a:solidFill>
                  <a:srgbClr val="0808FF"/>
                </a:solidFill>
              </a:rPr>
              <a:t> Notebook: </a:t>
            </a:r>
            <a:r>
              <a:rPr lang="en-US" b="1" dirty="0"/>
              <a:t>3_NonlinearEquations_NuSTEAM.ipynb</a:t>
            </a:r>
          </a:p>
        </p:txBody>
      </p:sp>
      <p:pic>
        <p:nvPicPr>
          <p:cNvPr id="3" name="Picture 2">
            <a:extLst>
              <a:ext uri="{FF2B5EF4-FFF2-40B4-BE49-F238E27FC236}">
                <a16:creationId xmlns:a16="http://schemas.microsoft.com/office/drawing/2014/main" id="{3F85032A-CCAD-9849-5E73-12552F52DA00}"/>
              </a:ext>
            </a:extLst>
          </p:cNvPr>
          <p:cNvPicPr>
            <a:picLocks noChangeAspect="1"/>
          </p:cNvPicPr>
          <p:nvPr/>
        </p:nvPicPr>
        <p:blipFill rotWithShape="1">
          <a:blip r:embed="rId2"/>
          <a:srcRect t="5811"/>
          <a:stretch/>
        </p:blipFill>
        <p:spPr>
          <a:xfrm>
            <a:off x="4173604" y="2159301"/>
            <a:ext cx="3844792" cy="2810511"/>
          </a:xfrm>
          <a:prstGeom prst="rect">
            <a:avLst/>
          </a:prstGeom>
        </p:spPr>
      </p:pic>
    </p:spTree>
    <p:extLst>
      <p:ext uri="{BB962C8B-B14F-4D97-AF65-F5344CB8AC3E}">
        <p14:creationId xmlns:p14="http://schemas.microsoft.com/office/powerpoint/2010/main" val="3193881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Non-linear equations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823412" y="1406197"/>
            <a:ext cx="8020337" cy="1107996"/>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Suppose we have an equation </a:t>
            </a:r>
            <a:r>
              <a:rPr lang="en-US" sz="2200" i="1" kern="150" dirty="0">
                <a:effectLst/>
                <a:latin typeface="+mj-lt"/>
                <a:ea typeface="Times New Roman" panose="02020603050405020304" pitchFamily="18" charset="0"/>
                <a:cs typeface="Times New Roman" panose="02020603050405020304" pitchFamily="18" charset="0"/>
              </a:rPr>
              <a:t>f(x) = 0</a:t>
            </a:r>
          </a:p>
          <a:p>
            <a:endParaRPr lang="en-US" sz="2200" kern="150" dirty="0">
              <a:effectLst/>
              <a:latin typeface="+mj-lt"/>
              <a:ea typeface="Times New Roman" panose="02020603050405020304" pitchFamily="18" charset="0"/>
              <a:cs typeface="Times New Roman" panose="02020603050405020304" pitchFamily="18" charset="0"/>
            </a:endParaRPr>
          </a:p>
          <a:p>
            <a:r>
              <a:rPr lang="en-US" sz="2200" kern="150" dirty="0">
                <a:effectLst/>
                <a:latin typeface="+mj-lt"/>
                <a:ea typeface="Times New Roman" panose="02020603050405020304" pitchFamily="18" charset="0"/>
                <a:cs typeface="Times New Roman" panose="02020603050405020304" pitchFamily="18" charset="0"/>
              </a:rPr>
              <a:t>We can evaluate </a:t>
            </a:r>
            <a:r>
              <a:rPr lang="en-US" sz="2200" i="1" kern="150" dirty="0">
                <a:effectLst/>
                <a:latin typeface="+mj-lt"/>
                <a:ea typeface="Times New Roman" panose="02020603050405020304" pitchFamily="18" charset="0"/>
                <a:cs typeface="Times New Roman" panose="02020603050405020304" pitchFamily="18" charset="0"/>
              </a:rPr>
              <a:t>f(x)</a:t>
            </a:r>
            <a:r>
              <a:rPr lang="en-US" sz="2200" kern="150" dirty="0">
                <a:effectLst/>
                <a:latin typeface="+mj-lt"/>
                <a:ea typeface="Times New Roman" panose="02020603050405020304" pitchFamily="18" charset="0"/>
                <a:cs typeface="Times New Roman" panose="02020603050405020304" pitchFamily="18" charset="0"/>
              </a:rPr>
              <a:t>, but we do not know how to solve it for </a:t>
            </a:r>
            <a:r>
              <a:rPr lang="en-US" sz="2200" i="1" kern="150" dirty="0">
                <a:effectLst/>
                <a:latin typeface="+mj-lt"/>
                <a:ea typeface="Times New Roman" panose="02020603050405020304" pitchFamily="18" charset="0"/>
                <a:cs typeface="Times New Roman" panose="02020603050405020304" pitchFamily="18" charset="0"/>
              </a:rPr>
              <a:t>x</a:t>
            </a:r>
          </a:p>
        </p:txBody>
      </p:sp>
      <p:sp>
        <p:nvSpPr>
          <p:cNvPr id="10" name="TextBox 9">
            <a:extLst>
              <a:ext uri="{FF2B5EF4-FFF2-40B4-BE49-F238E27FC236}">
                <a16:creationId xmlns:a16="http://schemas.microsoft.com/office/drawing/2014/main" id="{E9CD514A-3379-B52C-98CA-20502C75E011}"/>
              </a:ext>
            </a:extLst>
          </p:cNvPr>
          <p:cNvSpPr txBox="1"/>
          <p:nvPr/>
        </p:nvSpPr>
        <p:spPr>
          <a:xfrm>
            <a:off x="823411" y="2755304"/>
            <a:ext cx="8861949" cy="2200602"/>
          </a:xfrm>
          <a:prstGeom prst="rect">
            <a:avLst/>
          </a:prstGeom>
          <a:noFill/>
        </p:spPr>
        <p:txBody>
          <a:bodyPr wrap="square">
            <a:spAutoFit/>
          </a:bodyPr>
          <a:lstStyle/>
          <a:p>
            <a:pPr>
              <a:spcAft>
                <a:spcPts val="600"/>
              </a:spcAft>
            </a:pPr>
            <a:r>
              <a:rPr lang="en-US" sz="2200" b="1" dirty="0">
                <a:latin typeface="+mj-lt"/>
              </a:rPr>
              <a:t>Examples:</a:t>
            </a:r>
          </a:p>
          <a:p>
            <a:pPr marL="342900" indent="-342900">
              <a:buFont typeface="Arial" panose="020B0604020202020204" pitchFamily="34" charset="0"/>
              <a:buChar char="•"/>
            </a:pPr>
            <a:r>
              <a:rPr lang="en-US" sz="2200" dirty="0">
                <a:latin typeface="+mj-lt"/>
              </a:rPr>
              <a:t>Roots of high-order polynomials</a:t>
            </a:r>
          </a:p>
          <a:p>
            <a:pPr marL="342900" indent="-342900">
              <a:buFont typeface="Arial" panose="020B0604020202020204" pitchFamily="34" charset="0"/>
              <a:buChar char="•"/>
            </a:pPr>
            <a:endParaRPr lang="en-US" sz="2200" dirty="0">
              <a:latin typeface="+mj-lt"/>
            </a:endParaRPr>
          </a:p>
          <a:p>
            <a:pPr marL="342900" indent="-342900">
              <a:buFont typeface="Arial" panose="020B0604020202020204" pitchFamily="34" charset="0"/>
              <a:buChar char="•"/>
            </a:pPr>
            <a:r>
              <a:rPr lang="en-US" sz="2200" dirty="0">
                <a:latin typeface="+mj-lt"/>
              </a:rPr>
              <a:t>Transcendental equations</a:t>
            </a:r>
          </a:p>
          <a:p>
            <a:pPr marL="342900" indent="-342900">
              <a:buFont typeface="Arial" panose="020B0604020202020204" pitchFamily="34" charset="0"/>
              <a:buChar char="•"/>
            </a:pPr>
            <a:endParaRPr lang="en-US" sz="2200" dirty="0">
              <a:latin typeface="+mj-lt"/>
            </a:endParaRPr>
          </a:p>
          <a:p>
            <a:pPr marL="342900" indent="-342900">
              <a:buFont typeface="Arial" panose="020B0604020202020204" pitchFamily="34" charset="0"/>
              <a:buChar char="•"/>
            </a:pPr>
            <a:r>
              <a:rPr lang="en-US" sz="2200" dirty="0">
                <a:latin typeface="+mj-lt"/>
              </a:rPr>
              <a:t>Implicit ODE/PDE methods</a:t>
            </a:r>
          </a:p>
        </p:txBody>
      </p:sp>
    </p:spTree>
    <p:extLst>
      <p:ext uri="{BB962C8B-B14F-4D97-AF65-F5344CB8AC3E}">
        <p14:creationId xmlns:p14="http://schemas.microsoft.com/office/powerpoint/2010/main" val="4282798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Root-finding techniques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823412" y="1224226"/>
            <a:ext cx="8020337" cy="769441"/>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Numerical root-finding method: </a:t>
            </a:r>
            <a:r>
              <a:rPr lang="en-US" sz="2200" kern="150" dirty="0">
                <a:effectLst/>
                <a:latin typeface="+mj-lt"/>
                <a:ea typeface="Times New Roman" panose="02020603050405020304" pitchFamily="18" charset="0"/>
                <a:cs typeface="Times New Roman" panose="02020603050405020304" pitchFamily="18" charset="0"/>
              </a:rPr>
              <a:t>iterative process to determine the root(s) of non-linear equation(s) to desired accuracy</a:t>
            </a:r>
            <a:endParaRPr lang="en-US" sz="2200" b="1" i="1" kern="150" dirty="0">
              <a:effectLst/>
              <a:latin typeface="+mj-lt"/>
              <a:ea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9CD514A-3379-B52C-98CA-20502C75E011}"/>
              </a:ext>
            </a:extLst>
          </p:cNvPr>
          <p:cNvSpPr txBox="1"/>
          <p:nvPr/>
        </p:nvSpPr>
        <p:spPr>
          <a:xfrm>
            <a:off x="823412" y="2111948"/>
            <a:ext cx="8861949" cy="4570482"/>
          </a:xfrm>
          <a:prstGeom prst="rect">
            <a:avLst/>
          </a:prstGeom>
          <a:noFill/>
        </p:spPr>
        <p:txBody>
          <a:bodyPr wrap="square">
            <a:spAutoFit/>
          </a:bodyPr>
          <a:lstStyle/>
          <a:p>
            <a:pPr>
              <a:spcAft>
                <a:spcPts val="600"/>
              </a:spcAft>
            </a:pPr>
            <a:r>
              <a:rPr lang="en-US" sz="2200" b="1" dirty="0">
                <a:latin typeface="+mj-lt"/>
              </a:rPr>
              <a:t>Types:</a:t>
            </a:r>
          </a:p>
          <a:p>
            <a:pPr marL="342900" indent="-342900">
              <a:buFont typeface="Arial" panose="020B0604020202020204" pitchFamily="34" charset="0"/>
              <a:buChar char="•"/>
            </a:pPr>
            <a:r>
              <a:rPr lang="en-US" sz="2200" dirty="0">
                <a:latin typeface="+mj-lt"/>
              </a:rPr>
              <a:t>Two-point (bracketing)</a:t>
            </a:r>
          </a:p>
          <a:p>
            <a:pPr marL="800100" lvl="1" indent="-342900">
              <a:buFont typeface="Arial" panose="020B0604020202020204" pitchFamily="34" charset="0"/>
              <a:buChar char="•"/>
            </a:pPr>
            <a:r>
              <a:rPr lang="en-US" sz="2200" b="1" dirty="0">
                <a:latin typeface="+mj-lt"/>
              </a:rPr>
              <a:t>Bisection method</a:t>
            </a:r>
          </a:p>
          <a:p>
            <a:pPr marL="800100" lvl="1" indent="-342900">
              <a:buFont typeface="Arial" panose="020B0604020202020204" pitchFamily="34" charset="0"/>
              <a:buChar char="•"/>
            </a:pPr>
            <a:r>
              <a:rPr lang="en-US" sz="2200" dirty="0">
                <a:latin typeface="+mj-lt"/>
              </a:rPr>
              <a:t>False position method (</a:t>
            </a:r>
            <a:r>
              <a:rPr lang="en-US" sz="2200" dirty="0" err="1">
                <a:latin typeface="+mj-lt"/>
              </a:rPr>
              <a:t>regula</a:t>
            </a:r>
            <a:r>
              <a:rPr lang="en-US" sz="2200" dirty="0">
                <a:latin typeface="+mj-lt"/>
              </a:rPr>
              <a:t> </a:t>
            </a:r>
            <a:r>
              <a:rPr lang="en-US" sz="2200" dirty="0" err="1">
                <a:latin typeface="+mj-lt"/>
              </a:rPr>
              <a:t>falsi</a:t>
            </a:r>
            <a:r>
              <a:rPr lang="en-US" sz="2200" dirty="0">
                <a:latin typeface="+mj-lt"/>
              </a:rPr>
              <a:t>)</a:t>
            </a:r>
          </a:p>
          <a:p>
            <a:pPr marL="800100" lvl="1" indent="-342900">
              <a:buFont typeface="Arial" panose="020B0604020202020204" pitchFamily="34" charset="0"/>
              <a:buChar char="•"/>
            </a:pPr>
            <a:endParaRPr lang="en-US" sz="2200" dirty="0">
              <a:latin typeface="+mj-lt"/>
            </a:endParaRPr>
          </a:p>
          <a:p>
            <a:pPr marL="342900" indent="-342900">
              <a:buFont typeface="Arial" panose="020B0604020202020204" pitchFamily="34" charset="0"/>
              <a:buChar char="•"/>
            </a:pPr>
            <a:r>
              <a:rPr lang="en-US" sz="2200" dirty="0">
                <a:latin typeface="+mj-lt"/>
              </a:rPr>
              <a:t>Local</a:t>
            </a:r>
          </a:p>
          <a:p>
            <a:pPr marL="800100" lvl="1" indent="-342900">
              <a:buFont typeface="Arial" panose="020B0604020202020204" pitchFamily="34" charset="0"/>
              <a:buChar char="•"/>
            </a:pPr>
            <a:r>
              <a:rPr lang="en-US" sz="2200" b="1" dirty="0">
                <a:latin typeface="+mj-lt"/>
              </a:rPr>
              <a:t>Secant method</a:t>
            </a:r>
          </a:p>
          <a:p>
            <a:pPr marL="800100" lvl="1" indent="-342900">
              <a:buFont typeface="Arial" panose="020B0604020202020204" pitchFamily="34" charset="0"/>
              <a:buChar char="•"/>
            </a:pPr>
            <a:r>
              <a:rPr lang="en-US" sz="2200" b="1" dirty="0">
                <a:latin typeface="+mj-lt"/>
              </a:rPr>
              <a:t>Newton-Raphson method (using the derivative)</a:t>
            </a:r>
          </a:p>
          <a:p>
            <a:pPr marL="800100" lvl="1" indent="-342900">
              <a:buFont typeface="Arial" panose="020B0604020202020204" pitchFamily="34" charset="0"/>
              <a:buChar char="•"/>
            </a:pPr>
            <a:r>
              <a:rPr lang="en-US" sz="2200" dirty="0">
                <a:latin typeface="+mj-lt"/>
              </a:rPr>
              <a:t>Relaxation method</a:t>
            </a:r>
          </a:p>
          <a:p>
            <a:pPr marL="800100" lvl="1" indent="-342900">
              <a:buFont typeface="Arial" panose="020B0604020202020204" pitchFamily="34" charset="0"/>
              <a:buChar char="•"/>
            </a:pPr>
            <a:endParaRPr lang="en-US" sz="2200" dirty="0">
              <a:latin typeface="+mj-lt"/>
            </a:endParaRPr>
          </a:p>
          <a:p>
            <a:pPr marL="342900" indent="-342900">
              <a:buFont typeface="Arial" panose="020B0604020202020204" pitchFamily="34" charset="0"/>
              <a:buChar char="•"/>
            </a:pPr>
            <a:r>
              <a:rPr lang="en-US" sz="2200" dirty="0">
                <a:latin typeface="+mj-lt"/>
              </a:rPr>
              <a:t>Multi-dimensional</a:t>
            </a:r>
          </a:p>
          <a:p>
            <a:pPr marL="800100" lvl="1" indent="-342900">
              <a:buFont typeface="Arial" panose="020B0604020202020204" pitchFamily="34" charset="0"/>
              <a:buChar char="•"/>
            </a:pPr>
            <a:r>
              <a:rPr lang="en-US" sz="2200" dirty="0">
                <a:latin typeface="+mj-lt"/>
              </a:rPr>
              <a:t>Newton method</a:t>
            </a:r>
          </a:p>
          <a:p>
            <a:pPr marL="800100" lvl="1" indent="-342900">
              <a:buFont typeface="Arial" panose="020B0604020202020204" pitchFamily="34" charset="0"/>
              <a:buChar char="•"/>
            </a:pPr>
            <a:r>
              <a:rPr lang="en-US" sz="2200" dirty="0" err="1">
                <a:latin typeface="+mj-lt"/>
              </a:rPr>
              <a:t>Broyden</a:t>
            </a:r>
            <a:r>
              <a:rPr lang="en-US" sz="2200" dirty="0">
                <a:latin typeface="+mj-lt"/>
              </a:rPr>
              <a:t> method</a:t>
            </a:r>
          </a:p>
        </p:txBody>
      </p:sp>
    </p:spTree>
    <p:extLst>
      <p:ext uri="{BB962C8B-B14F-4D97-AF65-F5344CB8AC3E}">
        <p14:creationId xmlns:p14="http://schemas.microsoft.com/office/powerpoint/2010/main" val="3462250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Non-linear equations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823412" y="1286774"/>
            <a:ext cx="8020337"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Consider an equation</a:t>
            </a:r>
            <a:endParaRPr lang="en-US" sz="2200" i="1" kern="150" dirty="0">
              <a:effectLst/>
              <a:latin typeface="+mj-lt"/>
              <a:ea typeface="Times New Roman" panose="02020603050405020304" pitchFamily="18" charset="0"/>
              <a:cs typeface="Times New Roman" panose="02020603050405020304" pitchFamily="18" charset="0"/>
            </a:endParaRPr>
          </a:p>
        </p:txBody>
      </p:sp>
      <p:pic>
        <p:nvPicPr>
          <p:cNvPr id="6" name="Graphic 5">
            <a:extLst>
              <a:ext uri="{FF2B5EF4-FFF2-40B4-BE49-F238E27FC236}">
                <a16:creationId xmlns:a16="http://schemas.microsoft.com/office/drawing/2014/main" id="{53082247-770E-AB5D-DEA7-EBB02C1BD9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23291" y="1878522"/>
            <a:ext cx="1945415" cy="225090"/>
          </a:xfrm>
          <a:prstGeom prst="rect">
            <a:avLst/>
          </a:prstGeom>
        </p:spPr>
      </p:pic>
      <p:pic>
        <p:nvPicPr>
          <p:cNvPr id="1026" name="Picture 2">
            <a:extLst>
              <a:ext uri="{FF2B5EF4-FFF2-40B4-BE49-F238E27FC236}">
                <a16:creationId xmlns:a16="http://schemas.microsoft.com/office/drawing/2014/main" id="{FBA85C87-AF1E-A579-1782-6985D01890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1094" y="2431097"/>
            <a:ext cx="5409810" cy="3989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95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Bisection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DC2512-C397-B11C-7C44-EDEA4A4446EA}"/>
                  </a:ext>
                </a:extLst>
              </p:cNvPr>
              <p:cNvSpPr txBox="1"/>
              <p:nvPr/>
            </p:nvSpPr>
            <p:spPr>
              <a:xfrm>
                <a:off x="782404" y="1496040"/>
                <a:ext cx="5964075" cy="4154984"/>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Bisection method:</a:t>
                </a: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Find an interval (</a:t>
                </a:r>
                <a:r>
                  <a:rPr lang="en-US" sz="2200" kern="150" dirty="0" err="1">
                    <a:latin typeface="+mj-lt"/>
                    <a:ea typeface="Times New Roman" panose="02020603050405020304" pitchFamily="18" charset="0"/>
                    <a:cs typeface="Times New Roman" panose="02020603050405020304" pitchFamily="18" charset="0"/>
                  </a:rPr>
                  <a:t>a,b</a:t>
                </a:r>
                <a:r>
                  <a:rPr lang="en-US" sz="2200" kern="150" dirty="0">
                    <a:latin typeface="+mj-lt"/>
                    <a:ea typeface="Times New Roman" panose="02020603050405020304" pitchFamily="18" charset="0"/>
                    <a:cs typeface="Times New Roman" panose="02020603050405020304" pitchFamily="18" charset="0"/>
                  </a:rPr>
                  <a:t>) which brackets the root x*</a:t>
                </a:r>
              </a:p>
              <a:p>
                <a:pPr marL="914400" lvl="1" indent="-457200">
                  <a:buFont typeface="Arial" panose="020B0604020202020204" pitchFamily="34" charset="0"/>
                  <a:buChar char="•"/>
                </a:pPr>
                <a:r>
                  <a:rPr lang="en-US" sz="2200" kern="150" dirty="0">
                    <a:effectLst/>
                    <a:latin typeface="+mj-lt"/>
                    <a:ea typeface="Times New Roman" panose="02020603050405020304" pitchFamily="18" charset="0"/>
                    <a:cs typeface="Times New Roman" panose="02020603050405020304" pitchFamily="18" charset="0"/>
                  </a:rPr>
                  <a:t>x* </a:t>
                </a:r>
                <a14:m>
                  <m:oMath xmlns:m="http://schemas.openxmlformats.org/officeDocument/2006/math">
                    <m:r>
                      <a:rPr lang="en-US" sz="2200" i="1" kern="15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2200" kern="150" dirty="0">
                    <a:effectLst/>
                    <a:latin typeface="+mj-lt"/>
                    <a:ea typeface="Times New Roman" panose="02020603050405020304" pitchFamily="18" charset="0"/>
                    <a:cs typeface="Times New Roman" panose="02020603050405020304" pitchFamily="18" charset="0"/>
                  </a:rPr>
                  <a:t> (</a:t>
                </a:r>
                <a:r>
                  <a:rPr lang="en-US" sz="2200" kern="150" dirty="0" err="1">
                    <a:effectLst/>
                    <a:latin typeface="+mj-lt"/>
                    <a:ea typeface="Times New Roman" panose="02020603050405020304" pitchFamily="18" charset="0"/>
                    <a:cs typeface="Times New Roman" panose="02020603050405020304" pitchFamily="18" charset="0"/>
                  </a:rPr>
                  <a:t>a,b</a:t>
                </a:r>
                <a:r>
                  <a:rPr lang="en-US" sz="2200" kern="150" dirty="0">
                    <a:effectLst/>
                    <a:latin typeface="+mj-lt"/>
                    <a:ea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200" kern="150" dirty="0">
                    <a:effectLst/>
                    <a:latin typeface="+mj-lt"/>
                    <a:ea typeface="Times New Roman" panose="02020603050405020304" pitchFamily="18" charset="0"/>
                    <a:cs typeface="Times New Roman" panose="02020603050405020304" pitchFamily="18" charset="0"/>
                  </a:rPr>
                  <a:t>f(a) </a:t>
                </a:r>
                <a:r>
                  <a:rPr lang="en-US" sz="2200" kern="150" dirty="0">
                    <a:latin typeface="+mj-lt"/>
                    <a:ea typeface="Times New Roman" panose="02020603050405020304" pitchFamily="18" charset="0"/>
                    <a:cs typeface="Times New Roman" panose="02020603050405020304" pitchFamily="18" charset="0"/>
                  </a:rPr>
                  <a:t>&amp; f(b) have opposite signs</a:t>
                </a: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Take the midpoint c = (</a:t>
                </a:r>
                <a:r>
                  <a:rPr lang="en-US" sz="2200" kern="150" dirty="0" err="1">
                    <a:latin typeface="+mj-lt"/>
                    <a:ea typeface="Times New Roman" panose="02020603050405020304" pitchFamily="18" charset="0"/>
                    <a:cs typeface="Times New Roman" panose="02020603050405020304" pitchFamily="18" charset="0"/>
                  </a:rPr>
                  <a:t>a+b</a:t>
                </a:r>
                <a:r>
                  <a:rPr lang="en-US" sz="2200" kern="150" dirty="0">
                    <a:latin typeface="+mj-lt"/>
                    <a:ea typeface="Times New Roman" panose="02020603050405020304" pitchFamily="18" charset="0"/>
                    <a:cs typeface="Times New Roman" panose="02020603050405020304" pitchFamily="18" charset="0"/>
                  </a:rPr>
                  <a:t>)/2 and halve the interval bracketing the root</a:t>
                </a: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Repeat the process until the desired precision is achieved</a:t>
                </a:r>
              </a:p>
            </p:txBody>
          </p:sp>
        </mc:Choice>
        <mc:Fallback xmlns="">
          <p:sp>
            <p:nvSpPr>
              <p:cNvPr id="8" name="TextBox 7">
                <a:extLst>
                  <a:ext uri="{FF2B5EF4-FFF2-40B4-BE49-F238E27FC236}">
                    <a16:creationId xmlns:a16="http://schemas.microsoft.com/office/drawing/2014/main" id="{AEDC2512-C397-B11C-7C44-EDEA4A4446EA}"/>
                  </a:ext>
                </a:extLst>
              </p:cNvPr>
              <p:cNvSpPr txBox="1">
                <a:spLocks noRot="1" noChangeAspect="1" noMove="1" noResize="1" noEditPoints="1" noAdjustHandles="1" noChangeArrowheads="1" noChangeShapeType="1" noTextEdit="1"/>
              </p:cNvSpPr>
              <p:nvPr/>
            </p:nvSpPr>
            <p:spPr>
              <a:xfrm>
                <a:off x="782404" y="1496040"/>
                <a:ext cx="5964075" cy="4154984"/>
              </a:xfrm>
              <a:prstGeom prst="rect">
                <a:avLst/>
              </a:prstGeom>
              <a:blipFill>
                <a:blip r:embed="rId2"/>
                <a:stretch>
                  <a:fillRect l="-1941" t="-733" r="-2247" b="-190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FC25051-E050-E3A2-BB4F-B879EBBF3A74}"/>
              </a:ext>
            </a:extLst>
          </p:cNvPr>
          <p:cNvPicPr>
            <a:picLocks noChangeAspect="1"/>
          </p:cNvPicPr>
          <p:nvPr/>
        </p:nvPicPr>
        <p:blipFill>
          <a:blip r:embed="rId3"/>
          <a:stretch>
            <a:fillRect/>
          </a:stretch>
        </p:blipFill>
        <p:spPr>
          <a:xfrm>
            <a:off x="7023975" y="2214851"/>
            <a:ext cx="4385621" cy="3202675"/>
          </a:xfrm>
          <a:prstGeom prst="rect">
            <a:avLst/>
          </a:prstGeom>
        </p:spPr>
      </p:pic>
      <p:sp>
        <p:nvSpPr>
          <p:cNvPr id="10" name="TextBox 9">
            <a:extLst>
              <a:ext uri="{FF2B5EF4-FFF2-40B4-BE49-F238E27FC236}">
                <a16:creationId xmlns:a16="http://schemas.microsoft.com/office/drawing/2014/main" id="{93A2D3B4-13E3-F479-6430-3D74ED1BF320}"/>
              </a:ext>
            </a:extLst>
          </p:cNvPr>
          <p:cNvSpPr txBox="1"/>
          <p:nvPr/>
        </p:nvSpPr>
        <p:spPr>
          <a:xfrm>
            <a:off x="782404" y="5960463"/>
            <a:ext cx="8020337" cy="769441"/>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Method is guaranteed to converge to the root</a:t>
            </a:r>
          </a:p>
          <a:p>
            <a:r>
              <a:rPr lang="en-US" sz="2200" kern="150" dirty="0">
                <a:latin typeface="+mj-lt"/>
                <a:ea typeface="Times New Roman" panose="02020603050405020304" pitchFamily="18" charset="0"/>
                <a:cs typeface="Times New Roman" panose="02020603050405020304" pitchFamily="18" charset="0"/>
              </a:rPr>
              <a:t>The error is halved at each step – “linear” convergence</a:t>
            </a:r>
          </a:p>
        </p:txBody>
      </p:sp>
    </p:spTree>
    <p:extLst>
      <p:ext uri="{BB962C8B-B14F-4D97-AF65-F5344CB8AC3E}">
        <p14:creationId xmlns:p14="http://schemas.microsoft.com/office/powerpoint/2010/main" val="170393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Bisection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1CD530A3-02C6-7D80-BB1C-60426C7C2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4633" y="2060716"/>
            <a:ext cx="4453055" cy="32835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CAB63E5-822B-630F-1A0C-EE9EF5659936}"/>
              </a:ext>
            </a:extLst>
          </p:cNvPr>
          <p:cNvPicPr>
            <a:picLocks noChangeAspect="1"/>
          </p:cNvPicPr>
          <p:nvPr/>
        </p:nvPicPr>
        <p:blipFill>
          <a:blip r:embed="rId3"/>
          <a:stretch>
            <a:fillRect/>
          </a:stretch>
        </p:blipFill>
        <p:spPr>
          <a:xfrm>
            <a:off x="782404" y="5885607"/>
            <a:ext cx="7591418" cy="506095"/>
          </a:xfrm>
          <a:prstGeom prst="rect">
            <a:avLst/>
          </a:prstGeom>
        </p:spPr>
      </p:pic>
      <p:pic>
        <p:nvPicPr>
          <p:cNvPr id="11" name="Graphic 10">
            <a:extLst>
              <a:ext uri="{FF2B5EF4-FFF2-40B4-BE49-F238E27FC236}">
                <a16:creationId xmlns:a16="http://schemas.microsoft.com/office/drawing/2014/main" id="{5069B975-B813-57D6-055E-676FAC4A41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4723" y="1620324"/>
            <a:ext cx="1945415" cy="225090"/>
          </a:xfrm>
          <a:prstGeom prst="rect">
            <a:avLst/>
          </a:prstGeom>
        </p:spPr>
      </p:pic>
      <p:grpSp>
        <p:nvGrpSpPr>
          <p:cNvPr id="5" name="Group 4">
            <a:extLst>
              <a:ext uri="{FF2B5EF4-FFF2-40B4-BE49-F238E27FC236}">
                <a16:creationId xmlns:a16="http://schemas.microsoft.com/office/drawing/2014/main" id="{5A0A3471-75FA-8E34-E737-1DE37D888C5E}"/>
              </a:ext>
            </a:extLst>
          </p:cNvPr>
          <p:cNvGrpSpPr/>
          <p:nvPr/>
        </p:nvGrpSpPr>
        <p:grpSpPr>
          <a:xfrm>
            <a:off x="782404" y="1544124"/>
            <a:ext cx="5988510" cy="4029362"/>
            <a:chOff x="782404" y="1524790"/>
            <a:chExt cx="5738580" cy="3570192"/>
          </a:xfrm>
        </p:grpSpPr>
        <p:pic>
          <p:nvPicPr>
            <p:cNvPr id="4" name="Picture 3">
              <a:extLst>
                <a:ext uri="{FF2B5EF4-FFF2-40B4-BE49-F238E27FC236}">
                  <a16:creationId xmlns:a16="http://schemas.microsoft.com/office/drawing/2014/main" id="{889AA87D-6E01-11A4-4E3C-AA0BA4BDAF53}"/>
                </a:ext>
              </a:extLst>
            </p:cNvPr>
            <p:cNvPicPr>
              <a:picLocks noChangeAspect="1"/>
            </p:cNvPicPr>
            <p:nvPr/>
          </p:nvPicPr>
          <p:blipFill rotWithShape="1">
            <a:blip r:embed="rId6"/>
            <a:srcRect b="63725"/>
            <a:stretch/>
          </p:blipFill>
          <p:spPr>
            <a:xfrm>
              <a:off x="782404" y="1524790"/>
              <a:ext cx="5738580" cy="1501440"/>
            </a:xfrm>
            <a:prstGeom prst="rect">
              <a:avLst/>
            </a:prstGeom>
          </p:spPr>
        </p:pic>
        <p:pic>
          <p:nvPicPr>
            <p:cNvPr id="3" name="Picture 2">
              <a:extLst>
                <a:ext uri="{FF2B5EF4-FFF2-40B4-BE49-F238E27FC236}">
                  <a16:creationId xmlns:a16="http://schemas.microsoft.com/office/drawing/2014/main" id="{2E5D68C7-BB15-6930-A397-830B2F0873FD}"/>
                </a:ext>
              </a:extLst>
            </p:cNvPr>
            <p:cNvPicPr>
              <a:picLocks noChangeAspect="1"/>
            </p:cNvPicPr>
            <p:nvPr/>
          </p:nvPicPr>
          <p:blipFill rotWithShape="1">
            <a:blip r:embed="rId6"/>
            <a:srcRect t="48272"/>
            <a:stretch/>
          </p:blipFill>
          <p:spPr>
            <a:xfrm>
              <a:off x="782404" y="2953943"/>
              <a:ext cx="5738580" cy="2141039"/>
            </a:xfrm>
            <a:prstGeom prst="rect">
              <a:avLst/>
            </a:prstGeom>
          </p:spPr>
        </p:pic>
      </p:grpSp>
    </p:spTree>
    <p:extLst>
      <p:ext uri="{BB962C8B-B14F-4D97-AF65-F5344CB8AC3E}">
        <p14:creationId xmlns:p14="http://schemas.microsoft.com/office/powerpoint/2010/main" val="3851598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Bisection method: how the iterations look like</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8" name="Picture 7" descr="Chart, line chart&#10;&#10;Description automatically generated">
            <a:extLst>
              <a:ext uri="{FF2B5EF4-FFF2-40B4-BE49-F238E27FC236}">
                <a16:creationId xmlns:a16="http://schemas.microsoft.com/office/drawing/2014/main" id="{473CCC26-24FA-E165-465E-422243178871}"/>
              </a:ext>
            </a:extLst>
          </p:cNvPr>
          <p:cNvPicPr>
            <a:picLocks noChangeAspect="1"/>
          </p:cNvPicPr>
          <p:nvPr/>
        </p:nvPicPr>
        <p:blipFill>
          <a:blip r:embed="rId2"/>
          <a:stretch>
            <a:fillRect/>
          </a:stretch>
        </p:blipFill>
        <p:spPr>
          <a:xfrm>
            <a:off x="3048000" y="1716707"/>
            <a:ext cx="6096000" cy="4572000"/>
          </a:xfrm>
          <a:prstGeom prst="rect">
            <a:avLst/>
          </a:prstGeom>
        </p:spPr>
      </p:pic>
      <p:pic>
        <p:nvPicPr>
          <p:cNvPr id="3" name="Graphic 2">
            <a:extLst>
              <a:ext uri="{FF2B5EF4-FFF2-40B4-BE49-F238E27FC236}">
                <a16:creationId xmlns:a16="http://schemas.microsoft.com/office/drawing/2014/main" id="{62B6D0A5-BEA2-4AA2-23F8-01EAB955C3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3292" y="1374664"/>
            <a:ext cx="1945415" cy="225090"/>
          </a:xfrm>
          <a:prstGeom prst="rect">
            <a:avLst/>
          </a:prstGeom>
        </p:spPr>
      </p:pic>
    </p:spTree>
    <p:extLst>
      <p:ext uri="{BB962C8B-B14F-4D97-AF65-F5344CB8AC3E}">
        <p14:creationId xmlns:p14="http://schemas.microsoft.com/office/powerpoint/2010/main" val="284299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Bisection method: another example</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9" name="TextBox 8">
            <a:extLst>
              <a:ext uri="{FF2B5EF4-FFF2-40B4-BE49-F238E27FC236}">
                <a16:creationId xmlns:a16="http://schemas.microsoft.com/office/drawing/2014/main" id="{E900C098-989A-BAF9-D4E2-77764CA4145F}"/>
              </a:ext>
            </a:extLst>
          </p:cNvPr>
          <p:cNvSpPr txBox="1"/>
          <p:nvPr/>
        </p:nvSpPr>
        <p:spPr>
          <a:xfrm>
            <a:off x="823412" y="1286774"/>
            <a:ext cx="8020337"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Let us consider another equation: </a:t>
            </a:r>
            <a:endParaRPr lang="en-US" sz="2200" i="1" kern="150" dirty="0">
              <a:effectLst/>
              <a:latin typeface="+mj-lt"/>
              <a:ea typeface="Times New Roman" panose="02020603050405020304" pitchFamily="18" charset="0"/>
              <a:cs typeface="Times New Roman" panose="02020603050405020304" pitchFamily="18" charset="0"/>
            </a:endParaRPr>
          </a:p>
        </p:txBody>
      </p:sp>
      <p:pic>
        <p:nvPicPr>
          <p:cNvPr id="11" name="Graphic 10">
            <a:extLst>
              <a:ext uri="{FF2B5EF4-FFF2-40B4-BE49-F238E27FC236}">
                <a16:creationId xmlns:a16="http://schemas.microsoft.com/office/drawing/2014/main" id="{97CF8354-33EC-F3F7-0B9B-097A719ABC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6986" y="1374182"/>
            <a:ext cx="1776486" cy="256070"/>
          </a:xfrm>
          <a:prstGeom prst="rect">
            <a:avLst/>
          </a:prstGeom>
        </p:spPr>
      </p:pic>
      <p:pic>
        <p:nvPicPr>
          <p:cNvPr id="14" name="Picture 13" descr="Chart, line chart&#10;&#10;Description automatically generated">
            <a:extLst>
              <a:ext uri="{FF2B5EF4-FFF2-40B4-BE49-F238E27FC236}">
                <a16:creationId xmlns:a16="http://schemas.microsoft.com/office/drawing/2014/main" id="{743AEEB7-562F-8BD8-ACA1-9A0CF9C3F34C}"/>
              </a:ext>
            </a:extLst>
          </p:cNvPr>
          <p:cNvPicPr>
            <a:picLocks noChangeAspect="1"/>
          </p:cNvPicPr>
          <p:nvPr/>
        </p:nvPicPr>
        <p:blipFill>
          <a:blip r:embed="rId4"/>
          <a:stretch>
            <a:fillRect/>
          </a:stretch>
        </p:blipFill>
        <p:spPr>
          <a:xfrm>
            <a:off x="3048000" y="1717660"/>
            <a:ext cx="6096000" cy="4572000"/>
          </a:xfrm>
          <a:prstGeom prst="rect">
            <a:avLst/>
          </a:prstGeom>
        </p:spPr>
      </p:pic>
      <p:sp>
        <p:nvSpPr>
          <p:cNvPr id="15" name="TextBox 14">
            <a:extLst>
              <a:ext uri="{FF2B5EF4-FFF2-40B4-BE49-F238E27FC236}">
                <a16:creationId xmlns:a16="http://schemas.microsoft.com/office/drawing/2014/main" id="{577F0FE5-5A14-602F-F3EB-AA285F51FD5C}"/>
              </a:ext>
            </a:extLst>
          </p:cNvPr>
          <p:cNvSpPr txBox="1"/>
          <p:nvPr/>
        </p:nvSpPr>
        <p:spPr>
          <a:xfrm>
            <a:off x="823411" y="6289660"/>
            <a:ext cx="8020337"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35 iterations in both cases</a:t>
            </a:r>
            <a:endParaRPr lang="en-US" sz="2200" i="1" kern="150" dirty="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35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782404" y="1496040"/>
            <a:ext cx="5689648" cy="3816429"/>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Secant method:</a:t>
            </a: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Find an interval (x</a:t>
            </a:r>
            <a:r>
              <a:rPr lang="en-US" sz="2200" kern="150" baseline="-25000" dirty="0">
                <a:latin typeface="+mj-lt"/>
                <a:ea typeface="Times New Roman" panose="02020603050405020304" pitchFamily="18" charset="0"/>
                <a:cs typeface="Times New Roman" panose="02020603050405020304" pitchFamily="18" charset="0"/>
              </a:rPr>
              <a:t>0</a:t>
            </a:r>
            <a:r>
              <a:rPr lang="en-US" sz="2200" kern="150" dirty="0">
                <a:latin typeface="+mj-lt"/>
                <a:ea typeface="Times New Roman" panose="02020603050405020304" pitchFamily="18" charset="0"/>
                <a:cs typeface="Times New Roman" panose="02020603050405020304" pitchFamily="18" charset="0"/>
              </a:rPr>
              <a:t>,x</a:t>
            </a:r>
            <a:r>
              <a:rPr lang="en-US" sz="2200" kern="150" baseline="-25000" dirty="0">
                <a:latin typeface="+mj-lt"/>
                <a:ea typeface="Times New Roman" panose="02020603050405020304" pitchFamily="18" charset="0"/>
                <a:cs typeface="Times New Roman" panose="02020603050405020304" pitchFamily="18" charset="0"/>
              </a:rPr>
              <a:t>1</a:t>
            </a:r>
            <a:r>
              <a:rPr lang="en-US" sz="2200" kern="150" dirty="0">
                <a:latin typeface="+mj-lt"/>
                <a:ea typeface="Times New Roman" panose="02020603050405020304" pitchFamily="18" charset="0"/>
                <a:cs typeface="Times New Roman" panose="02020603050405020304" pitchFamily="18" charset="0"/>
              </a:rPr>
              <a:t>),</a:t>
            </a:r>
            <a:r>
              <a:rPr lang="en-US" sz="2200" kern="150" dirty="0">
                <a:ea typeface="Times New Roman" panose="02020603050405020304" pitchFamily="18" charset="0"/>
                <a:cs typeface="Times New Roman" panose="02020603050405020304" pitchFamily="18" charset="0"/>
              </a:rPr>
              <a:t> the interval </a:t>
            </a:r>
            <a:r>
              <a:rPr lang="en-US" sz="2200" i="1" kern="150" dirty="0">
                <a:solidFill>
                  <a:srgbClr val="0808FF"/>
                </a:solidFill>
                <a:ea typeface="Times New Roman" panose="02020603050405020304" pitchFamily="18" charset="0"/>
                <a:cs typeface="Times New Roman" panose="02020603050405020304" pitchFamily="18" charset="0"/>
              </a:rPr>
              <a:t>need not bracket the root</a:t>
            </a: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Instead of midpoint take a point where the straight line between the endpoints crosses the y = 0 axis</a:t>
            </a: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mj-lt"/>
              <a:buAutoNum type="arabicPeriod"/>
            </a:pPr>
            <a:r>
              <a:rPr lang="en-US" sz="2200" kern="150" dirty="0">
                <a:latin typeface="+mj-lt"/>
                <a:ea typeface="Times New Roman" panose="02020603050405020304" pitchFamily="18" charset="0"/>
                <a:cs typeface="Times New Roman" panose="02020603050405020304" pitchFamily="18" charset="0"/>
              </a:rPr>
              <a:t>Repeat the process until the desired precision |x</a:t>
            </a:r>
            <a:r>
              <a:rPr lang="en-US" sz="2200" kern="150" baseline="-25000" dirty="0">
                <a:latin typeface="+mj-lt"/>
                <a:ea typeface="Times New Roman" panose="02020603050405020304" pitchFamily="18" charset="0"/>
                <a:cs typeface="Times New Roman" panose="02020603050405020304" pitchFamily="18" charset="0"/>
              </a:rPr>
              <a:t>n+1</a:t>
            </a:r>
            <a:r>
              <a:rPr lang="en-US" sz="2200" kern="150" dirty="0">
                <a:latin typeface="+mj-lt"/>
                <a:ea typeface="Times New Roman" panose="02020603050405020304" pitchFamily="18" charset="0"/>
                <a:cs typeface="Times New Roman" panose="02020603050405020304" pitchFamily="18" charset="0"/>
              </a:rPr>
              <a:t>-x</a:t>
            </a:r>
            <a:r>
              <a:rPr lang="en-US" sz="2200" kern="150" baseline="-25000" dirty="0">
                <a:latin typeface="+mj-lt"/>
                <a:ea typeface="Times New Roman" panose="02020603050405020304" pitchFamily="18" charset="0"/>
                <a:cs typeface="Times New Roman" panose="02020603050405020304" pitchFamily="18" charset="0"/>
              </a:rPr>
              <a:t>n</a:t>
            </a:r>
            <a:r>
              <a:rPr lang="en-US" sz="2200" kern="150" dirty="0">
                <a:latin typeface="+mj-lt"/>
                <a:ea typeface="Times New Roman" panose="02020603050405020304" pitchFamily="18" charset="0"/>
                <a:cs typeface="Times New Roman" panose="02020603050405020304" pitchFamily="18" charset="0"/>
              </a:rPr>
              <a:t>| &lt; eps</a:t>
            </a:r>
          </a:p>
        </p:txBody>
      </p:sp>
      <p:pic>
        <p:nvPicPr>
          <p:cNvPr id="3" name="Picture 2" descr="Chart&#10;&#10;Description automatically generated">
            <a:extLst>
              <a:ext uri="{FF2B5EF4-FFF2-40B4-BE49-F238E27FC236}">
                <a16:creationId xmlns:a16="http://schemas.microsoft.com/office/drawing/2014/main" id="{1835D58F-3BAA-0D1F-9FA8-4E72CE265BF5}"/>
              </a:ext>
            </a:extLst>
          </p:cNvPr>
          <p:cNvPicPr>
            <a:picLocks noChangeAspect="1"/>
          </p:cNvPicPr>
          <p:nvPr/>
        </p:nvPicPr>
        <p:blipFill>
          <a:blip r:embed="rId2"/>
          <a:stretch>
            <a:fillRect/>
          </a:stretch>
        </p:blipFill>
        <p:spPr>
          <a:xfrm>
            <a:off x="6692218" y="1598435"/>
            <a:ext cx="4717378" cy="3661129"/>
          </a:xfrm>
          <a:prstGeom prst="rect">
            <a:avLst/>
          </a:prstGeom>
        </p:spPr>
      </p:pic>
      <p:sp>
        <p:nvSpPr>
          <p:cNvPr id="4" name="TextBox 3">
            <a:extLst>
              <a:ext uri="{FF2B5EF4-FFF2-40B4-BE49-F238E27FC236}">
                <a16:creationId xmlns:a16="http://schemas.microsoft.com/office/drawing/2014/main" id="{D49F832F-147A-DB03-D5DE-271A38F46C4F}"/>
              </a:ext>
            </a:extLst>
          </p:cNvPr>
          <p:cNvSpPr txBox="1"/>
          <p:nvPr/>
        </p:nvSpPr>
        <p:spPr>
          <a:xfrm>
            <a:off x="923918" y="5621864"/>
            <a:ext cx="11268082" cy="1015663"/>
          </a:xfrm>
          <a:prstGeom prst="rect">
            <a:avLst/>
          </a:prstGeom>
          <a:noFill/>
        </p:spPr>
        <p:txBody>
          <a:bodyPr wrap="square">
            <a:spAutoFit/>
          </a:bodyPr>
          <a:lstStyle/>
          <a:p>
            <a:r>
              <a:rPr lang="en-US" sz="2000" kern="150" dirty="0">
                <a:latin typeface="+mj-lt"/>
                <a:ea typeface="Times New Roman" panose="02020603050405020304" pitchFamily="18" charset="0"/>
                <a:cs typeface="Times New Roman" panose="02020603050405020304" pitchFamily="18" charset="0"/>
              </a:rPr>
              <a:t>Typically much faster convergence than bisection occurs when the algorithm is effective.
However, it can still be slower than bisection or may not converge at all (e.g., the secant may be parallel to the x-axis).</a:t>
            </a:r>
          </a:p>
        </p:txBody>
      </p:sp>
      <p:pic>
        <p:nvPicPr>
          <p:cNvPr id="5" name="Picture 4">
            <a:extLst>
              <a:ext uri="{FF2B5EF4-FFF2-40B4-BE49-F238E27FC236}">
                <a16:creationId xmlns:a16="http://schemas.microsoft.com/office/drawing/2014/main" id="{9609E444-2C9B-FF79-DA6E-E3DCE0C8E04B}"/>
              </a:ext>
            </a:extLst>
          </p:cNvPr>
          <p:cNvPicPr>
            <a:picLocks noChangeAspect="1"/>
          </p:cNvPicPr>
          <p:nvPr/>
        </p:nvPicPr>
        <p:blipFill>
          <a:blip r:embed="rId3"/>
          <a:stretch>
            <a:fillRect/>
          </a:stretch>
        </p:blipFill>
        <p:spPr>
          <a:xfrm>
            <a:off x="2471552" y="3853556"/>
            <a:ext cx="4000500" cy="711200"/>
          </a:xfrm>
          <a:prstGeom prst="rect">
            <a:avLst/>
          </a:prstGeom>
        </p:spPr>
      </p:pic>
    </p:spTree>
    <p:extLst>
      <p:ext uri="{BB962C8B-B14F-4D97-AF65-F5344CB8AC3E}">
        <p14:creationId xmlns:p14="http://schemas.microsoft.com/office/powerpoint/2010/main" val="138717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False position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1CD530A3-02C6-7D80-BB1C-60426C7C2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1570" y="1787217"/>
            <a:ext cx="4453055" cy="3283566"/>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5069B975-B813-57D6-055E-676FAC4A41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3421" y="1428846"/>
            <a:ext cx="1945415" cy="225090"/>
          </a:xfrm>
          <a:prstGeom prst="rect">
            <a:avLst/>
          </a:prstGeom>
        </p:spPr>
      </p:pic>
      <p:pic>
        <p:nvPicPr>
          <p:cNvPr id="3" name="Picture 2">
            <a:extLst>
              <a:ext uri="{FF2B5EF4-FFF2-40B4-BE49-F238E27FC236}">
                <a16:creationId xmlns:a16="http://schemas.microsoft.com/office/drawing/2014/main" id="{16DA6520-8768-8375-906D-8E3EBC613971}"/>
              </a:ext>
            </a:extLst>
          </p:cNvPr>
          <p:cNvPicPr>
            <a:picLocks noChangeAspect="1"/>
          </p:cNvPicPr>
          <p:nvPr/>
        </p:nvPicPr>
        <p:blipFill>
          <a:blip r:embed="rId5"/>
          <a:stretch>
            <a:fillRect/>
          </a:stretch>
        </p:blipFill>
        <p:spPr>
          <a:xfrm>
            <a:off x="702637" y="1282632"/>
            <a:ext cx="6738172" cy="4749678"/>
          </a:xfrm>
          <a:prstGeom prst="rect">
            <a:avLst/>
          </a:prstGeom>
        </p:spPr>
      </p:pic>
      <p:pic>
        <p:nvPicPr>
          <p:cNvPr id="5" name="Picture 4">
            <a:extLst>
              <a:ext uri="{FF2B5EF4-FFF2-40B4-BE49-F238E27FC236}">
                <a16:creationId xmlns:a16="http://schemas.microsoft.com/office/drawing/2014/main" id="{6A9EB3A7-C061-A65C-DC61-C022E16CC4DE}"/>
              </a:ext>
            </a:extLst>
          </p:cNvPr>
          <p:cNvPicPr>
            <a:picLocks noChangeAspect="1"/>
          </p:cNvPicPr>
          <p:nvPr/>
        </p:nvPicPr>
        <p:blipFill>
          <a:blip r:embed="rId6"/>
          <a:stretch>
            <a:fillRect/>
          </a:stretch>
        </p:blipFill>
        <p:spPr>
          <a:xfrm>
            <a:off x="702637" y="6165591"/>
            <a:ext cx="7349542" cy="383788"/>
          </a:xfrm>
          <a:prstGeom prst="rect">
            <a:avLst/>
          </a:prstGeom>
        </p:spPr>
      </p:pic>
      <p:cxnSp>
        <p:nvCxnSpPr>
          <p:cNvPr id="9" name="Straight Connector 8">
            <a:extLst>
              <a:ext uri="{FF2B5EF4-FFF2-40B4-BE49-F238E27FC236}">
                <a16:creationId xmlns:a16="http://schemas.microsoft.com/office/drawing/2014/main" id="{10E4083B-753E-F712-F3F0-44E70B5D9F6F}"/>
              </a:ext>
            </a:extLst>
          </p:cNvPr>
          <p:cNvCxnSpPr/>
          <p:nvPr/>
        </p:nvCxnSpPr>
        <p:spPr>
          <a:xfrm>
            <a:off x="4872250" y="6535732"/>
            <a:ext cx="18651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465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False position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3" name="Graphic 2">
            <a:extLst>
              <a:ext uri="{FF2B5EF4-FFF2-40B4-BE49-F238E27FC236}">
                <a16:creationId xmlns:a16="http://schemas.microsoft.com/office/drawing/2014/main" id="{62B6D0A5-BEA2-4AA2-23F8-01EAB955C3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23292" y="1374664"/>
            <a:ext cx="1945415" cy="225090"/>
          </a:xfrm>
          <a:prstGeom prst="rect">
            <a:avLst/>
          </a:prstGeom>
        </p:spPr>
      </p:pic>
      <p:pic>
        <p:nvPicPr>
          <p:cNvPr id="10" name="Picture 9" descr="Chart, line chart&#10;&#10;Description automatically generated">
            <a:extLst>
              <a:ext uri="{FF2B5EF4-FFF2-40B4-BE49-F238E27FC236}">
                <a16:creationId xmlns:a16="http://schemas.microsoft.com/office/drawing/2014/main" id="{3B696EE9-BFA1-0D5E-8788-5E9F231A8C73}"/>
              </a:ext>
            </a:extLst>
          </p:cNvPr>
          <p:cNvPicPr>
            <a:picLocks noChangeAspect="1"/>
          </p:cNvPicPr>
          <p:nvPr/>
        </p:nvPicPr>
        <p:blipFill>
          <a:blip r:embed="rId4"/>
          <a:stretch>
            <a:fillRect/>
          </a:stretch>
        </p:blipFill>
        <p:spPr>
          <a:xfrm>
            <a:off x="3047999" y="1679812"/>
            <a:ext cx="6096000" cy="4572000"/>
          </a:xfrm>
          <a:prstGeom prst="rect">
            <a:avLst/>
          </a:prstGeom>
        </p:spPr>
      </p:pic>
    </p:spTree>
    <p:extLst>
      <p:ext uri="{BB962C8B-B14F-4D97-AF65-F5344CB8AC3E}">
        <p14:creationId xmlns:p14="http://schemas.microsoft.com/office/powerpoint/2010/main" val="700145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False position vs bisection (to 10 decimal digits)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3" name="Graphic 2">
            <a:extLst>
              <a:ext uri="{FF2B5EF4-FFF2-40B4-BE49-F238E27FC236}">
                <a16:creationId xmlns:a16="http://schemas.microsoft.com/office/drawing/2014/main" id="{62B6D0A5-BEA2-4AA2-23F8-01EAB955C3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23292" y="1290577"/>
            <a:ext cx="1945415" cy="225090"/>
          </a:xfrm>
          <a:prstGeom prst="rect">
            <a:avLst/>
          </a:prstGeom>
        </p:spPr>
      </p:pic>
      <p:pic>
        <p:nvPicPr>
          <p:cNvPr id="4" name="Picture 3">
            <a:extLst>
              <a:ext uri="{FF2B5EF4-FFF2-40B4-BE49-F238E27FC236}">
                <a16:creationId xmlns:a16="http://schemas.microsoft.com/office/drawing/2014/main" id="{3BCFE124-30D2-1159-EDAD-8FD2036C7E97}"/>
              </a:ext>
            </a:extLst>
          </p:cNvPr>
          <p:cNvPicPr>
            <a:picLocks noChangeAspect="1"/>
          </p:cNvPicPr>
          <p:nvPr/>
        </p:nvPicPr>
        <p:blipFill>
          <a:blip r:embed="rId4"/>
          <a:stretch>
            <a:fillRect/>
          </a:stretch>
        </p:blipFill>
        <p:spPr>
          <a:xfrm>
            <a:off x="6422130" y="2091338"/>
            <a:ext cx="3819600" cy="2202714"/>
          </a:xfrm>
          <a:prstGeom prst="rect">
            <a:avLst/>
          </a:prstGeom>
        </p:spPr>
      </p:pic>
      <p:pic>
        <p:nvPicPr>
          <p:cNvPr id="6" name="Picture 5">
            <a:extLst>
              <a:ext uri="{FF2B5EF4-FFF2-40B4-BE49-F238E27FC236}">
                <a16:creationId xmlns:a16="http://schemas.microsoft.com/office/drawing/2014/main" id="{9A751842-980D-F550-12AB-00D44717F533}"/>
              </a:ext>
            </a:extLst>
          </p:cNvPr>
          <p:cNvPicPr>
            <a:picLocks noChangeAspect="1"/>
          </p:cNvPicPr>
          <p:nvPr/>
        </p:nvPicPr>
        <p:blipFill>
          <a:blip r:embed="rId5"/>
          <a:stretch>
            <a:fillRect/>
          </a:stretch>
        </p:blipFill>
        <p:spPr>
          <a:xfrm>
            <a:off x="1184582" y="2091338"/>
            <a:ext cx="3818846" cy="3921780"/>
          </a:xfrm>
          <a:prstGeom prst="rect">
            <a:avLst/>
          </a:prstGeom>
        </p:spPr>
      </p:pic>
      <p:sp>
        <p:nvSpPr>
          <p:cNvPr id="8" name="TextBox 7">
            <a:extLst>
              <a:ext uri="{FF2B5EF4-FFF2-40B4-BE49-F238E27FC236}">
                <a16:creationId xmlns:a16="http://schemas.microsoft.com/office/drawing/2014/main" id="{09C0988E-4285-ED79-BE5B-77F3F4A66A6E}"/>
              </a:ext>
            </a:extLst>
          </p:cNvPr>
          <p:cNvSpPr txBox="1"/>
          <p:nvPr/>
        </p:nvSpPr>
        <p:spPr>
          <a:xfrm>
            <a:off x="2831159" y="5826600"/>
            <a:ext cx="457200" cy="492443"/>
          </a:xfrm>
          <a:prstGeom prst="rect">
            <a:avLst/>
          </a:prstGeom>
          <a:noFill/>
        </p:spPr>
        <p:txBody>
          <a:bodyPr wrap="square" rtlCol="0">
            <a:spAutoFit/>
          </a:bodyPr>
          <a:lstStyle/>
          <a:p>
            <a:r>
              <a:rPr lang="en-US" sz="2600" dirty="0"/>
              <a:t>…</a:t>
            </a:r>
          </a:p>
        </p:txBody>
      </p:sp>
      <p:pic>
        <p:nvPicPr>
          <p:cNvPr id="9" name="Picture 8">
            <a:extLst>
              <a:ext uri="{FF2B5EF4-FFF2-40B4-BE49-F238E27FC236}">
                <a16:creationId xmlns:a16="http://schemas.microsoft.com/office/drawing/2014/main" id="{B29A110A-4B1A-81A0-AF68-CD217C94BAEE}"/>
              </a:ext>
            </a:extLst>
          </p:cNvPr>
          <p:cNvPicPr>
            <a:picLocks noChangeAspect="1"/>
          </p:cNvPicPr>
          <p:nvPr/>
        </p:nvPicPr>
        <p:blipFill>
          <a:blip r:embed="rId6"/>
          <a:stretch>
            <a:fillRect/>
          </a:stretch>
        </p:blipFill>
        <p:spPr>
          <a:xfrm>
            <a:off x="1216425" y="6319043"/>
            <a:ext cx="3819600" cy="219158"/>
          </a:xfrm>
          <a:prstGeom prst="rect">
            <a:avLst/>
          </a:prstGeom>
        </p:spPr>
      </p:pic>
      <p:sp>
        <p:nvSpPr>
          <p:cNvPr id="11" name="TextBox 10">
            <a:extLst>
              <a:ext uri="{FF2B5EF4-FFF2-40B4-BE49-F238E27FC236}">
                <a16:creationId xmlns:a16="http://schemas.microsoft.com/office/drawing/2014/main" id="{96FF07FA-9661-4380-184D-A7097B3C1EDD}"/>
              </a:ext>
            </a:extLst>
          </p:cNvPr>
          <p:cNvSpPr txBox="1"/>
          <p:nvPr/>
        </p:nvSpPr>
        <p:spPr>
          <a:xfrm>
            <a:off x="2085082" y="1600747"/>
            <a:ext cx="2518012" cy="369332"/>
          </a:xfrm>
          <a:prstGeom prst="rect">
            <a:avLst/>
          </a:prstGeom>
          <a:noFill/>
        </p:spPr>
        <p:txBody>
          <a:bodyPr wrap="square" rtlCol="0">
            <a:spAutoFit/>
          </a:bodyPr>
          <a:lstStyle/>
          <a:p>
            <a:r>
              <a:rPr lang="en-US" b="1" dirty="0"/>
              <a:t>Bisection method:</a:t>
            </a:r>
          </a:p>
        </p:txBody>
      </p:sp>
      <p:sp>
        <p:nvSpPr>
          <p:cNvPr id="12" name="TextBox 11">
            <a:extLst>
              <a:ext uri="{FF2B5EF4-FFF2-40B4-BE49-F238E27FC236}">
                <a16:creationId xmlns:a16="http://schemas.microsoft.com/office/drawing/2014/main" id="{CF66A269-1220-8276-4EC9-02A2AA3EE117}"/>
              </a:ext>
            </a:extLst>
          </p:cNvPr>
          <p:cNvSpPr txBox="1"/>
          <p:nvPr/>
        </p:nvSpPr>
        <p:spPr>
          <a:xfrm>
            <a:off x="7155976" y="1600747"/>
            <a:ext cx="2794601" cy="369332"/>
          </a:xfrm>
          <a:prstGeom prst="rect">
            <a:avLst/>
          </a:prstGeom>
          <a:noFill/>
        </p:spPr>
        <p:txBody>
          <a:bodyPr wrap="square" rtlCol="0">
            <a:spAutoFit/>
          </a:bodyPr>
          <a:lstStyle/>
          <a:p>
            <a:r>
              <a:rPr lang="en-US" b="1" dirty="0"/>
              <a:t>False position method:</a:t>
            </a:r>
          </a:p>
        </p:txBody>
      </p:sp>
    </p:spTree>
    <p:extLst>
      <p:ext uri="{BB962C8B-B14F-4D97-AF65-F5344CB8AC3E}">
        <p14:creationId xmlns:p14="http://schemas.microsoft.com/office/powerpoint/2010/main" val="1808263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False position vs bisection: not always clear who wins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4" name="Picture 3">
            <a:extLst>
              <a:ext uri="{FF2B5EF4-FFF2-40B4-BE49-F238E27FC236}">
                <a16:creationId xmlns:a16="http://schemas.microsoft.com/office/drawing/2014/main" id="{3BCFE124-30D2-1159-EDAD-8FD2036C7E97}"/>
              </a:ext>
            </a:extLst>
          </p:cNvPr>
          <p:cNvPicPr>
            <a:picLocks noChangeAspect="1"/>
          </p:cNvPicPr>
          <p:nvPr/>
        </p:nvPicPr>
        <p:blipFill>
          <a:blip r:embed="rId2"/>
          <a:stretch>
            <a:fillRect/>
          </a:stretch>
        </p:blipFill>
        <p:spPr>
          <a:xfrm>
            <a:off x="6422130" y="2091338"/>
            <a:ext cx="3819600" cy="2202714"/>
          </a:xfrm>
          <a:prstGeom prst="rect">
            <a:avLst/>
          </a:prstGeom>
        </p:spPr>
      </p:pic>
      <p:sp>
        <p:nvSpPr>
          <p:cNvPr id="8" name="TextBox 7">
            <a:extLst>
              <a:ext uri="{FF2B5EF4-FFF2-40B4-BE49-F238E27FC236}">
                <a16:creationId xmlns:a16="http://schemas.microsoft.com/office/drawing/2014/main" id="{09C0988E-4285-ED79-BE5B-77F3F4A66A6E}"/>
              </a:ext>
            </a:extLst>
          </p:cNvPr>
          <p:cNvSpPr txBox="1"/>
          <p:nvPr/>
        </p:nvSpPr>
        <p:spPr>
          <a:xfrm>
            <a:off x="2831159" y="5826600"/>
            <a:ext cx="457200" cy="492443"/>
          </a:xfrm>
          <a:prstGeom prst="rect">
            <a:avLst/>
          </a:prstGeom>
          <a:noFill/>
        </p:spPr>
        <p:txBody>
          <a:bodyPr wrap="square" rtlCol="0">
            <a:spAutoFit/>
          </a:bodyPr>
          <a:lstStyle/>
          <a:p>
            <a:r>
              <a:rPr lang="en-US" sz="2600" dirty="0"/>
              <a:t>…</a:t>
            </a:r>
          </a:p>
        </p:txBody>
      </p:sp>
      <p:sp>
        <p:nvSpPr>
          <p:cNvPr id="11" name="TextBox 10">
            <a:extLst>
              <a:ext uri="{FF2B5EF4-FFF2-40B4-BE49-F238E27FC236}">
                <a16:creationId xmlns:a16="http://schemas.microsoft.com/office/drawing/2014/main" id="{96FF07FA-9661-4380-184D-A7097B3C1EDD}"/>
              </a:ext>
            </a:extLst>
          </p:cNvPr>
          <p:cNvSpPr txBox="1"/>
          <p:nvPr/>
        </p:nvSpPr>
        <p:spPr>
          <a:xfrm>
            <a:off x="2085082" y="1600747"/>
            <a:ext cx="2518012" cy="369332"/>
          </a:xfrm>
          <a:prstGeom prst="rect">
            <a:avLst/>
          </a:prstGeom>
          <a:noFill/>
        </p:spPr>
        <p:txBody>
          <a:bodyPr wrap="square" rtlCol="0">
            <a:spAutoFit/>
          </a:bodyPr>
          <a:lstStyle/>
          <a:p>
            <a:r>
              <a:rPr lang="en-US" b="1" dirty="0"/>
              <a:t>Bisection method:</a:t>
            </a:r>
          </a:p>
        </p:txBody>
      </p:sp>
      <p:sp>
        <p:nvSpPr>
          <p:cNvPr id="12" name="TextBox 11">
            <a:extLst>
              <a:ext uri="{FF2B5EF4-FFF2-40B4-BE49-F238E27FC236}">
                <a16:creationId xmlns:a16="http://schemas.microsoft.com/office/drawing/2014/main" id="{CF66A269-1220-8276-4EC9-02A2AA3EE117}"/>
              </a:ext>
            </a:extLst>
          </p:cNvPr>
          <p:cNvSpPr txBox="1"/>
          <p:nvPr/>
        </p:nvSpPr>
        <p:spPr>
          <a:xfrm>
            <a:off x="7155976" y="1600747"/>
            <a:ext cx="2794601" cy="369332"/>
          </a:xfrm>
          <a:prstGeom prst="rect">
            <a:avLst/>
          </a:prstGeom>
          <a:noFill/>
        </p:spPr>
        <p:txBody>
          <a:bodyPr wrap="square" rtlCol="0">
            <a:spAutoFit/>
          </a:bodyPr>
          <a:lstStyle/>
          <a:p>
            <a:r>
              <a:rPr lang="en-US" b="1" dirty="0"/>
              <a:t>False position method:</a:t>
            </a:r>
          </a:p>
        </p:txBody>
      </p:sp>
      <p:pic>
        <p:nvPicPr>
          <p:cNvPr id="5" name="Graphic 4">
            <a:extLst>
              <a:ext uri="{FF2B5EF4-FFF2-40B4-BE49-F238E27FC236}">
                <a16:creationId xmlns:a16="http://schemas.microsoft.com/office/drawing/2014/main" id="{F7F0C974-980F-BBE1-9032-28DCBC0C08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7757" y="1244107"/>
            <a:ext cx="1776486" cy="256070"/>
          </a:xfrm>
          <a:prstGeom prst="rect">
            <a:avLst/>
          </a:prstGeom>
        </p:spPr>
      </p:pic>
      <p:pic>
        <p:nvPicPr>
          <p:cNvPr id="10" name="Picture 9">
            <a:extLst>
              <a:ext uri="{FF2B5EF4-FFF2-40B4-BE49-F238E27FC236}">
                <a16:creationId xmlns:a16="http://schemas.microsoft.com/office/drawing/2014/main" id="{8872E391-7D62-4A53-E0EC-45917B609088}"/>
              </a:ext>
            </a:extLst>
          </p:cNvPr>
          <p:cNvPicPr>
            <a:picLocks noChangeAspect="1"/>
          </p:cNvPicPr>
          <p:nvPr/>
        </p:nvPicPr>
        <p:blipFill>
          <a:blip r:embed="rId5"/>
          <a:stretch>
            <a:fillRect/>
          </a:stretch>
        </p:blipFill>
        <p:spPr>
          <a:xfrm>
            <a:off x="1216425" y="2071336"/>
            <a:ext cx="3819600" cy="4001485"/>
          </a:xfrm>
          <a:prstGeom prst="rect">
            <a:avLst/>
          </a:prstGeom>
        </p:spPr>
      </p:pic>
      <p:pic>
        <p:nvPicPr>
          <p:cNvPr id="13" name="Picture 12">
            <a:extLst>
              <a:ext uri="{FF2B5EF4-FFF2-40B4-BE49-F238E27FC236}">
                <a16:creationId xmlns:a16="http://schemas.microsoft.com/office/drawing/2014/main" id="{82DC790A-F8AB-82CA-6457-0918ECD56CE0}"/>
              </a:ext>
            </a:extLst>
          </p:cNvPr>
          <p:cNvPicPr>
            <a:picLocks noChangeAspect="1"/>
          </p:cNvPicPr>
          <p:nvPr/>
        </p:nvPicPr>
        <p:blipFill>
          <a:blip r:embed="rId6"/>
          <a:stretch>
            <a:fillRect/>
          </a:stretch>
        </p:blipFill>
        <p:spPr>
          <a:xfrm>
            <a:off x="1216425" y="6319043"/>
            <a:ext cx="3819600" cy="183132"/>
          </a:xfrm>
          <a:prstGeom prst="rect">
            <a:avLst/>
          </a:prstGeom>
        </p:spPr>
      </p:pic>
      <p:pic>
        <p:nvPicPr>
          <p:cNvPr id="15" name="Picture 14">
            <a:extLst>
              <a:ext uri="{FF2B5EF4-FFF2-40B4-BE49-F238E27FC236}">
                <a16:creationId xmlns:a16="http://schemas.microsoft.com/office/drawing/2014/main" id="{5EDFD657-3BB8-7929-2E52-26A121F29A62}"/>
              </a:ext>
            </a:extLst>
          </p:cNvPr>
          <p:cNvPicPr>
            <a:picLocks noChangeAspect="1"/>
          </p:cNvPicPr>
          <p:nvPr/>
        </p:nvPicPr>
        <p:blipFill>
          <a:blip r:embed="rId7"/>
          <a:stretch>
            <a:fillRect/>
          </a:stretch>
        </p:blipFill>
        <p:spPr>
          <a:xfrm>
            <a:off x="6422130" y="2071336"/>
            <a:ext cx="3819600" cy="3991795"/>
          </a:xfrm>
          <a:prstGeom prst="rect">
            <a:avLst/>
          </a:prstGeom>
        </p:spPr>
      </p:pic>
      <p:sp>
        <p:nvSpPr>
          <p:cNvPr id="16" name="TextBox 15">
            <a:extLst>
              <a:ext uri="{FF2B5EF4-FFF2-40B4-BE49-F238E27FC236}">
                <a16:creationId xmlns:a16="http://schemas.microsoft.com/office/drawing/2014/main" id="{61D1F7C7-D57A-FC14-ACA3-123C6CC5DE00}"/>
              </a:ext>
            </a:extLst>
          </p:cNvPr>
          <p:cNvSpPr txBox="1"/>
          <p:nvPr/>
        </p:nvSpPr>
        <p:spPr>
          <a:xfrm>
            <a:off x="8324676" y="5841539"/>
            <a:ext cx="457200" cy="492443"/>
          </a:xfrm>
          <a:prstGeom prst="rect">
            <a:avLst/>
          </a:prstGeom>
          <a:noFill/>
        </p:spPr>
        <p:txBody>
          <a:bodyPr wrap="square" rtlCol="0">
            <a:spAutoFit/>
          </a:bodyPr>
          <a:lstStyle/>
          <a:p>
            <a:r>
              <a:rPr lang="en-US" sz="2600" dirty="0"/>
              <a:t>…</a:t>
            </a:r>
          </a:p>
        </p:txBody>
      </p:sp>
      <p:pic>
        <p:nvPicPr>
          <p:cNvPr id="18" name="Picture 17">
            <a:extLst>
              <a:ext uri="{FF2B5EF4-FFF2-40B4-BE49-F238E27FC236}">
                <a16:creationId xmlns:a16="http://schemas.microsoft.com/office/drawing/2014/main" id="{AB47E636-656F-71B7-0B42-76C446861719}"/>
              </a:ext>
            </a:extLst>
          </p:cNvPr>
          <p:cNvPicPr>
            <a:picLocks noChangeAspect="1"/>
          </p:cNvPicPr>
          <p:nvPr/>
        </p:nvPicPr>
        <p:blipFill>
          <a:blip r:embed="rId8"/>
          <a:stretch>
            <a:fillRect/>
          </a:stretch>
        </p:blipFill>
        <p:spPr>
          <a:xfrm>
            <a:off x="6405778" y="6259986"/>
            <a:ext cx="3819600" cy="207305"/>
          </a:xfrm>
          <a:prstGeom prst="rect">
            <a:avLst/>
          </a:prstGeom>
        </p:spPr>
      </p:pic>
    </p:spTree>
    <p:extLst>
      <p:ext uri="{BB962C8B-B14F-4D97-AF65-F5344CB8AC3E}">
        <p14:creationId xmlns:p14="http://schemas.microsoft.com/office/powerpoint/2010/main" val="3521964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False position vs bisection: not always clear who wins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11" name="TextBox 10">
            <a:extLst>
              <a:ext uri="{FF2B5EF4-FFF2-40B4-BE49-F238E27FC236}">
                <a16:creationId xmlns:a16="http://schemas.microsoft.com/office/drawing/2014/main" id="{96FF07FA-9661-4380-184D-A7097B3C1EDD}"/>
              </a:ext>
            </a:extLst>
          </p:cNvPr>
          <p:cNvSpPr txBox="1"/>
          <p:nvPr/>
        </p:nvSpPr>
        <p:spPr>
          <a:xfrm>
            <a:off x="2022143" y="1600747"/>
            <a:ext cx="2518012" cy="369332"/>
          </a:xfrm>
          <a:prstGeom prst="rect">
            <a:avLst/>
          </a:prstGeom>
          <a:noFill/>
        </p:spPr>
        <p:txBody>
          <a:bodyPr wrap="square" rtlCol="0">
            <a:spAutoFit/>
          </a:bodyPr>
          <a:lstStyle/>
          <a:p>
            <a:r>
              <a:rPr lang="en-US" b="1" dirty="0"/>
              <a:t>Bisection method:</a:t>
            </a:r>
          </a:p>
        </p:txBody>
      </p:sp>
      <p:sp>
        <p:nvSpPr>
          <p:cNvPr id="12" name="TextBox 11">
            <a:extLst>
              <a:ext uri="{FF2B5EF4-FFF2-40B4-BE49-F238E27FC236}">
                <a16:creationId xmlns:a16="http://schemas.microsoft.com/office/drawing/2014/main" id="{CF66A269-1220-8276-4EC9-02A2AA3EE117}"/>
              </a:ext>
            </a:extLst>
          </p:cNvPr>
          <p:cNvSpPr txBox="1"/>
          <p:nvPr/>
        </p:nvSpPr>
        <p:spPr>
          <a:xfrm>
            <a:off x="7155976" y="1600747"/>
            <a:ext cx="2794601" cy="369332"/>
          </a:xfrm>
          <a:prstGeom prst="rect">
            <a:avLst/>
          </a:prstGeom>
          <a:noFill/>
        </p:spPr>
        <p:txBody>
          <a:bodyPr wrap="square" rtlCol="0">
            <a:spAutoFit/>
          </a:bodyPr>
          <a:lstStyle/>
          <a:p>
            <a:r>
              <a:rPr lang="en-US" b="1" dirty="0"/>
              <a:t>False position method:</a:t>
            </a:r>
          </a:p>
        </p:txBody>
      </p:sp>
      <p:pic>
        <p:nvPicPr>
          <p:cNvPr id="5" name="Graphic 4">
            <a:extLst>
              <a:ext uri="{FF2B5EF4-FFF2-40B4-BE49-F238E27FC236}">
                <a16:creationId xmlns:a16="http://schemas.microsoft.com/office/drawing/2014/main" id="{F7F0C974-980F-BBE1-9032-28DCBC0C08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757" y="1244107"/>
            <a:ext cx="1776486" cy="256070"/>
          </a:xfrm>
          <a:prstGeom prst="rect">
            <a:avLst/>
          </a:prstGeom>
        </p:spPr>
      </p:pic>
      <p:pic>
        <p:nvPicPr>
          <p:cNvPr id="19" name="Picture 18" descr="Chart, line chart&#10;&#10;Description automatically generated">
            <a:extLst>
              <a:ext uri="{FF2B5EF4-FFF2-40B4-BE49-F238E27FC236}">
                <a16:creationId xmlns:a16="http://schemas.microsoft.com/office/drawing/2014/main" id="{8299B768-9048-A5F6-E9FD-555F7CCBBE94}"/>
              </a:ext>
            </a:extLst>
          </p:cNvPr>
          <p:cNvPicPr>
            <a:picLocks noChangeAspect="1"/>
          </p:cNvPicPr>
          <p:nvPr/>
        </p:nvPicPr>
        <p:blipFill>
          <a:blip r:embed="rId4"/>
          <a:stretch>
            <a:fillRect/>
          </a:stretch>
        </p:blipFill>
        <p:spPr>
          <a:xfrm>
            <a:off x="636895" y="1970079"/>
            <a:ext cx="4680000" cy="3510000"/>
          </a:xfrm>
          <a:prstGeom prst="rect">
            <a:avLst/>
          </a:prstGeom>
        </p:spPr>
      </p:pic>
      <p:pic>
        <p:nvPicPr>
          <p:cNvPr id="22" name="Picture 21" descr="Chart&#10;&#10;Description automatically generated with low confidence">
            <a:extLst>
              <a:ext uri="{FF2B5EF4-FFF2-40B4-BE49-F238E27FC236}">
                <a16:creationId xmlns:a16="http://schemas.microsoft.com/office/drawing/2014/main" id="{2537257D-965B-6661-5ADC-4157D6471068}"/>
              </a:ext>
            </a:extLst>
          </p:cNvPr>
          <p:cNvPicPr>
            <a:picLocks noChangeAspect="1"/>
          </p:cNvPicPr>
          <p:nvPr/>
        </p:nvPicPr>
        <p:blipFill>
          <a:blip r:embed="rId5"/>
          <a:stretch>
            <a:fillRect/>
          </a:stretch>
        </p:blipFill>
        <p:spPr>
          <a:xfrm>
            <a:off x="6213276" y="1970079"/>
            <a:ext cx="4680000" cy="3510000"/>
          </a:xfrm>
          <a:prstGeom prst="rect">
            <a:avLst/>
          </a:prstGeom>
        </p:spPr>
      </p:pic>
      <p:sp>
        <p:nvSpPr>
          <p:cNvPr id="23" name="TextBox 22">
            <a:extLst>
              <a:ext uri="{FF2B5EF4-FFF2-40B4-BE49-F238E27FC236}">
                <a16:creationId xmlns:a16="http://schemas.microsoft.com/office/drawing/2014/main" id="{158EF359-76C9-08D6-C957-11FEEC0D2162}"/>
              </a:ext>
            </a:extLst>
          </p:cNvPr>
          <p:cNvSpPr txBox="1"/>
          <p:nvPr/>
        </p:nvSpPr>
        <p:spPr>
          <a:xfrm>
            <a:off x="848435" y="5723127"/>
            <a:ext cx="7349320" cy="923330"/>
          </a:xfrm>
          <a:prstGeom prst="rect">
            <a:avLst/>
          </a:prstGeom>
          <a:noFill/>
        </p:spPr>
        <p:txBody>
          <a:bodyPr wrap="square" rtlCol="0">
            <a:spAutoFit/>
          </a:bodyPr>
          <a:lstStyle/>
          <a:p>
            <a:r>
              <a:rPr lang="en-US" dirty="0"/>
              <a:t>More advanced methods combine the two and add other refinements*</a:t>
            </a:r>
          </a:p>
          <a:p>
            <a:pPr marL="285750" indent="-285750">
              <a:buFont typeface="Arial" panose="020B0604020202020204" pitchFamily="34" charset="0"/>
              <a:buChar char="•"/>
            </a:pPr>
            <a:r>
              <a:rPr lang="en-US" dirty="0"/>
              <a:t>Ridders’ method</a:t>
            </a:r>
          </a:p>
          <a:p>
            <a:pPr marL="285750" indent="-285750">
              <a:buFont typeface="Arial" panose="020B0604020202020204" pitchFamily="34" charset="0"/>
              <a:buChar char="•"/>
            </a:pPr>
            <a:r>
              <a:rPr lang="en-US" dirty="0"/>
              <a:t>Brent method</a:t>
            </a:r>
          </a:p>
        </p:txBody>
      </p:sp>
      <p:sp>
        <p:nvSpPr>
          <p:cNvPr id="24" name="TextBox 23">
            <a:extLst>
              <a:ext uri="{FF2B5EF4-FFF2-40B4-BE49-F238E27FC236}">
                <a16:creationId xmlns:a16="http://schemas.microsoft.com/office/drawing/2014/main" id="{645F680E-61E0-D7A9-CD87-3CC277A6EFA4}"/>
              </a:ext>
            </a:extLst>
          </p:cNvPr>
          <p:cNvSpPr txBox="1"/>
          <p:nvPr/>
        </p:nvSpPr>
        <p:spPr>
          <a:xfrm>
            <a:off x="2788691" y="6467291"/>
            <a:ext cx="5190700" cy="276999"/>
          </a:xfrm>
          <a:prstGeom prst="rect">
            <a:avLst/>
          </a:prstGeom>
          <a:noFill/>
        </p:spPr>
        <p:txBody>
          <a:bodyPr wrap="square">
            <a:spAutoFit/>
          </a:bodyPr>
          <a:lstStyle/>
          <a:p>
            <a:r>
              <a:rPr lang="en-US" sz="1200" dirty="0">
                <a:latin typeface="+mj-lt"/>
              </a:rPr>
              <a:t>see chapters 9.2, 9.3 of </a:t>
            </a:r>
            <a:r>
              <a:rPr lang="en-US" sz="1200" i="1" dirty="0">
                <a:latin typeface="+mj-lt"/>
              </a:rPr>
              <a:t>Numerical Recipes Third Edition </a:t>
            </a:r>
            <a:r>
              <a:rPr lang="en-US" sz="1200" dirty="0">
                <a:latin typeface="+mj-lt"/>
              </a:rPr>
              <a:t>by W.H. Press et al.</a:t>
            </a:r>
          </a:p>
        </p:txBody>
      </p:sp>
    </p:spTree>
    <p:extLst>
      <p:ext uri="{BB962C8B-B14F-4D97-AF65-F5344CB8AC3E}">
        <p14:creationId xmlns:p14="http://schemas.microsoft.com/office/powerpoint/2010/main" val="3386632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686869" y="1215598"/>
            <a:ext cx="10863686" cy="769441"/>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Secant method: </a:t>
            </a:r>
            <a:r>
              <a:rPr lang="en-US" sz="2200" kern="150" dirty="0">
                <a:effectLst/>
                <a:latin typeface="+mj-lt"/>
                <a:ea typeface="Times New Roman" panose="02020603050405020304" pitchFamily="18" charset="0"/>
                <a:cs typeface="Times New Roman" panose="02020603050405020304" pitchFamily="18" charset="0"/>
              </a:rPr>
              <a:t>similar to false position, but the interval </a:t>
            </a:r>
            <a:r>
              <a:rPr lang="en-US" sz="2200" i="1" kern="150" dirty="0">
                <a:effectLst/>
                <a:latin typeface="+mj-lt"/>
                <a:ea typeface="Times New Roman" panose="02020603050405020304" pitchFamily="18" charset="0"/>
                <a:cs typeface="Times New Roman" panose="02020603050405020304" pitchFamily="18" charset="0"/>
              </a:rPr>
              <a:t>need not bracket the root</a:t>
            </a:r>
            <a:endParaRPr lang="en-US" sz="2200" b="1" i="1" kern="150" dirty="0">
              <a:effectLst/>
              <a:latin typeface="+mj-lt"/>
              <a:ea typeface="Times New Roman" panose="02020603050405020304" pitchFamily="18" charset="0"/>
              <a:cs typeface="Times New Roman" panose="02020603050405020304" pitchFamily="18" charset="0"/>
            </a:endParaRPr>
          </a:p>
          <a:p>
            <a:r>
              <a:rPr lang="en-US" sz="2200" kern="150" dirty="0">
                <a:latin typeface="+mj-lt"/>
                <a:ea typeface="Times New Roman" panose="02020603050405020304" pitchFamily="18" charset="0"/>
                <a:cs typeface="Times New Roman" panose="02020603050405020304" pitchFamily="18" charset="0"/>
              </a:rPr>
              <a:t>Always uses the last two points </a:t>
            </a:r>
          </a:p>
        </p:txBody>
      </p:sp>
      <p:sp>
        <p:nvSpPr>
          <p:cNvPr id="10" name="TextBox 9">
            <a:extLst>
              <a:ext uri="{FF2B5EF4-FFF2-40B4-BE49-F238E27FC236}">
                <a16:creationId xmlns:a16="http://schemas.microsoft.com/office/drawing/2014/main" id="{93A2D3B4-13E3-F479-6430-3D74ED1BF320}"/>
              </a:ext>
            </a:extLst>
          </p:cNvPr>
          <p:cNvSpPr txBox="1"/>
          <p:nvPr/>
        </p:nvSpPr>
        <p:spPr>
          <a:xfrm>
            <a:off x="782404" y="5914970"/>
            <a:ext cx="11268082" cy="769441"/>
          </a:xfrm>
          <a:prstGeom prst="rect">
            <a:avLst/>
          </a:prstGeom>
          <a:noFill/>
        </p:spPr>
        <p:txBody>
          <a:bodyPr wrap="square">
            <a:spAutoFit/>
          </a:bodyPr>
          <a:lstStyle/>
          <a:p>
            <a:r>
              <a:rPr lang="en-US" sz="2200" kern="150" dirty="0">
                <a:latin typeface="+mj-lt"/>
                <a:ea typeface="Times New Roman" panose="02020603050405020304" pitchFamily="18" charset="0"/>
                <a:cs typeface="Times New Roman" panose="02020603050405020304" pitchFamily="18" charset="0"/>
              </a:rPr>
              <a:t>Typically “</a:t>
            </a:r>
            <a:r>
              <a:rPr lang="en-US" sz="2200" kern="150" dirty="0" err="1">
                <a:latin typeface="+mj-lt"/>
                <a:ea typeface="Times New Roman" panose="02020603050405020304" pitchFamily="18" charset="0"/>
                <a:cs typeface="Times New Roman" panose="02020603050405020304" pitchFamily="18" charset="0"/>
              </a:rPr>
              <a:t>superlinear</a:t>
            </a:r>
            <a:r>
              <a:rPr lang="en-US" sz="2200" kern="150" dirty="0">
                <a:latin typeface="+mj-lt"/>
                <a:ea typeface="Times New Roman" panose="02020603050405020304" pitchFamily="18" charset="0"/>
                <a:cs typeface="Times New Roman" panose="02020603050405020304" pitchFamily="18" charset="0"/>
              </a:rPr>
              <a:t>” convergence when works</a:t>
            </a:r>
          </a:p>
          <a:p>
            <a:r>
              <a:rPr lang="en-US" sz="2200" kern="150" dirty="0">
                <a:latin typeface="+mj-lt"/>
                <a:ea typeface="Times New Roman" panose="02020603050405020304" pitchFamily="18" charset="0"/>
                <a:cs typeface="Times New Roman" panose="02020603050405020304" pitchFamily="18" charset="0"/>
              </a:rPr>
              <a:t>Can still be slower than bisection or not converge at all (e.g. secant is parallel to y = 0 axis)</a:t>
            </a:r>
          </a:p>
        </p:txBody>
      </p:sp>
      <p:pic>
        <p:nvPicPr>
          <p:cNvPr id="6" name="Picture 5" descr="Chart, line chart&#10;&#10;Description automatically generated">
            <a:extLst>
              <a:ext uri="{FF2B5EF4-FFF2-40B4-BE49-F238E27FC236}">
                <a16:creationId xmlns:a16="http://schemas.microsoft.com/office/drawing/2014/main" id="{0CE50D04-6CBD-2B4E-28AB-1C18D287572B}"/>
              </a:ext>
            </a:extLst>
          </p:cNvPr>
          <p:cNvPicPr>
            <a:picLocks noChangeAspect="1"/>
          </p:cNvPicPr>
          <p:nvPr/>
        </p:nvPicPr>
        <p:blipFill>
          <a:blip r:embed="rId2"/>
          <a:stretch>
            <a:fillRect/>
          </a:stretch>
        </p:blipFill>
        <p:spPr>
          <a:xfrm>
            <a:off x="6646657" y="2073194"/>
            <a:ext cx="4717377" cy="3661129"/>
          </a:xfrm>
          <a:prstGeom prst="rect">
            <a:avLst/>
          </a:prstGeom>
        </p:spPr>
      </p:pic>
      <p:pic>
        <p:nvPicPr>
          <p:cNvPr id="5" name="Picture 4" descr="Chart&#10;&#10;Description automatically generated">
            <a:extLst>
              <a:ext uri="{FF2B5EF4-FFF2-40B4-BE49-F238E27FC236}">
                <a16:creationId xmlns:a16="http://schemas.microsoft.com/office/drawing/2014/main" id="{B8271170-F6D4-5D54-EDFB-CF3E0195516B}"/>
              </a:ext>
            </a:extLst>
          </p:cNvPr>
          <p:cNvPicPr>
            <a:picLocks noChangeAspect="1"/>
          </p:cNvPicPr>
          <p:nvPr/>
        </p:nvPicPr>
        <p:blipFill>
          <a:blip r:embed="rId3"/>
          <a:stretch>
            <a:fillRect/>
          </a:stretch>
        </p:blipFill>
        <p:spPr>
          <a:xfrm>
            <a:off x="782404" y="2073194"/>
            <a:ext cx="4717378" cy="3661129"/>
          </a:xfrm>
          <a:prstGeom prst="rect">
            <a:avLst/>
          </a:prstGeom>
        </p:spPr>
      </p:pic>
      <p:sp>
        <p:nvSpPr>
          <p:cNvPr id="9" name="TextBox 8">
            <a:extLst>
              <a:ext uri="{FF2B5EF4-FFF2-40B4-BE49-F238E27FC236}">
                <a16:creationId xmlns:a16="http://schemas.microsoft.com/office/drawing/2014/main" id="{BE9CBE86-3C23-63B4-9645-4199F58C9A1F}"/>
              </a:ext>
            </a:extLst>
          </p:cNvPr>
          <p:cNvSpPr txBox="1"/>
          <p:nvPr/>
        </p:nvSpPr>
        <p:spPr>
          <a:xfrm>
            <a:off x="5961797" y="3442094"/>
            <a:ext cx="552734" cy="461665"/>
          </a:xfrm>
          <a:prstGeom prst="rect">
            <a:avLst/>
          </a:prstGeom>
          <a:noFill/>
        </p:spPr>
        <p:txBody>
          <a:bodyPr wrap="square" rtlCol="0">
            <a:spAutoFit/>
          </a:bodyPr>
          <a:lstStyle/>
          <a:p>
            <a:r>
              <a:rPr lang="en-US" sz="2400" dirty="0"/>
              <a:t>vs</a:t>
            </a:r>
          </a:p>
        </p:txBody>
      </p:sp>
    </p:spTree>
    <p:extLst>
      <p:ext uri="{BB962C8B-B14F-4D97-AF65-F5344CB8AC3E}">
        <p14:creationId xmlns:p14="http://schemas.microsoft.com/office/powerpoint/2010/main" val="370754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1E96716-8E97-FFBF-E567-20FC168FF660}"/>
              </a:ext>
            </a:extLst>
          </p:cNvPr>
          <p:cNvPicPr>
            <a:picLocks noChangeAspect="1"/>
          </p:cNvPicPr>
          <p:nvPr/>
        </p:nvPicPr>
        <p:blipFill>
          <a:blip r:embed="rId2"/>
          <a:stretch>
            <a:fillRect/>
          </a:stretch>
        </p:blipFill>
        <p:spPr>
          <a:xfrm>
            <a:off x="745856" y="6135469"/>
            <a:ext cx="6739200" cy="381464"/>
          </a:xfrm>
          <a:prstGeom prst="rect">
            <a:avLst/>
          </a:prstGeom>
        </p:spPr>
      </p:pic>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1CD530A3-02C6-7D80-BB1C-60426C7C2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1570" y="1787217"/>
            <a:ext cx="4453055" cy="3283566"/>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5069B975-B813-57D6-055E-676FAC4A41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83421" y="1428846"/>
            <a:ext cx="1945415" cy="225090"/>
          </a:xfrm>
          <a:prstGeom prst="rect">
            <a:avLst/>
          </a:prstGeom>
        </p:spPr>
      </p:pic>
      <p:cxnSp>
        <p:nvCxnSpPr>
          <p:cNvPr id="9" name="Straight Connector 8">
            <a:extLst>
              <a:ext uri="{FF2B5EF4-FFF2-40B4-BE49-F238E27FC236}">
                <a16:creationId xmlns:a16="http://schemas.microsoft.com/office/drawing/2014/main" id="{10E4083B-753E-F712-F3F0-44E70B5D9F6F}"/>
              </a:ext>
            </a:extLst>
          </p:cNvPr>
          <p:cNvCxnSpPr/>
          <p:nvPr/>
        </p:nvCxnSpPr>
        <p:spPr>
          <a:xfrm>
            <a:off x="4872250" y="6535732"/>
            <a:ext cx="18651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E628F15-FB94-E4F1-F497-AB3CACF50F94}"/>
              </a:ext>
            </a:extLst>
          </p:cNvPr>
          <p:cNvPicPr>
            <a:picLocks noChangeAspect="1"/>
          </p:cNvPicPr>
          <p:nvPr/>
        </p:nvPicPr>
        <p:blipFill>
          <a:blip r:embed="rId6"/>
          <a:stretch>
            <a:fillRect/>
          </a:stretch>
        </p:blipFill>
        <p:spPr>
          <a:xfrm>
            <a:off x="740015" y="1325605"/>
            <a:ext cx="6745041" cy="4542933"/>
          </a:xfrm>
          <a:prstGeom prst="rect">
            <a:avLst/>
          </a:prstGeom>
        </p:spPr>
      </p:pic>
    </p:spTree>
    <p:extLst>
      <p:ext uri="{BB962C8B-B14F-4D97-AF65-F5344CB8AC3E}">
        <p14:creationId xmlns:p14="http://schemas.microsoft.com/office/powerpoint/2010/main" val="2111928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3" name="Graphic 2">
            <a:extLst>
              <a:ext uri="{FF2B5EF4-FFF2-40B4-BE49-F238E27FC236}">
                <a16:creationId xmlns:a16="http://schemas.microsoft.com/office/drawing/2014/main" id="{62B6D0A5-BEA2-4AA2-23F8-01EAB955C3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23292" y="1374664"/>
            <a:ext cx="1945415" cy="225090"/>
          </a:xfrm>
          <a:prstGeom prst="rect">
            <a:avLst/>
          </a:prstGeom>
        </p:spPr>
      </p:pic>
      <p:pic>
        <p:nvPicPr>
          <p:cNvPr id="6" name="Picture 5" descr="Chart, line chart&#10;&#10;Description automatically generated">
            <a:extLst>
              <a:ext uri="{FF2B5EF4-FFF2-40B4-BE49-F238E27FC236}">
                <a16:creationId xmlns:a16="http://schemas.microsoft.com/office/drawing/2014/main" id="{55F50FBC-2EF6-AD0D-2EC5-6DC4EEFE862C}"/>
              </a:ext>
            </a:extLst>
          </p:cNvPr>
          <p:cNvPicPr>
            <a:picLocks noChangeAspect="1"/>
          </p:cNvPicPr>
          <p:nvPr/>
        </p:nvPicPr>
        <p:blipFill>
          <a:blip r:embed="rId4"/>
          <a:stretch>
            <a:fillRect/>
          </a:stretch>
        </p:blipFill>
        <p:spPr>
          <a:xfrm>
            <a:off x="3047999" y="1675262"/>
            <a:ext cx="6096000" cy="4572000"/>
          </a:xfrm>
          <a:prstGeom prst="rect">
            <a:avLst/>
          </a:prstGeom>
        </p:spPr>
      </p:pic>
    </p:spTree>
    <p:extLst>
      <p:ext uri="{BB962C8B-B14F-4D97-AF65-F5344CB8AC3E}">
        <p14:creationId xmlns:p14="http://schemas.microsoft.com/office/powerpoint/2010/main" val="3891349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4" name="Graphic 3">
            <a:extLst>
              <a:ext uri="{FF2B5EF4-FFF2-40B4-BE49-F238E27FC236}">
                <a16:creationId xmlns:a16="http://schemas.microsoft.com/office/drawing/2014/main" id="{45936020-F919-F428-2CF2-8CAFEA373E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757" y="1244107"/>
            <a:ext cx="1776486" cy="256070"/>
          </a:xfrm>
          <a:prstGeom prst="rect">
            <a:avLst/>
          </a:prstGeom>
        </p:spPr>
      </p:pic>
      <p:pic>
        <p:nvPicPr>
          <p:cNvPr id="9" name="Picture 8" descr="Chart&#10;&#10;Description automatically generated with medium confidence">
            <a:extLst>
              <a:ext uri="{FF2B5EF4-FFF2-40B4-BE49-F238E27FC236}">
                <a16:creationId xmlns:a16="http://schemas.microsoft.com/office/drawing/2014/main" id="{9609B99A-AAF2-B2FB-00B4-2C23C503E0BE}"/>
              </a:ext>
            </a:extLst>
          </p:cNvPr>
          <p:cNvPicPr>
            <a:picLocks noChangeAspect="1"/>
          </p:cNvPicPr>
          <p:nvPr/>
        </p:nvPicPr>
        <p:blipFill>
          <a:blip r:embed="rId4"/>
          <a:stretch>
            <a:fillRect/>
          </a:stretch>
        </p:blipFill>
        <p:spPr>
          <a:xfrm>
            <a:off x="6805015" y="1656535"/>
            <a:ext cx="5082224" cy="3811668"/>
          </a:xfrm>
          <a:prstGeom prst="rect">
            <a:avLst/>
          </a:prstGeom>
        </p:spPr>
      </p:pic>
      <p:pic>
        <p:nvPicPr>
          <p:cNvPr id="10" name="Picture 9">
            <a:extLst>
              <a:ext uri="{FF2B5EF4-FFF2-40B4-BE49-F238E27FC236}">
                <a16:creationId xmlns:a16="http://schemas.microsoft.com/office/drawing/2014/main" id="{CE54A28D-B76B-9A91-9AAB-7B7A7142B380}"/>
              </a:ext>
            </a:extLst>
          </p:cNvPr>
          <p:cNvPicPr>
            <a:picLocks noChangeAspect="1"/>
          </p:cNvPicPr>
          <p:nvPr/>
        </p:nvPicPr>
        <p:blipFill>
          <a:blip r:embed="rId5"/>
          <a:stretch>
            <a:fillRect/>
          </a:stretch>
        </p:blipFill>
        <p:spPr>
          <a:xfrm>
            <a:off x="470612" y="2062979"/>
            <a:ext cx="2946573" cy="2463528"/>
          </a:xfrm>
          <a:prstGeom prst="rect">
            <a:avLst/>
          </a:prstGeom>
        </p:spPr>
      </p:pic>
      <p:pic>
        <p:nvPicPr>
          <p:cNvPr id="11" name="Picture 10">
            <a:extLst>
              <a:ext uri="{FF2B5EF4-FFF2-40B4-BE49-F238E27FC236}">
                <a16:creationId xmlns:a16="http://schemas.microsoft.com/office/drawing/2014/main" id="{0D4F19CE-0E6E-38A3-475B-96AE390F351C}"/>
              </a:ext>
            </a:extLst>
          </p:cNvPr>
          <p:cNvPicPr>
            <a:picLocks noChangeAspect="1"/>
          </p:cNvPicPr>
          <p:nvPr/>
        </p:nvPicPr>
        <p:blipFill>
          <a:blip r:embed="rId6"/>
          <a:stretch>
            <a:fillRect/>
          </a:stretch>
        </p:blipFill>
        <p:spPr>
          <a:xfrm>
            <a:off x="3618929" y="2062979"/>
            <a:ext cx="2948866" cy="2304305"/>
          </a:xfrm>
          <a:prstGeom prst="rect">
            <a:avLst/>
          </a:prstGeom>
        </p:spPr>
      </p:pic>
      <p:sp>
        <p:nvSpPr>
          <p:cNvPr id="12" name="TextBox 11">
            <a:extLst>
              <a:ext uri="{FF2B5EF4-FFF2-40B4-BE49-F238E27FC236}">
                <a16:creationId xmlns:a16="http://schemas.microsoft.com/office/drawing/2014/main" id="{2CAFC835-E537-EBF3-69A3-6D0FC5CD4F28}"/>
              </a:ext>
            </a:extLst>
          </p:cNvPr>
          <p:cNvSpPr txBox="1"/>
          <p:nvPr/>
        </p:nvSpPr>
        <p:spPr>
          <a:xfrm>
            <a:off x="541358" y="5669543"/>
            <a:ext cx="9676266" cy="769441"/>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Because the method does not bracket the root, it is not guaranteed to converge</a:t>
            </a:r>
          </a:p>
          <a:p>
            <a:r>
              <a:rPr lang="en-US" sz="2200" kern="150" dirty="0">
                <a:latin typeface="+mj-lt"/>
                <a:ea typeface="Times New Roman" panose="02020603050405020304" pitchFamily="18" charset="0"/>
                <a:cs typeface="Times New Roman" panose="02020603050405020304" pitchFamily="18" charset="0"/>
              </a:rPr>
              <a:t>In this case, it managed to recover</a:t>
            </a:r>
          </a:p>
        </p:txBody>
      </p:sp>
    </p:spTree>
    <p:extLst>
      <p:ext uri="{BB962C8B-B14F-4D97-AF65-F5344CB8AC3E}">
        <p14:creationId xmlns:p14="http://schemas.microsoft.com/office/powerpoint/2010/main" val="3674398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Secant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4" name="Graphic 3">
            <a:extLst>
              <a:ext uri="{FF2B5EF4-FFF2-40B4-BE49-F238E27FC236}">
                <a16:creationId xmlns:a16="http://schemas.microsoft.com/office/drawing/2014/main" id="{45936020-F919-F428-2CF2-8CAFEA373E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757" y="1244107"/>
            <a:ext cx="1776486" cy="256070"/>
          </a:xfrm>
          <a:prstGeom prst="rect">
            <a:avLst/>
          </a:prstGeom>
        </p:spPr>
      </p:pic>
      <p:sp>
        <p:nvSpPr>
          <p:cNvPr id="12" name="TextBox 11">
            <a:extLst>
              <a:ext uri="{FF2B5EF4-FFF2-40B4-BE49-F238E27FC236}">
                <a16:creationId xmlns:a16="http://schemas.microsoft.com/office/drawing/2014/main" id="{2CAFC835-E537-EBF3-69A3-6D0FC5CD4F28}"/>
              </a:ext>
            </a:extLst>
          </p:cNvPr>
          <p:cNvSpPr txBox="1"/>
          <p:nvPr/>
        </p:nvSpPr>
        <p:spPr>
          <a:xfrm>
            <a:off x="370542" y="1731039"/>
            <a:ext cx="9676266"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Choose the initial interval as (1,3) instead of (0,3)</a:t>
            </a:r>
            <a:endParaRPr lang="en-US" sz="2200" kern="150" dirty="0">
              <a:latin typeface="+mj-lt"/>
              <a:ea typeface="Times New Roman" panose="02020603050405020304" pitchFamily="18" charset="0"/>
              <a:cs typeface="Times New Roman" panose="02020603050405020304" pitchFamily="18" charset="0"/>
            </a:endParaRPr>
          </a:p>
        </p:txBody>
      </p:sp>
      <p:pic>
        <p:nvPicPr>
          <p:cNvPr id="6" name="Picture 5" descr="Chart, line chart&#10;&#10;Description automatically generated">
            <a:extLst>
              <a:ext uri="{FF2B5EF4-FFF2-40B4-BE49-F238E27FC236}">
                <a16:creationId xmlns:a16="http://schemas.microsoft.com/office/drawing/2014/main" id="{032976F6-5532-6AE7-5C22-57FB05E3F551}"/>
              </a:ext>
            </a:extLst>
          </p:cNvPr>
          <p:cNvPicPr>
            <a:picLocks noChangeAspect="1"/>
          </p:cNvPicPr>
          <p:nvPr/>
        </p:nvPicPr>
        <p:blipFill>
          <a:blip r:embed="rId4"/>
          <a:stretch>
            <a:fillRect/>
          </a:stretch>
        </p:blipFill>
        <p:spPr>
          <a:xfrm>
            <a:off x="3048000" y="2161926"/>
            <a:ext cx="6096000" cy="4572000"/>
          </a:xfrm>
          <a:prstGeom prst="rect">
            <a:avLst/>
          </a:prstGeom>
        </p:spPr>
      </p:pic>
    </p:spTree>
    <p:extLst>
      <p:ext uri="{BB962C8B-B14F-4D97-AF65-F5344CB8AC3E}">
        <p14:creationId xmlns:p14="http://schemas.microsoft.com/office/powerpoint/2010/main" val="675852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686869" y="1215598"/>
            <a:ext cx="10863686" cy="1107996"/>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Newton-Raphson method: </a:t>
            </a:r>
          </a:p>
          <a:p>
            <a:pPr marL="342900" indent="-342900">
              <a:buFont typeface="Arial" panose="020B0604020202020204" pitchFamily="34" charset="0"/>
              <a:buChar char="•"/>
            </a:pPr>
            <a:r>
              <a:rPr lang="en-US" sz="2200" kern="150" dirty="0">
                <a:latin typeface="+mj-lt"/>
                <a:ea typeface="Times New Roman" panose="02020603050405020304" pitchFamily="18" charset="0"/>
                <a:cs typeface="Times New Roman" panose="02020603050405020304" pitchFamily="18" charset="0"/>
              </a:rPr>
              <a:t>Local method (uses only the current estimate to get the next one)</a:t>
            </a:r>
          </a:p>
          <a:p>
            <a:pPr marL="342900" indent="-342900">
              <a:buFont typeface="Arial" panose="020B0604020202020204" pitchFamily="34" charset="0"/>
              <a:buChar char="•"/>
            </a:pPr>
            <a:r>
              <a:rPr lang="en-US" sz="2200" kern="150" dirty="0">
                <a:latin typeface="+mj-lt"/>
                <a:ea typeface="Times New Roman" panose="02020603050405020304" pitchFamily="18" charset="0"/>
                <a:cs typeface="Times New Roman" panose="02020603050405020304" pitchFamily="18" charset="0"/>
              </a:rPr>
              <a:t>Requires the evaluation of derivative </a:t>
            </a:r>
          </a:p>
        </p:txBody>
      </p:sp>
      <p:sp>
        <p:nvSpPr>
          <p:cNvPr id="10" name="TextBox 9">
            <a:extLst>
              <a:ext uri="{FF2B5EF4-FFF2-40B4-BE49-F238E27FC236}">
                <a16:creationId xmlns:a16="http://schemas.microsoft.com/office/drawing/2014/main" id="{93A2D3B4-13E3-F479-6430-3D74ED1BF320}"/>
              </a:ext>
            </a:extLst>
          </p:cNvPr>
          <p:cNvSpPr txBox="1"/>
          <p:nvPr/>
        </p:nvSpPr>
        <p:spPr>
          <a:xfrm>
            <a:off x="686869" y="2659559"/>
            <a:ext cx="11039055" cy="430887"/>
          </a:xfrm>
          <a:prstGeom prst="rect">
            <a:avLst/>
          </a:prstGeom>
          <a:noFill/>
        </p:spPr>
        <p:txBody>
          <a:bodyPr wrap="square">
            <a:spAutoFit/>
          </a:bodyPr>
          <a:lstStyle/>
          <a:p>
            <a:r>
              <a:rPr lang="en-US" sz="2200" b="1" kern="150" dirty="0">
                <a:latin typeface="+mj-lt"/>
                <a:ea typeface="Times New Roman" panose="02020603050405020304" pitchFamily="18" charset="0"/>
                <a:cs typeface="Times New Roman" panose="02020603050405020304" pitchFamily="18" charset="0"/>
              </a:rPr>
              <a:t>Idea: </a:t>
            </a:r>
            <a:r>
              <a:rPr lang="en-US" sz="2200" kern="150" dirty="0">
                <a:latin typeface="+mj-lt"/>
                <a:ea typeface="Times New Roman" panose="02020603050405020304" pitchFamily="18" charset="0"/>
                <a:cs typeface="Times New Roman" panose="02020603050405020304" pitchFamily="18" charset="0"/>
              </a:rPr>
              <a:t>Assume that a given point x is close to the root x* [f(x*)=0]</a:t>
            </a:r>
          </a:p>
        </p:txBody>
      </p:sp>
      <p:pic>
        <p:nvPicPr>
          <p:cNvPr id="3" name="Picture 2">
            <a:extLst>
              <a:ext uri="{FF2B5EF4-FFF2-40B4-BE49-F238E27FC236}">
                <a16:creationId xmlns:a16="http://schemas.microsoft.com/office/drawing/2014/main" id="{3E535450-3108-9C12-4AB2-697B6789FB4D}"/>
              </a:ext>
            </a:extLst>
          </p:cNvPr>
          <p:cNvPicPr>
            <a:picLocks noChangeAspect="1"/>
          </p:cNvPicPr>
          <p:nvPr/>
        </p:nvPicPr>
        <p:blipFill>
          <a:blip r:embed="rId2"/>
          <a:stretch>
            <a:fillRect/>
          </a:stretch>
        </p:blipFill>
        <p:spPr>
          <a:xfrm>
            <a:off x="4718982" y="3583764"/>
            <a:ext cx="2754035" cy="367581"/>
          </a:xfrm>
          <a:prstGeom prst="rect">
            <a:avLst/>
          </a:prstGeom>
        </p:spPr>
      </p:pic>
      <p:sp>
        <p:nvSpPr>
          <p:cNvPr id="11" name="TextBox 10">
            <a:extLst>
              <a:ext uri="{FF2B5EF4-FFF2-40B4-BE49-F238E27FC236}">
                <a16:creationId xmlns:a16="http://schemas.microsoft.com/office/drawing/2014/main" id="{D3D7EA36-750F-7203-2A58-42B8F49E8371}"/>
              </a:ext>
            </a:extLst>
          </p:cNvPr>
          <p:cNvSpPr txBox="1"/>
          <p:nvPr/>
        </p:nvSpPr>
        <p:spPr>
          <a:xfrm>
            <a:off x="686869" y="3169858"/>
            <a:ext cx="878006" cy="430887"/>
          </a:xfrm>
          <a:prstGeom prst="rect">
            <a:avLst/>
          </a:prstGeom>
          <a:noFill/>
        </p:spPr>
        <p:txBody>
          <a:bodyPr wrap="square">
            <a:spAutoFit/>
          </a:bodyPr>
          <a:lstStyle/>
          <a:p>
            <a:r>
              <a:rPr lang="en-US" sz="2200" kern="150" dirty="0">
                <a:latin typeface="+mj-lt"/>
                <a:ea typeface="Times New Roman" panose="02020603050405020304" pitchFamily="18" charset="0"/>
                <a:cs typeface="Times New Roman" panose="02020603050405020304" pitchFamily="18" charset="0"/>
              </a:rPr>
              <a:t>Then</a:t>
            </a:r>
            <a:endParaRPr lang="en-US" sz="2200" dirty="0"/>
          </a:p>
        </p:txBody>
      </p:sp>
      <p:sp>
        <p:nvSpPr>
          <p:cNvPr id="12" name="TextBox 11">
            <a:extLst>
              <a:ext uri="{FF2B5EF4-FFF2-40B4-BE49-F238E27FC236}">
                <a16:creationId xmlns:a16="http://schemas.microsoft.com/office/drawing/2014/main" id="{18C772A4-E69F-D38F-440F-04EC55F7FE54}"/>
              </a:ext>
            </a:extLst>
          </p:cNvPr>
          <p:cNvSpPr txBox="1"/>
          <p:nvPr/>
        </p:nvSpPr>
        <p:spPr>
          <a:xfrm>
            <a:off x="686869" y="3951345"/>
            <a:ext cx="3684964" cy="430887"/>
          </a:xfrm>
          <a:prstGeom prst="rect">
            <a:avLst/>
          </a:prstGeom>
          <a:noFill/>
        </p:spPr>
        <p:txBody>
          <a:bodyPr wrap="square">
            <a:spAutoFit/>
          </a:bodyPr>
          <a:lstStyle/>
          <a:p>
            <a:r>
              <a:rPr lang="en-US" sz="2200" kern="150" dirty="0">
                <a:latin typeface="+mj-lt"/>
                <a:ea typeface="Times New Roman" panose="02020603050405020304" pitchFamily="18" charset="0"/>
                <a:cs typeface="Times New Roman" panose="02020603050405020304" pitchFamily="18" charset="0"/>
              </a:rPr>
              <a:t>and since f(x*) = 0 we have</a:t>
            </a:r>
            <a:endParaRPr lang="en-US" sz="2200" dirty="0"/>
          </a:p>
        </p:txBody>
      </p:sp>
      <p:pic>
        <p:nvPicPr>
          <p:cNvPr id="13" name="Picture 12">
            <a:extLst>
              <a:ext uri="{FF2B5EF4-FFF2-40B4-BE49-F238E27FC236}">
                <a16:creationId xmlns:a16="http://schemas.microsoft.com/office/drawing/2014/main" id="{B3FEF819-A58D-316A-C495-8E6346332229}"/>
              </a:ext>
            </a:extLst>
          </p:cNvPr>
          <p:cNvPicPr>
            <a:picLocks noChangeAspect="1"/>
          </p:cNvPicPr>
          <p:nvPr/>
        </p:nvPicPr>
        <p:blipFill>
          <a:blip r:embed="rId3"/>
          <a:stretch>
            <a:fillRect/>
          </a:stretch>
        </p:blipFill>
        <p:spPr>
          <a:xfrm>
            <a:off x="5278516" y="4327641"/>
            <a:ext cx="1634966" cy="676538"/>
          </a:xfrm>
          <a:prstGeom prst="rect">
            <a:avLst/>
          </a:prstGeom>
        </p:spPr>
      </p:pic>
      <p:sp>
        <p:nvSpPr>
          <p:cNvPr id="14" name="TextBox 13">
            <a:extLst>
              <a:ext uri="{FF2B5EF4-FFF2-40B4-BE49-F238E27FC236}">
                <a16:creationId xmlns:a16="http://schemas.microsoft.com/office/drawing/2014/main" id="{1FF21B09-C53F-5B48-E4E3-0B26C61091A0}"/>
              </a:ext>
            </a:extLst>
          </p:cNvPr>
          <p:cNvSpPr txBox="1"/>
          <p:nvPr/>
        </p:nvSpPr>
        <p:spPr>
          <a:xfrm>
            <a:off x="686869" y="5221537"/>
            <a:ext cx="11039055" cy="430887"/>
          </a:xfrm>
          <a:prstGeom prst="rect">
            <a:avLst/>
          </a:prstGeom>
          <a:noFill/>
        </p:spPr>
        <p:txBody>
          <a:bodyPr wrap="square">
            <a:spAutoFit/>
          </a:bodyPr>
          <a:lstStyle/>
          <a:p>
            <a:r>
              <a:rPr lang="en-US" sz="2200" b="1" kern="150" dirty="0">
                <a:latin typeface="+mj-lt"/>
                <a:ea typeface="Times New Roman" panose="02020603050405020304" pitchFamily="18" charset="0"/>
                <a:cs typeface="Times New Roman" panose="02020603050405020304" pitchFamily="18" charset="0"/>
              </a:rPr>
              <a:t>Iterative procedure:</a:t>
            </a:r>
            <a:endParaRPr lang="en-US" sz="2200" kern="150" dirty="0">
              <a:latin typeface="+mj-lt"/>
              <a:ea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98B848E-FEB2-FE45-D02C-066534DF8A2A}"/>
              </a:ext>
            </a:extLst>
          </p:cNvPr>
          <p:cNvPicPr>
            <a:picLocks noChangeAspect="1"/>
          </p:cNvPicPr>
          <p:nvPr/>
        </p:nvPicPr>
        <p:blipFill>
          <a:blip r:embed="rId4"/>
          <a:stretch>
            <a:fillRect/>
          </a:stretch>
        </p:blipFill>
        <p:spPr>
          <a:xfrm>
            <a:off x="5119663" y="5667290"/>
            <a:ext cx="1952672" cy="607081"/>
          </a:xfrm>
          <a:prstGeom prst="rect">
            <a:avLst/>
          </a:prstGeom>
        </p:spPr>
      </p:pic>
      <p:sp>
        <p:nvSpPr>
          <p:cNvPr id="16" name="TextBox 15">
            <a:extLst>
              <a:ext uri="{FF2B5EF4-FFF2-40B4-BE49-F238E27FC236}">
                <a16:creationId xmlns:a16="http://schemas.microsoft.com/office/drawing/2014/main" id="{04C364B2-60DF-36E6-02C9-66C8717EF0ED}"/>
              </a:ext>
            </a:extLst>
          </p:cNvPr>
          <p:cNvSpPr txBox="1"/>
          <p:nvPr/>
        </p:nvSpPr>
        <p:spPr>
          <a:xfrm>
            <a:off x="686868" y="6297879"/>
            <a:ext cx="4032113" cy="430887"/>
          </a:xfrm>
          <a:prstGeom prst="rect">
            <a:avLst/>
          </a:prstGeom>
          <a:noFill/>
        </p:spPr>
        <p:txBody>
          <a:bodyPr wrap="square">
            <a:spAutoFit/>
          </a:bodyPr>
          <a:lstStyle/>
          <a:p>
            <a:r>
              <a:rPr lang="en-US" sz="2200" kern="150" dirty="0">
                <a:latin typeface="+mj-lt"/>
                <a:ea typeface="Times New Roman" panose="02020603050405020304" pitchFamily="18" charset="0"/>
                <a:cs typeface="Times New Roman" panose="02020603050405020304" pitchFamily="18" charset="0"/>
              </a:rPr>
              <a:t>starting from an initial guess x</a:t>
            </a:r>
            <a:r>
              <a:rPr lang="en-US" sz="2200" kern="150" baseline="-25000" dirty="0">
                <a:latin typeface="+mj-lt"/>
                <a:ea typeface="Times New Roman" panose="02020603050405020304" pitchFamily="18" charset="0"/>
                <a:cs typeface="Times New Roman" panose="02020603050405020304" pitchFamily="18" charset="0"/>
              </a:rPr>
              <a:t>0</a:t>
            </a:r>
            <a:endParaRPr lang="en-US" sz="2200" dirty="0"/>
          </a:p>
        </p:txBody>
      </p:sp>
    </p:spTree>
    <p:extLst>
      <p:ext uri="{BB962C8B-B14F-4D97-AF65-F5344CB8AC3E}">
        <p14:creationId xmlns:p14="http://schemas.microsoft.com/office/powerpoint/2010/main" val="604622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15" name="Picture 14">
            <a:extLst>
              <a:ext uri="{FF2B5EF4-FFF2-40B4-BE49-F238E27FC236}">
                <a16:creationId xmlns:a16="http://schemas.microsoft.com/office/drawing/2014/main" id="{D98B848E-FEB2-FE45-D02C-066534DF8A2A}"/>
              </a:ext>
            </a:extLst>
          </p:cNvPr>
          <p:cNvPicPr>
            <a:picLocks noChangeAspect="1"/>
          </p:cNvPicPr>
          <p:nvPr/>
        </p:nvPicPr>
        <p:blipFill>
          <a:blip r:embed="rId2"/>
          <a:stretch>
            <a:fillRect/>
          </a:stretch>
        </p:blipFill>
        <p:spPr>
          <a:xfrm>
            <a:off x="5119664" y="1165086"/>
            <a:ext cx="1952672" cy="607081"/>
          </a:xfrm>
          <a:prstGeom prst="rect">
            <a:avLst/>
          </a:prstGeom>
        </p:spPr>
      </p:pic>
      <p:pic>
        <p:nvPicPr>
          <p:cNvPr id="6" name="Picture 5" descr="Chart, line chart&#10;&#10;Description automatically generated">
            <a:extLst>
              <a:ext uri="{FF2B5EF4-FFF2-40B4-BE49-F238E27FC236}">
                <a16:creationId xmlns:a16="http://schemas.microsoft.com/office/drawing/2014/main" id="{5171F7EC-CBB4-B326-EFBD-3D2D8DB2E0CE}"/>
              </a:ext>
            </a:extLst>
          </p:cNvPr>
          <p:cNvPicPr>
            <a:picLocks noChangeAspect="1"/>
          </p:cNvPicPr>
          <p:nvPr/>
        </p:nvPicPr>
        <p:blipFill>
          <a:blip r:embed="rId3"/>
          <a:stretch>
            <a:fillRect/>
          </a:stretch>
        </p:blipFill>
        <p:spPr>
          <a:xfrm>
            <a:off x="3675806" y="1936318"/>
            <a:ext cx="4840387" cy="3756596"/>
          </a:xfrm>
          <a:prstGeom prst="rect">
            <a:avLst/>
          </a:prstGeom>
        </p:spPr>
      </p:pic>
      <p:sp>
        <p:nvSpPr>
          <p:cNvPr id="9" name="TextBox 8">
            <a:extLst>
              <a:ext uri="{FF2B5EF4-FFF2-40B4-BE49-F238E27FC236}">
                <a16:creationId xmlns:a16="http://schemas.microsoft.com/office/drawing/2014/main" id="{0BBBC353-3D08-0C72-6F09-091ACF0FF14B}"/>
              </a:ext>
            </a:extLst>
          </p:cNvPr>
          <p:cNvSpPr txBox="1"/>
          <p:nvPr/>
        </p:nvSpPr>
        <p:spPr>
          <a:xfrm>
            <a:off x="782404" y="5914970"/>
            <a:ext cx="11039055" cy="769441"/>
          </a:xfrm>
          <a:prstGeom prst="rect">
            <a:avLst/>
          </a:prstGeom>
          <a:noFill/>
        </p:spPr>
        <p:txBody>
          <a:bodyPr wrap="square">
            <a:spAutoFit/>
          </a:bodyPr>
          <a:lstStyle/>
          <a:p>
            <a:r>
              <a:rPr lang="en-US" sz="2200" kern="150" dirty="0">
                <a:latin typeface="+mj-lt"/>
                <a:ea typeface="Times New Roman" panose="02020603050405020304" pitchFamily="18" charset="0"/>
                <a:cs typeface="Times New Roman" panose="02020603050405020304" pitchFamily="18" charset="0"/>
              </a:rPr>
              <a:t>“Quadratic” convergence when works</a:t>
            </a:r>
          </a:p>
          <a:p>
            <a:r>
              <a:rPr lang="en-US" sz="2200" kern="150" dirty="0">
                <a:latin typeface="+mj-lt"/>
                <a:ea typeface="Times New Roman" panose="02020603050405020304" pitchFamily="18" charset="0"/>
                <a:cs typeface="Times New Roman" panose="02020603050405020304" pitchFamily="18" charset="0"/>
              </a:rPr>
              <a:t>However, when we are close to f’ = 0, we have a problem</a:t>
            </a:r>
          </a:p>
        </p:txBody>
      </p:sp>
    </p:spTree>
    <p:extLst>
      <p:ext uri="{BB962C8B-B14F-4D97-AF65-F5344CB8AC3E}">
        <p14:creationId xmlns:p14="http://schemas.microsoft.com/office/powerpoint/2010/main" val="869873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152821-6F1D-15C7-0F0F-01F4D809A3D4}"/>
              </a:ext>
            </a:extLst>
          </p:cNvPr>
          <p:cNvPicPr>
            <a:picLocks noChangeAspect="1"/>
          </p:cNvPicPr>
          <p:nvPr/>
        </p:nvPicPr>
        <p:blipFill>
          <a:blip r:embed="rId2"/>
          <a:stretch>
            <a:fillRect/>
          </a:stretch>
        </p:blipFill>
        <p:spPr>
          <a:xfrm>
            <a:off x="831874" y="5938370"/>
            <a:ext cx="5332007" cy="394195"/>
          </a:xfrm>
          <a:prstGeom prst="rect">
            <a:avLst/>
          </a:prstGeom>
        </p:spPr>
      </p:pic>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1CD530A3-02C6-7D80-BB1C-60426C7C2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1570" y="1787217"/>
            <a:ext cx="4453055" cy="3283566"/>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5069B975-B813-57D6-055E-676FAC4A41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83421" y="1428846"/>
            <a:ext cx="1945415" cy="225090"/>
          </a:xfrm>
          <a:prstGeom prst="rect">
            <a:avLst/>
          </a:prstGeom>
        </p:spPr>
      </p:pic>
      <p:cxnSp>
        <p:nvCxnSpPr>
          <p:cNvPr id="9" name="Straight Connector 8">
            <a:extLst>
              <a:ext uri="{FF2B5EF4-FFF2-40B4-BE49-F238E27FC236}">
                <a16:creationId xmlns:a16="http://schemas.microsoft.com/office/drawing/2014/main" id="{10E4083B-753E-F712-F3F0-44E70B5D9F6F}"/>
              </a:ext>
            </a:extLst>
          </p:cNvPr>
          <p:cNvCxnSpPr/>
          <p:nvPr/>
        </p:nvCxnSpPr>
        <p:spPr>
          <a:xfrm>
            <a:off x="4872250" y="6315889"/>
            <a:ext cx="18651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84BEB01-F4E0-13F5-63C8-802035340218}"/>
              </a:ext>
            </a:extLst>
          </p:cNvPr>
          <p:cNvPicPr>
            <a:picLocks noChangeAspect="1"/>
          </p:cNvPicPr>
          <p:nvPr/>
        </p:nvPicPr>
        <p:blipFill>
          <a:blip r:embed="rId6"/>
          <a:stretch>
            <a:fillRect/>
          </a:stretch>
        </p:blipFill>
        <p:spPr>
          <a:xfrm>
            <a:off x="533410" y="1627785"/>
            <a:ext cx="7028160" cy="4044984"/>
          </a:xfrm>
          <a:prstGeom prst="rect">
            <a:avLst/>
          </a:prstGeom>
        </p:spPr>
      </p:pic>
    </p:spTree>
    <p:extLst>
      <p:ext uri="{BB962C8B-B14F-4D97-AF65-F5344CB8AC3E}">
        <p14:creationId xmlns:p14="http://schemas.microsoft.com/office/powerpoint/2010/main" val="3329804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AB767C7F-973C-5A41-B2AD-072EB837B064}"/>
              </a:ext>
            </a:extLst>
          </p:cNvPr>
          <p:cNvPicPr>
            <a:picLocks noChangeAspect="1"/>
          </p:cNvPicPr>
          <p:nvPr/>
        </p:nvPicPr>
        <p:blipFill>
          <a:blip r:embed="rId2"/>
          <a:stretch>
            <a:fillRect/>
          </a:stretch>
        </p:blipFill>
        <p:spPr>
          <a:xfrm>
            <a:off x="3047999" y="1467676"/>
            <a:ext cx="6096000" cy="4572000"/>
          </a:xfrm>
          <a:prstGeom prst="rect">
            <a:avLst/>
          </a:prstGeom>
        </p:spPr>
      </p:pic>
      <p:pic>
        <p:nvPicPr>
          <p:cNvPr id="10" name="Graphic 9">
            <a:extLst>
              <a:ext uri="{FF2B5EF4-FFF2-40B4-BE49-F238E27FC236}">
                <a16:creationId xmlns:a16="http://schemas.microsoft.com/office/drawing/2014/main" id="{A4B1C0E5-D839-D9D9-C7C8-D0C8D8CB03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3292" y="1374664"/>
            <a:ext cx="1945415" cy="225090"/>
          </a:xfrm>
          <a:prstGeom prst="rect">
            <a:avLst/>
          </a:prstGeom>
        </p:spPr>
      </p:pic>
    </p:spTree>
    <p:extLst>
      <p:ext uri="{BB962C8B-B14F-4D97-AF65-F5344CB8AC3E}">
        <p14:creationId xmlns:p14="http://schemas.microsoft.com/office/powerpoint/2010/main" val="328740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 issues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6" name="Picture 5" descr="Chart, diagram&#10;&#10;Description automatically generated">
            <a:extLst>
              <a:ext uri="{FF2B5EF4-FFF2-40B4-BE49-F238E27FC236}">
                <a16:creationId xmlns:a16="http://schemas.microsoft.com/office/drawing/2014/main" id="{19B91C38-9332-422D-990C-C66C268F68FE}"/>
              </a:ext>
            </a:extLst>
          </p:cNvPr>
          <p:cNvPicPr>
            <a:picLocks noChangeAspect="1"/>
          </p:cNvPicPr>
          <p:nvPr/>
        </p:nvPicPr>
        <p:blipFill>
          <a:blip r:embed="rId2"/>
          <a:stretch>
            <a:fillRect/>
          </a:stretch>
        </p:blipFill>
        <p:spPr>
          <a:xfrm>
            <a:off x="3047999" y="1530188"/>
            <a:ext cx="6096000" cy="4572000"/>
          </a:xfrm>
          <a:prstGeom prst="rect">
            <a:avLst/>
          </a:prstGeom>
        </p:spPr>
      </p:pic>
      <p:pic>
        <p:nvPicPr>
          <p:cNvPr id="9" name="Graphic 8">
            <a:extLst>
              <a:ext uri="{FF2B5EF4-FFF2-40B4-BE49-F238E27FC236}">
                <a16:creationId xmlns:a16="http://schemas.microsoft.com/office/drawing/2014/main" id="{8CF12C9B-4C6C-3D68-F537-66A92632CF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7756" y="1252363"/>
            <a:ext cx="1776486" cy="256070"/>
          </a:xfrm>
          <a:prstGeom prst="rect">
            <a:avLst/>
          </a:prstGeom>
        </p:spPr>
      </p:pic>
      <p:sp>
        <p:nvSpPr>
          <p:cNvPr id="10" name="TextBox 9">
            <a:extLst>
              <a:ext uri="{FF2B5EF4-FFF2-40B4-BE49-F238E27FC236}">
                <a16:creationId xmlns:a16="http://schemas.microsoft.com/office/drawing/2014/main" id="{5076FC3E-0DF4-C6CD-63A9-0D6CAA4394F2}"/>
              </a:ext>
            </a:extLst>
          </p:cNvPr>
          <p:cNvSpPr txBox="1"/>
          <p:nvPr/>
        </p:nvSpPr>
        <p:spPr>
          <a:xfrm>
            <a:off x="689210" y="6268195"/>
            <a:ext cx="9249447" cy="430887"/>
          </a:xfrm>
          <a:prstGeom prst="rect">
            <a:avLst/>
          </a:prstGeom>
          <a:noFill/>
        </p:spPr>
        <p:txBody>
          <a:bodyPr wrap="square" rtlCol="0">
            <a:spAutoFit/>
          </a:bodyPr>
          <a:lstStyle/>
          <a:p>
            <a:r>
              <a:rPr lang="en-US" sz="2200" dirty="0"/>
              <a:t>Similar issue as with the secant method; the reason: f’ = 0 at x = 0.577…</a:t>
            </a:r>
          </a:p>
        </p:txBody>
      </p:sp>
    </p:spTree>
    <p:extLst>
      <p:ext uri="{BB962C8B-B14F-4D97-AF65-F5344CB8AC3E}">
        <p14:creationId xmlns:p14="http://schemas.microsoft.com/office/powerpoint/2010/main" val="3729067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 issues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A33352C-1E36-4E51-4778-1E659ABB2C1D}"/>
                  </a:ext>
                </a:extLst>
              </p:cNvPr>
              <p:cNvSpPr txBox="1"/>
              <p:nvPr/>
            </p:nvSpPr>
            <p:spPr>
              <a:xfrm>
                <a:off x="491319" y="1152235"/>
                <a:ext cx="9473821" cy="369332"/>
              </a:xfrm>
              <a:prstGeom prst="rect">
                <a:avLst/>
              </a:prstGeom>
              <a:noFill/>
            </p:spPr>
            <p:txBody>
              <a:bodyPr wrap="square" rtlCol="0">
                <a:spAutoFit/>
              </a:bodyPr>
              <a:lstStyle/>
              <a:p>
                <a:r>
                  <a:rPr lang="en-US" dirty="0"/>
                  <a:t>Try finding the root of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−2</m:t>
                    </m:r>
                    <m:r>
                      <a:rPr lang="en-US" b="0" i="1" smtClean="0">
                        <a:latin typeface="Cambria Math" panose="02040503050406030204" pitchFamily="18" charset="0"/>
                      </a:rPr>
                      <m:t>𝑥</m:t>
                    </m:r>
                    <m:r>
                      <a:rPr lang="en-US" b="0" i="1" smtClean="0">
                        <a:latin typeface="Cambria Math" panose="02040503050406030204" pitchFamily="18" charset="0"/>
                      </a:rPr>
                      <m:t>+2</m:t>
                    </m:r>
                  </m:oMath>
                </a14:m>
                <a:r>
                  <a:rPr lang="en-US" dirty="0"/>
                  <a:t> with an initial guess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=0</m:t>
                    </m:r>
                  </m:oMath>
                </a14:m>
                <a:endParaRPr lang="en-US" dirty="0"/>
              </a:p>
            </p:txBody>
          </p:sp>
        </mc:Choice>
        <mc:Fallback xmlns="">
          <p:sp>
            <p:nvSpPr>
              <p:cNvPr id="3" name="TextBox 2">
                <a:extLst>
                  <a:ext uri="{FF2B5EF4-FFF2-40B4-BE49-F238E27FC236}">
                    <a16:creationId xmlns:a16="http://schemas.microsoft.com/office/drawing/2014/main" id="{8A33352C-1E36-4E51-4778-1E659ABB2C1D}"/>
                  </a:ext>
                </a:extLst>
              </p:cNvPr>
              <p:cNvSpPr txBox="1">
                <a:spLocks noRot="1" noChangeAspect="1" noMove="1" noResize="1" noEditPoints="1" noAdjustHandles="1" noChangeArrowheads="1" noChangeShapeType="1" noTextEdit="1"/>
              </p:cNvSpPr>
              <p:nvPr/>
            </p:nvSpPr>
            <p:spPr>
              <a:xfrm>
                <a:off x="491319" y="1152235"/>
                <a:ext cx="9473821" cy="369332"/>
              </a:xfrm>
              <a:prstGeom prst="rect">
                <a:avLst/>
              </a:prstGeom>
              <a:blipFill>
                <a:blip r:embed="rId2"/>
                <a:stretch>
                  <a:fillRect l="-57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9BF2D5-F0DD-5BB7-B355-20DB9F2BC75B}"/>
                  </a:ext>
                </a:extLst>
              </p:cNvPr>
              <p:cNvSpPr txBox="1"/>
              <p:nvPr/>
            </p:nvSpPr>
            <p:spPr>
              <a:xfrm>
                <a:off x="641444" y="1886669"/>
                <a:ext cx="4430973" cy="430887"/>
              </a:xfrm>
              <a:prstGeom prst="rect">
                <a:avLst/>
              </a:prstGeom>
              <a:noFill/>
            </p:spPr>
            <p:txBody>
              <a:bodyPr wrap="square" rtlCol="0">
                <a:spAutoFit/>
              </a:bodyPr>
              <a:lstStyle/>
              <a:p>
                <a:r>
                  <a:rPr lang="en-US" sz="2200" b="0" dirty="0"/>
                  <a:t>Iteration 1: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=2,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b="0" i="1" smtClean="0">
                        <a:latin typeface="Cambria Math" panose="02040503050406030204" pitchFamily="18" charset="0"/>
                      </a:rPr>
                      <m:t>=−2</m:t>
                    </m:r>
                  </m:oMath>
                </a14:m>
                <a:endParaRPr lang="en-US" i="1" dirty="0"/>
              </a:p>
            </p:txBody>
          </p:sp>
        </mc:Choice>
        <mc:Fallback xmlns="">
          <p:sp>
            <p:nvSpPr>
              <p:cNvPr id="4" name="TextBox 3">
                <a:extLst>
                  <a:ext uri="{FF2B5EF4-FFF2-40B4-BE49-F238E27FC236}">
                    <a16:creationId xmlns:a16="http://schemas.microsoft.com/office/drawing/2014/main" id="{269BF2D5-F0DD-5BB7-B355-20DB9F2BC75B}"/>
                  </a:ext>
                </a:extLst>
              </p:cNvPr>
              <p:cNvSpPr txBox="1">
                <a:spLocks noRot="1" noChangeAspect="1" noMove="1" noResize="1" noEditPoints="1" noAdjustHandles="1" noChangeArrowheads="1" noChangeShapeType="1" noTextEdit="1"/>
              </p:cNvSpPr>
              <p:nvPr/>
            </p:nvSpPr>
            <p:spPr>
              <a:xfrm>
                <a:off x="641444" y="1886669"/>
                <a:ext cx="4430973" cy="430887"/>
              </a:xfrm>
              <a:prstGeom prst="rect">
                <a:avLst/>
              </a:prstGeom>
              <a:blipFill>
                <a:blip r:embed="rId3"/>
                <a:stretch>
                  <a:fillRect l="-1788" t="-9859" b="-267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7BAD1A-8AEA-0C62-862E-7B7DCCD7BBE7}"/>
                  </a:ext>
                </a:extLst>
              </p:cNvPr>
              <p:cNvSpPr txBox="1"/>
              <p:nvPr/>
            </p:nvSpPr>
            <p:spPr>
              <a:xfrm>
                <a:off x="2872853" y="2574878"/>
                <a:ext cx="2274628" cy="439864"/>
              </a:xfrm>
              <a:prstGeom prst="rect">
                <a:avLst/>
              </a:prstGeom>
              <a:noFill/>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b="0" i="1" smtClean="0">
                            <a:latin typeface="Cambria Math" panose="02040503050406030204" pitchFamily="18" charset="0"/>
                          </a:rPr>
                          <m:t>)</m:t>
                        </m:r>
                      </m:num>
                      <m:den>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den>
                    </m:f>
                  </m:oMath>
                </a14:m>
                <a:r>
                  <a:rPr lang="en-US" dirty="0"/>
                  <a:t> = 1</a:t>
                </a:r>
              </a:p>
            </p:txBody>
          </p:sp>
        </mc:Choice>
        <mc:Fallback xmlns="">
          <p:sp>
            <p:nvSpPr>
              <p:cNvPr id="5" name="TextBox 4">
                <a:extLst>
                  <a:ext uri="{FF2B5EF4-FFF2-40B4-BE49-F238E27FC236}">
                    <a16:creationId xmlns:a16="http://schemas.microsoft.com/office/drawing/2014/main" id="{317BAD1A-8AEA-0C62-862E-7B7DCCD7BBE7}"/>
                  </a:ext>
                </a:extLst>
              </p:cNvPr>
              <p:cNvSpPr txBox="1">
                <a:spLocks noRot="1" noChangeAspect="1" noMove="1" noResize="1" noEditPoints="1" noAdjustHandles="1" noChangeArrowheads="1" noChangeShapeType="1" noTextEdit="1"/>
              </p:cNvSpPr>
              <p:nvPr/>
            </p:nvSpPr>
            <p:spPr>
              <a:xfrm>
                <a:off x="2872853" y="2574878"/>
                <a:ext cx="2274628" cy="439864"/>
              </a:xfrm>
              <a:prstGeom prst="rect">
                <a:avLst/>
              </a:prstGeom>
              <a:blipFill>
                <a:blip r:embed="rId4"/>
                <a:stretch>
                  <a:fillRect l="-2681" t="-2740"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B23873-E10E-C0F4-E8D2-3F4BFC7507E9}"/>
                  </a:ext>
                </a:extLst>
              </p:cNvPr>
              <p:cNvSpPr txBox="1"/>
              <p:nvPr/>
            </p:nvSpPr>
            <p:spPr>
              <a:xfrm>
                <a:off x="641445" y="3333619"/>
                <a:ext cx="3998794" cy="430887"/>
              </a:xfrm>
              <a:prstGeom prst="rect">
                <a:avLst/>
              </a:prstGeom>
              <a:noFill/>
            </p:spPr>
            <p:txBody>
              <a:bodyPr wrap="square" rtlCol="0">
                <a:spAutoFit/>
              </a:bodyPr>
              <a:lstStyle/>
              <a:p>
                <a:r>
                  <a:rPr lang="en-US" sz="2200" b="0" dirty="0"/>
                  <a:t>Iteration 2: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=1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=1</m:t>
                    </m:r>
                  </m:oMath>
                </a14:m>
                <a:endParaRPr lang="en-US" i="1" dirty="0"/>
              </a:p>
            </p:txBody>
          </p:sp>
        </mc:Choice>
        <mc:Fallback xmlns="">
          <p:sp>
            <p:nvSpPr>
              <p:cNvPr id="12" name="TextBox 11">
                <a:extLst>
                  <a:ext uri="{FF2B5EF4-FFF2-40B4-BE49-F238E27FC236}">
                    <a16:creationId xmlns:a16="http://schemas.microsoft.com/office/drawing/2014/main" id="{8BB23873-E10E-C0F4-E8D2-3F4BFC7507E9}"/>
                  </a:ext>
                </a:extLst>
              </p:cNvPr>
              <p:cNvSpPr txBox="1">
                <a:spLocks noRot="1" noChangeAspect="1" noMove="1" noResize="1" noEditPoints="1" noAdjustHandles="1" noChangeArrowheads="1" noChangeShapeType="1" noTextEdit="1"/>
              </p:cNvSpPr>
              <p:nvPr/>
            </p:nvSpPr>
            <p:spPr>
              <a:xfrm>
                <a:off x="641445" y="3333619"/>
                <a:ext cx="3998794" cy="430887"/>
              </a:xfrm>
              <a:prstGeom prst="rect">
                <a:avLst/>
              </a:prstGeom>
              <a:blipFill>
                <a:blip r:embed="rId5"/>
                <a:stretch>
                  <a:fillRect l="-1982" t="-11268" b="-253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F608006-4A9A-3EBF-91BB-18B0F554CEE1}"/>
                  </a:ext>
                </a:extLst>
              </p:cNvPr>
              <p:cNvSpPr txBox="1"/>
              <p:nvPr/>
            </p:nvSpPr>
            <p:spPr>
              <a:xfrm>
                <a:off x="2872853" y="4021828"/>
                <a:ext cx="2274628" cy="439864"/>
              </a:xfrm>
              <a:prstGeom prst="rect">
                <a:avLst/>
              </a:prstGeom>
              <a:noFill/>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num>
                      <m:den>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e>
                        </m:d>
                      </m:den>
                    </m:f>
                  </m:oMath>
                </a14:m>
                <a:r>
                  <a:rPr lang="en-US" dirty="0"/>
                  <a:t> = 0</a:t>
                </a:r>
              </a:p>
            </p:txBody>
          </p:sp>
        </mc:Choice>
        <mc:Fallback xmlns="">
          <p:sp>
            <p:nvSpPr>
              <p:cNvPr id="13" name="TextBox 12">
                <a:extLst>
                  <a:ext uri="{FF2B5EF4-FFF2-40B4-BE49-F238E27FC236}">
                    <a16:creationId xmlns:a16="http://schemas.microsoft.com/office/drawing/2014/main" id="{3F608006-4A9A-3EBF-91BB-18B0F554CEE1}"/>
                  </a:ext>
                </a:extLst>
              </p:cNvPr>
              <p:cNvSpPr txBox="1">
                <a:spLocks noRot="1" noChangeAspect="1" noMove="1" noResize="1" noEditPoints="1" noAdjustHandles="1" noChangeArrowheads="1" noChangeShapeType="1" noTextEdit="1"/>
              </p:cNvSpPr>
              <p:nvPr/>
            </p:nvSpPr>
            <p:spPr>
              <a:xfrm>
                <a:off x="2872853" y="4021828"/>
                <a:ext cx="2274628" cy="439864"/>
              </a:xfrm>
              <a:prstGeom prst="rect">
                <a:avLst/>
              </a:prstGeom>
              <a:blipFill>
                <a:blip r:embed="rId6"/>
                <a:stretch>
                  <a:fillRect l="-2681" t="-2778" b="-18056"/>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2C7BA3CF-2ABA-F52D-0048-1E6B4FDBA1DC}"/>
              </a:ext>
            </a:extLst>
          </p:cNvPr>
          <p:cNvSpPr txBox="1"/>
          <p:nvPr/>
        </p:nvSpPr>
        <p:spPr>
          <a:xfrm>
            <a:off x="2872853" y="4822739"/>
            <a:ext cx="2606722" cy="369332"/>
          </a:xfrm>
          <a:prstGeom prst="rect">
            <a:avLst/>
          </a:prstGeom>
          <a:noFill/>
        </p:spPr>
        <p:txBody>
          <a:bodyPr wrap="square" rtlCol="0">
            <a:spAutoFit/>
          </a:bodyPr>
          <a:lstStyle/>
          <a:p>
            <a:r>
              <a:rPr lang="en-US" dirty="0"/>
              <a:t>We are back to </a:t>
            </a:r>
            <a:r>
              <a:rPr lang="en-US" i="1" dirty="0"/>
              <a:t>x</a:t>
            </a:r>
            <a:r>
              <a:rPr lang="en-US" i="1" baseline="-25000" dirty="0"/>
              <a:t>0</a:t>
            </a:r>
            <a:r>
              <a:rPr lang="en-US" dirty="0"/>
              <a:t>!</a:t>
            </a:r>
          </a:p>
        </p:txBody>
      </p:sp>
      <p:pic>
        <p:nvPicPr>
          <p:cNvPr id="17" name="Picture 16" descr="Chart, line chart&#10;&#10;Description automatically generated">
            <a:extLst>
              <a:ext uri="{FF2B5EF4-FFF2-40B4-BE49-F238E27FC236}">
                <a16:creationId xmlns:a16="http://schemas.microsoft.com/office/drawing/2014/main" id="{8142E389-CCA0-2DCD-03D6-8400209BA82F}"/>
              </a:ext>
            </a:extLst>
          </p:cNvPr>
          <p:cNvPicPr>
            <a:picLocks noChangeAspect="1"/>
          </p:cNvPicPr>
          <p:nvPr/>
        </p:nvPicPr>
        <p:blipFill>
          <a:blip r:embed="rId7"/>
          <a:stretch>
            <a:fillRect/>
          </a:stretch>
        </p:blipFill>
        <p:spPr>
          <a:xfrm>
            <a:off x="6084850" y="1621173"/>
            <a:ext cx="5736609" cy="4302457"/>
          </a:xfrm>
          <a:prstGeom prst="rect">
            <a:avLst/>
          </a:prstGeom>
        </p:spPr>
      </p:pic>
      <p:sp>
        <p:nvSpPr>
          <p:cNvPr id="18" name="TextBox 17">
            <a:extLst>
              <a:ext uri="{FF2B5EF4-FFF2-40B4-BE49-F238E27FC236}">
                <a16:creationId xmlns:a16="http://schemas.microsoft.com/office/drawing/2014/main" id="{3E75F565-4583-C9C7-7CF2-1D8F11C94028}"/>
              </a:ext>
            </a:extLst>
          </p:cNvPr>
          <p:cNvSpPr txBox="1"/>
          <p:nvPr/>
        </p:nvSpPr>
        <p:spPr>
          <a:xfrm>
            <a:off x="680111" y="6268080"/>
            <a:ext cx="9096235" cy="430887"/>
          </a:xfrm>
          <a:prstGeom prst="rect">
            <a:avLst/>
          </a:prstGeom>
          <a:noFill/>
        </p:spPr>
        <p:txBody>
          <a:bodyPr wrap="square" rtlCol="0">
            <a:spAutoFit/>
          </a:bodyPr>
          <a:lstStyle/>
          <a:p>
            <a:r>
              <a:rPr lang="en-US" sz="2200" dirty="0"/>
              <a:t>The main issue is, again, we have points with f’ = 0 in the neighborhood</a:t>
            </a:r>
          </a:p>
        </p:txBody>
      </p:sp>
    </p:spTree>
    <p:extLst>
      <p:ext uri="{BB962C8B-B14F-4D97-AF65-F5344CB8AC3E}">
        <p14:creationId xmlns:p14="http://schemas.microsoft.com/office/powerpoint/2010/main" val="1916302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Summary</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9" name="Picture 8" descr="Chart, line chart&#10;&#10;Description automatically generated">
            <a:extLst>
              <a:ext uri="{FF2B5EF4-FFF2-40B4-BE49-F238E27FC236}">
                <a16:creationId xmlns:a16="http://schemas.microsoft.com/office/drawing/2014/main" id="{F990C17D-8690-AF80-81F9-4FD44811A321}"/>
              </a:ext>
            </a:extLst>
          </p:cNvPr>
          <p:cNvPicPr>
            <a:picLocks noChangeAspect="1"/>
          </p:cNvPicPr>
          <p:nvPr/>
        </p:nvPicPr>
        <p:blipFill>
          <a:blip r:embed="rId2"/>
          <a:stretch>
            <a:fillRect/>
          </a:stretch>
        </p:blipFill>
        <p:spPr>
          <a:xfrm>
            <a:off x="511389" y="2439886"/>
            <a:ext cx="3240000" cy="2430000"/>
          </a:xfrm>
          <a:prstGeom prst="rect">
            <a:avLst/>
          </a:prstGeom>
        </p:spPr>
      </p:pic>
      <p:pic>
        <p:nvPicPr>
          <p:cNvPr id="17" name="Picture 16" descr="Chart, line chart&#10;&#10;Description automatically generated">
            <a:extLst>
              <a:ext uri="{FF2B5EF4-FFF2-40B4-BE49-F238E27FC236}">
                <a16:creationId xmlns:a16="http://schemas.microsoft.com/office/drawing/2014/main" id="{60F75D8B-ED1D-434D-16F4-1FF0DB06FADE}"/>
              </a:ext>
            </a:extLst>
          </p:cNvPr>
          <p:cNvPicPr>
            <a:picLocks noChangeAspect="1"/>
          </p:cNvPicPr>
          <p:nvPr/>
        </p:nvPicPr>
        <p:blipFill>
          <a:blip r:embed="rId3"/>
          <a:stretch>
            <a:fillRect/>
          </a:stretch>
        </p:blipFill>
        <p:spPr>
          <a:xfrm>
            <a:off x="8324703" y="2439886"/>
            <a:ext cx="3240000" cy="2430000"/>
          </a:xfrm>
          <a:prstGeom prst="rect">
            <a:avLst/>
          </a:prstGeom>
        </p:spPr>
      </p:pic>
      <p:pic>
        <p:nvPicPr>
          <p:cNvPr id="20" name="Picture 19" descr="Chart, line chart&#10;&#10;Description automatically generated">
            <a:extLst>
              <a:ext uri="{FF2B5EF4-FFF2-40B4-BE49-F238E27FC236}">
                <a16:creationId xmlns:a16="http://schemas.microsoft.com/office/drawing/2014/main" id="{7C0E6371-60F7-13E5-9648-FCAF6AEBC552}"/>
              </a:ext>
            </a:extLst>
          </p:cNvPr>
          <p:cNvPicPr>
            <a:picLocks noChangeAspect="1"/>
          </p:cNvPicPr>
          <p:nvPr/>
        </p:nvPicPr>
        <p:blipFill>
          <a:blip r:embed="rId4"/>
          <a:stretch>
            <a:fillRect/>
          </a:stretch>
        </p:blipFill>
        <p:spPr>
          <a:xfrm>
            <a:off x="4476000" y="2439886"/>
            <a:ext cx="3240000" cy="2430000"/>
          </a:xfrm>
          <a:prstGeom prst="rect">
            <a:avLst/>
          </a:prstGeom>
        </p:spPr>
      </p:pic>
    </p:spTree>
    <p:extLst>
      <p:ext uri="{BB962C8B-B14F-4D97-AF65-F5344CB8AC3E}">
        <p14:creationId xmlns:p14="http://schemas.microsoft.com/office/powerpoint/2010/main" val="2755645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Summary</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3" name="TextBox 2">
            <a:extLst>
              <a:ext uri="{FF2B5EF4-FFF2-40B4-BE49-F238E27FC236}">
                <a16:creationId xmlns:a16="http://schemas.microsoft.com/office/drawing/2014/main" id="{CBF98DD9-E704-47BB-3F4F-2DDFFFBDACA4}"/>
              </a:ext>
            </a:extLst>
          </p:cNvPr>
          <p:cNvSpPr txBox="1"/>
          <p:nvPr/>
        </p:nvSpPr>
        <p:spPr>
          <a:xfrm>
            <a:off x="750556" y="1610815"/>
            <a:ext cx="5964075" cy="1046440"/>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Bisection method:</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Guaranteed to converge with a fixed rate</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Need to bracket the root</a:t>
            </a:r>
          </a:p>
        </p:txBody>
      </p:sp>
      <p:sp>
        <p:nvSpPr>
          <p:cNvPr id="6" name="TextBox 5">
            <a:extLst>
              <a:ext uri="{FF2B5EF4-FFF2-40B4-BE49-F238E27FC236}">
                <a16:creationId xmlns:a16="http://schemas.microsoft.com/office/drawing/2014/main" id="{8C4A4626-925E-636F-D393-D2DD5BC0A87F}"/>
              </a:ext>
            </a:extLst>
          </p:cNvPr>
          <p:cNvSpPr txBox="1"/>
          <p:nvPr/>
        </p:nvSpPr>
        <p:spPr>
          <a:xfrm>
            <a:off x="750556" y="3255180"/>
            <a:ext cx="5964075" cy="1354217"/>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False position method:</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Guaranteed to converge</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Can be faster than bisection but not always</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Need to bracket the root</a:t>
            </a:r>
          </a:p>
        </p:txBody>
      </p:sp>
      <p:sp>
        <p:nvSpPr>
          <p:cNvPr id="8" name="TextBox 7">
            <a:extLst>
              <a:ext uri="{FF2B5EF4-FFF2-40B4-BE49-F238E27FC236}">
                <a16:creationId xmlns:a16="http://schemas.microsoft.com/office/drawing/2014/main" id="{82EBAEB5-04B0-EEF6-9655-7339E51921B6}"/>
              </a:ext>
            </a:extLst>
          </p:cNvPr>
          <p:cNvSpPr txBox="1"/>
          <p:nvPr/>
        </p:nvSpPr>
        <p:spPr>
          <a:xfrm>
            <a:off x="7015854" y="1610815"/>
            <a:ext cx="4294403" cy="1354217"/>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Secant method:</a:t>
            </a: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Typically faster than bisection and false position</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May not always converge</a:t>
            </a:r>
          </a:p>
        </p:txBody>
      </p:sp>
      <p:sp>
        <p:nvSpPr>
          <p:cNvPr id="11" name="TextBox 10">
            <a:extLst>
              <a:ext uri="{FF2B5EF4-FFF2-40B4-BE49-F238E27FC236}">
                <a16:creationId xmlns:a16="http://schemas.microsoft.com/office/drawing/2014/main" id="{BA697B75-DF5E-74EC-7D1B-0B68B8CDB558}"/>
              </a:ext>
            </a:extLst>
          </p:cNvPr>
          <p:cNvSpPr txBox="1"/>
          <p:nvPr/>
        </p:nvSpPr>
        <p:spPr>
          <a:xfrm>
            <a:off x="7015854" y="3255180"/>
            <a:ext cx="4556219" cy="1969770"/>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Newton-Raphson method:</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Very fast when converges</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Can be sensitive to initial guess</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May not converge if f’(x)=0</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Requires evaluation of the derivative at each step</a:t>
            </a:r>
          </a:p>
        </p:txBody>
      </p:sp>
    </p:spTree>
    <p:extLst>
      <p:ext uri="{BB962C8B-B14F-4D97-AF65-F5344CB8AC3E}">
        <p14:creationId xmlns:p14="http://schemas.microsoft.com/office/powerpoint/2010/main" val="2731756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00B0-00FC-33B8-E2E5-72E92D943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63121-005E-7279-AD97-7C2A8DEB0F9B}"/>
              </a:ext>
            </a:extLst>
          </p:cNvPr>
          <p:cNvSpPr>
            <a:spLocks noGrp="1"/>
          </p:cNvSpPr>
          <p:nvPr>
            <p:ph type="title"/>
          </p:nvPr>
        </p:nvSpPr>
        <p:spPr/>
        <p:txBody>
          <a:bodyPr/>
          <a:lstStyle/>
          <a:p>
            <a:r>
              <a:rPr lang="en-US" dirty="0"/>
              <a:t>Summary</a:t>
            </a:r>
            <a:endParaRPr lang="uk-UA" dirty="0"/>
          </a:p>
        </p:txBody>
      </p:sp>
      <p:sp>
        <p:nvSpPr>
          <p:cNvPr id="7" name="Text Placeholder 6">
            <a:extLst>
              <a:ext uri="{FF2B5EF4-FFF2-40B4-BE49-F238E27FC236}">
                <a16:creationId xmlns:a16="http://schemas.microsoft.com/office/drawing/2014/main" id="{6B881991-0CA8-B0BD-D04F-1349D85066DB}"/>
              </a:ext>
            </a:extLst>
          </p:cNvPr>
          <p:cNvSpPr>
            <a:spLocks noGrp="1"/>
          </p:cNvSpPr>
          <p:nvPr>
            <p:ph type="body" sz="quarter" idx="12"/>
          </p:nvPr>
        </p:nvSpPr>
        <p:spPr/>
        <p:txBody>
          <a:bodyPr/>
          <a:lstStyle/>
          <a:p>
            <a:endParaRPr lang="en-US"/>
          </a:p>
        </p:txBody>
      </p:sp>
      <p:sp>
        <p:nvSpPr>
          <p:cNvPr id="3" name="TextBox 2">
            <a:extLst>
              <a:ext uri="{FF2B5EF4-FFF2-40B4-BE49-F238E27FC236}">
                <a16:creationId xmlns:a16="http://schemas.microsoft.com/office/drawing/2014/main" id="{31FAABFF-ADD9-023F-CA2D-899729CDFF8F}"/>
              </a:ext>
            </a:extLst>
          </p:cNvPr>
          <p:cNvSpPr txBox="1"/>
          <p:nvPr/>
        </p:nvSpPr>
        <p:spPr>
          <a:xfrm>
            <a:off x="750556" y="1610815"/>
            <a:ext cx="5964075" cy="1046440"/>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Bisection method:</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Guaranteed to converge with a fixed rate</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Need to bracket the root</a:t>
            </a:r>
          </a:p>
        </p:txBody>
      </p:sp>
      <p:sp>
        <p:nvSpPr>
          <p:cNvPr id="8" name="TextBox 7">
            <a:extLst>
              <a:ext uri="{FF2B5EF4-FFF2-40B4-BE49-F238E27FC236}">
                <a16:creationId xmlns:a16="http://schemas.microsoft.com/office/drawing/2014/main" id="{9292B4E1-C634-F3B9-E278-E6DDC559208C}"/>
              </a:ext>
            </a:extLst>
          </p:cNvPr>
          <p:cNvSpPr txBox="1"/>
          <p:nvPr/>
        </p:nvSpPr>
        <p:spPr>
          <a:xfrm>
            <a:off x="750556" y="2886804"/>
            <a:ext cx="4294403" cy="1354217"/>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Secant method:</a:t>
            </a:r>
            <a:endParaRPr lang="en-US" sz="2200" kern="150" dirty="0">
              <a:latin typeface="+mj-lt"/>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Typically faster than bisection and false position</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May not always converge</a:t>
            </a:r>
          </a:p>
        </p:txBody>
      </p:sp>
      <p:sp>
        <p:nvSpPr>
          <p:cNvPr id="11" name="TextBox 10">
            <a:extLst>
              <a:ext uri="{FF2B5EF4-FFF2-40B4-BE49-F238E27FC236}">
                <a16:creationId xmlns:a16="http://schemas.microsoft.com/office/drawing/2014/main" id="{4EC87720-EA03-24F4-31E4-184AF6B854DE}"/>
              </a:ext>
            </a:extLst>
          </p:cNvPr>
          <p:cNvSpPr txBox="1"/>
          <p:nvPr/>
        </p:nvSpPr>
        <p:spPr>
          <a:xfrm>
            <a:off x="750556" y="4497521"/>
            <a:ext cx="6229793" cy="1661993"/>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Newton-Raphson method:</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Very fast when converges</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Can be sensitive to initial guess</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May not converge if f’(x)=0</a:t>
            </a:r>
          </a:p>
          <a:p>
            <a:pPr marL="457200" indent="-457200">
              <a:buFont typeface="Arial" panose="020B0604020202020204" pitchFamily="34" charset="0"/>
              <a:buChar char="•"/>
            </a:pPr>
            <a:r>
              <a:rPr lang="en-US" sz="2000" kern="150" dirty="0">
                <a:latin typeface="+mj-lt"/>
                <a:ea typeface="Times New Roman" panose="02020603050405020304" pitchFamily="18" charset="0"/>
                <a:cs typeface="Times New Roman" panose="02020603050405020304" pitchFamily="18" charset="0"/>
              </a:rPr>
              <a:t>Requires evaluation of the derivative at each step</a:t>
            </a:r>
          </a:p>
        </p:txBody>
      </p:sp>
    </p:spTree>
    <p:extLst>
      <p:ext uri="{BB962C8B-B14F-4D97-AF65-F5344CB8AC3E}">
        <p14:creationId xmlns:p14="http://schemas.microsoft.com/office/powerpoint/2010/main" val="1992906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Systems of non-linear equations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AEDC2512-C397-B11C-7C44-EDEA4A4446EA}"/>
              </a:ext>
            </a:extLst>
          </p:cNvPr>
          <p:cNvSpPr txBox="1"/>
          <p:nvPr/>
        </p:nvSpPr>
        <p:spPr>
          <a:xfrm>
            <a:off x="823412" y="1224226"/>
            <a:ext cx="8020337"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Sometimes we need to solve a system of non-linear equations, e.g.</a:t>
            </a:r>
            <a:endParaRPr lang="en-US" sz="2200" i="1" kern="150" dirty="0">
              <a:effectLst/>
              <a:latin typeface="+mj-lt"/>
              <a:ea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1B80BDA-612E-79E3-01FA-E33D8D900427}"/>
              </a:ext>
            </a:extLst>
          </p:cNvPr>
          <p:cNvPicPr>
            <a:picLocks noChangeAspect="1"/>
          </p:cNvPicPr>
          <p:nvPr/>
        </p:nvPicPr>
        <p:blipFill>
          <a:blip r:embed="rId2"/>
          <a:stretch>
            <a:fillRect/>
          </a:stretch>
        </p:blipFill>
        <p:spPr>
          <a:xfrm>
            <a:off x="5176196" y="1722265"/>
            <a:ext cx="1839608" cy="1122556"/>
          </a:xfrm>
          <a:prstGeom prst="rect">
            <a:avLst/>
          </a:prstGeom>
        </p:spPr>
      </p:pic>
      <p:pic>
        <p:nvPicPr>
          <p:cNvPr id="4" name="Picture 3">
            <a:extLst>
              <a:ext uri="{FF2B5EF4-FFF2-40B4-BE49-F238E27FC236}">
                <a16:creationId xmlns:a16="http://schemas.microsoft.com/office/drawing/2014/main" id="{C87B9B6B-67CF-1CA5-3EC4-692E7BE7281A}"/>
              </a:ext>
            </a:extLst>
          </p:cNvPr>
          <p:cNvPicPr>
            <a:picLocks noChangeAspect="1"/>
          </p:cNvPicPr>
          <p:nvPr/>
        </p:nvPicPr>
        <p:blipFill>
          <a:blip r:embed="rId3"/>
          <a:stretch>
            <a:fillRect/>
          </a:stretch>
        </p:blipFill>
        <p:spPr>
          <a:xfrm>
            <a:off x="823412" y="2998113"/>
            <a:ext cx="9002976" cy="362152"/>
          </a:xfrm>
          <a:prstGeom prst="rect">
            <a:avLst/>
          </a:prstGeom>
        </p:spPr>
      </p:pic>
      <p:pic>
        <p:nvPicPr>
          <p:cNvPr id="5" name="Picture 4">
            <a:extLst>
              <a:ext uri="{FF2B5EF4-FFF2-40B4-BE49-F238E27FC236}">
                <a16:creationId xmlns:a16="http://schemas.microsoft.com/office/drawing/2014/main" id="{F12F34B8-0D36-FCB5-CC79-92A1112321AD}"/>
              </a:ext>
            </a:extLst>
          </p:cNvPr>
          <p:cNvPicPr>
            <a:picLocks noChangeAspect="1"/>
          </p:cNvPicPr>
          <p:nvPr/>
        </p:nvPicPr>
        <p:blipFill>
          <a:blip r:embed="rId4"/>
          <a:stretch>
            <a:fillRect/>
          </a:stretch>
        </p:blipFill>
        <p:spPr>
          <a:xfrm>
            <a:off x="5566699" y="3513557"/>
            <a:ext cx="1058601" cy="362152"/>
          </a:xfrm>
          <a:prstGeom prst="rect">
            <a:avLst/>
          </a:prstGeom>
        </p:spPr>
      </p:pic>
      <p:pic>
        <p:nvPicPr>
          <p:cNvPr id="6" name="Picture 5">
            <a:extLst>
              <a:ext uri="{FF2B5EF4-FFF2-40B4-BE49-F238E27FC236}">
                <a16:creationId xmlns:a16="http://schemas.microsoft.com/office/drawing/2014/main" id="{6A41F7F0-B6BE-B489-30D1-B2073D67A6A7}"/>
              </a:ext>
            </a:extLst>
          </p:cNvPr>
          <p:cNvPicPr>
            <a:picLocks noChangeAspect="1"/>
          </p:cNvPicPr>
          <p:nvPr/>
        </p:nvPicPr>
        <p:blipFill>
          <a:blip r:embed="rId5"/>
          <a:stretch>
            <a:fillRect/>
          </a:stretch>
        </p:blipFill>
        <p:spPr>
          <a:xfrm>
            <a:off x="1470923" y="4500091"/>
            <a:ext cx="2226240" cy="589576"/>
          </a:xfrm>
          <a:prstGeom prst="rect">
            <a:avLst/>
          </a:prstGeom>
        </p:spPr>
      </p:pic>
      <p:sp>
        <p:nvSpPr>
          <p:cNvPr id="9" name="TextBox 8">
            <a:extLst>
              <a:ext uri="{FF2B5EF4-FFF2-40B4-BE49-F238E27FC236}">
                <a16:creationId xmlns:a16="http://schemas.microsoft.com/office/drawing/2014/main" id="{22C340F9-98C5-46A9-CEE1-C4D61A8D623A}"/>
              </a:ext>
            </a:extLst>
          </p:cNvPr>
          <p:cNvSpPr txBox="1"/>
          <p:nvPr/>
        </p:nvSpPr>
        <p:spPr>
          <a:xfrm>
            <a:off x="823412" y="3875709"/>
            <a:ext cx="2024421"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For example:</a:t>
            </a:r>
            <a:endParaRPr lang="en-US" sz="2200" i="1" kern="150" dirty="0">
              <a:effectLst/>
              <a:latin typeface="+mj-lt"/>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A6F5056-A49F-453D-8C8C-867567A149C5}"/>
              </a:ext>
            </a:extLst>
          </p:cNvPr>
          <p:cNvSpPr txBox="1"/>
          <p:nvPr/>
        </p:nvSpPr>
        <p:spPr>
          <a:xfrm>
            <a:off x="823412" y="5178743"/>
            <a:ext cx="2024421" cy="430887"/>
          </a:xfrm>
          <a:prstGeom prst="rect">
            <a:avLst/>
          </a:prstGeom>
          <a:noFill/>
        </p:spPr>
        <p:txBody>
          <a:bodyPr wrap="square">
            <a:spAutoFit/>
          </a:bodyPr>
          <a:lstStyle/>
          <a:p>
            <a:r>
              <a:rPr lang="en-US" sz="2200" kern="150" dirty="0">
                <a:effectLst/>
                <a:latin typeface="+mj-lt"/>
                <a:ea typeface="Times New Roman" panose="02020603050405020304" pitchFamily="18" charset="0"/>
                <a:cs typeface="Times New Roman" panose="02020603050405020304" pitchFamily="18" charset="0"/>
              </a:rPr>
              <a:t>i.e.</a:t>
            </a:r>
            <a:endParaRPr lang="en-US" sz="2200" i="1" kern="150" dirty="0">
              <a:effectLst/>
              <a:latin typeface="+mj-lt"/>
              <a:ea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82614113-2866-C7FC-A56C-517978333F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2489" y="4091152"/>
            <a:ext cx="3332329" cy="254278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EF102D8-0A37-20D0-CA81-2FDA5F870AC6}"/>
              </a:ext>
            </a:extLst>
          </p:cNvPr>
          <p:cNvPicPr>
            <a:picLocks noChangeAspect="1"/>
          </p:cNvPicPr>
          <p:nvPr/>
        </p:nvPicPr>
        <p:blipFill>
          <a:blip r:embed="rId7"/>
          <a:stretch>
            <a:fillRect/>
          </a:stretch>
        </p:blipFill>
        <p:spPr>
          <a:xfrm>
            <a:off x="1034511" y="5732819"/>
            <a:ext cx="2912815" cy="905450"/>
          </a:xfrm>
          <a:prstGeom prst="rect">
            <a:avLst/>
          </a:prstGeom>
        </p:spPr>
      </p:pic>
    </p:spTree>
    <p:extLst>
      <p:ext uri="{BB962C8B-B14F-4D97-AF65-F5344CB8AC3E}">
        <p14:creationId xmlns:p14="http://schemas.microsoft.com/office/powerpoint/2010/main" val="4228701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Newton-Raphson method in multiple dimensions</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16" name="TextBox 15">
            <a:extLst>
              <a:ext uri="{FF2B5EF4-FFF2-40B4-BE49-F238E27FC236}">
                <a16:creationId xmlns:a16="http://schemas.microsoft.com/office/drawing/2014/main" id="{9F66EBD4-815D-4040-E2C8-070B29AC378F}"/>
              </a:ext>
            </a:extLst>
          </p:cNvPr>
          <p:cNvSpPr txBox="1"/>
          <p:nvPr/>
        </p:nvSpPr>
        <p:spPr>
          <a:xfrm>
            <a:off x="715114" y="5280763"/>
            <a:ext cx="10272533" cy="400110"/>
          </a:xfrm>
          <a:prstGeom prst="rect">
            <a:avLst/>
          </a:prstGeom>
          <a:noFill/>
        </p:spPr>
        <p:txBody>
          <a:bodyPr wrap="square" rtlCol="0">
            <a:spAutoFit/>
          </a:bodyPr>
          <a:lstStyle/>
          <a:p>
            <a:r>
              <a:rPr lang="en-US" sz="2000" dirty="0"/>
              <a:t>Multi-dimensional Newton-Raphson method requires </a:t>
            </a:r>
            <a:r>
              <a:rPr lang="en-US" sz="2000" b="1" dirty="0"/>
              <a:t>matrix inversion </a:t>
            </a:r>
            <a:r>
              <a:rPr lang="en-US" sz="2000" dirty="0"/>
              <a:t>of the Jacobian (J</a:t>
            </a:r>
            <a:r>
              <a:rPr lang="en-US" sz="2000" baseline="30000" dirty="0"/>
              <a:t>-1</a:t>
            </a:r>
            <a:r>
              <a:rPr lang="en-US" sz="2000" dirty="0"/>
              <a:t>)</a:t>
            </a:r>
          </a:p>
        </p:txBody>
      </p:sp>
      <p:sp>
        <p:nvSpPr>
          <p:cNvPr id="3" name="TextBox 2">
            <a:extLst>
              <a:ext uri="{FF2B5EF4-FFF2-40B4-BE49-F238E27FC236}">
                <a16:creationId xmlns:a16="http://schemas.microsoft.com/office/drawing/2014/main" id="{CF8F9026-5E94-36DF-A63C-1A8814C44E76}"/>
              </a:ext>
            </a:extLst>
          </p:cNvPr>
          <p:cNvSpPr txBox="1"/>
          <p:nvPr/>
        </p:nvSpPr>
        <p:spPr>
          <a:xfrm>
            <a:off x="2250831" y="1220765"/>
            <a:ext cx="2387874" cy="430887"/>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Single equation</a:t>
            </a:r>
            <a:endParaRPr lang="en-US" sz="2200" b="1" i="1" kern="150" dirty="0">
              <a:effectLst/>
              <a:latin typeface="+mj-lt"/>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EF0CAC8-2508-FF22-F3BD-66ABEF663EED}"/>
              </a:ext>
            </a:extLst>
          </p:cNvPr>
          <p:cNvSpPr txBox="1"/>
          <p:nvPr/>
        </p:nvSpPr>
        <p:spPr>
          <a:xfrm>
            <a:off x="8150887" y="1218808"/>
            <a:ext cx="2941655" cy="430887"/>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System of equations</a:t>
            </a:r>
            <a:endParaRPr lang="en-US" sz="2200" b="1" i="1" kern="150" dirty="0">
              <a:effectLst/>
              <a:latin typeface="+mj-lt"/>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A004C48-CEE2-8539-E672-7224992B373D}"/>
              </a:ext>
            </a:extLst>
          </p:cNvPr>
          <p:cNvPicPr>
            <a:picLocks noChangeAspect="1"/>
          </p:cNvPicPr>
          <p:nvPr/>
        </p:nvPicPr>
        <p:blipFill>
          <a:blip r:embed="rId2"/>
          <a:stretch>
            <a:fillRect/>
          </a:stretch>
        </p:blipFill>
        <p:spPr>
          <a:xfrm>
            <a:off x="1401995" y="2611771"/>
            <a:ext cx="3327400" cy="368300"/>
          </a:xfrm>
          <a:prstGeom prst="rect">
            <a:avLst/>
          </a:prstGeom>
        </p:spPr>
      </p:pic>
      <p:pic>
        <p:nvPicPr>
          <p:cNvPr id="6" name="Picture 5">
            <a:extLst>
              <a:ext uri="{FF2B5EF4-FFF2-40B4-BE49-F238E27FC236}">
                <a16:creationId xmlns:a16="http://schemas.microsoft.com/office/drawing/2014/main" id="{45A4A5BD-78AD-323C-B80C-E0600A3BA582}"/>
              </a:ext>
            </a:extLst>
          </p:cNvPr>
          <p:cNvPicPr>
            <a:picLocks noChangeAspect="1"/>
          </p:cNvPicPr>
          <p:nvPr/>
        </p:nvPicPr>
        <p:blipFill>
          <a:blip r:embed="rId3"/>
          <a:stretch>
            <a:fillRect/>
          </a:stretch>
        </p:blipFill>
        <p:spPr>
          <a:xfrm>
            <a:off x="8073439" y="2611771"/>
            <a:ext cx="3251200" cy="419100"/>
          </a:xfrm>
          <a:prstGeom prst="rect">
            <a:avLst/>
          </a:prstGeom>
        </p:spPr>
      </p:pic>
      <p:pic>
        <p:nvPicPr>
          <p:cNvPr id="8" name="Picture 7">
            <a:extLst>
              <a:ext uri="{FF2B5EF4-FFF2-40B4-BE49-F238E27FC236}">
                <a16:creationId xmlns:a16="http://schemas.microsoft.com/office/drawing/2014/main" id="{6A9B0B07-C489-C7F7-6C19-4CDC974F5E31}"/>
              </a:ext>
            </a:extLst>
          </p:cNvPr>
          <p:cNvPicPr>
            <a:picLocks noChangeAspect="1"/>
          </p:cNvPicPr>
          <p:nvPr/>
        </p:nvPicPr>
        <p:blipFill>
          <a:blip r:embed="rId4"/>
          <a:stretch>
            <a:fillRect/>
          </a:stretch>
        </p:blipFill>
        <p:spPr>
          <a:xfrm>
            <a:off x="8885808" y="1771035"/>
            <a:ext cx="1225065" cy="419100"/>
          </a:xfrm>
          <a:prstGeom prst="rect">
            <a:avLst/>
          </a:prstGeom>
        </p:spPr>
      </p:pic>
      <p:pic>
        <p:nvPicPr>
          <p:cNvPr id="9" name="Picture 8">
            <a:extLst>
              <a:ext uri="{FF2B5EF4-FFF2-40B4-BE49-F238E27FC236}">
                <a16:creationId xmlns:a16="http://schemas.microsoft.com/office/drawing/2014/main" id="{AC1F06C4-77CD-DA57-9ED7-BD479DEFD605}"/>
              </a:ext>
            </a:extLst>
          </p:cNvPr>
          <p:cNvPicPr>
            <a:picLocks noChangeAspect="1"/>
          </p:cNvPicPr>
          <p:nvPr/>
        </p:nvPicPr>
        <p:blipFill>
          <a:blip r:embed="rId5"/>
          <a:stretch>
            <a:fillRect/>
          </a:stretch>
        </p:blipFill>
        <p:spPr>
          <a:xfrm>
            <a:off x="2694858" y="1680754"/>
            <a:ext cx="1133061" cy="465932"/>
          </a:xfrm>
          <a:prstGeom prst="rect">
            <a:avLst/>
          </a:prstGeom>
        </p:spPr>
      </p:pic>
      <p:sp>
        <p:nvSpPr>
          <p:cNvPr id="10" name="TextBox 9">
            <a:extLst>
              <a:ext uri="{FF2B5EF4-FFF2-40B4-BE49-F238E27FC236}">
                <a16:creationId xmlns:a16="http://schemas.microsoft.com/office/drawing/2014/main" id="{2F4455F4-F3E8-F063-58C6-1AF6A17494D9}"/>
              </a:ext>
            </a:extLst>
          </p:cNvPr>
          <p:cNvSpPr txBox="1"/>
          <p:nvPr/>
        </p:nvSpPr>
        <p:spPr>
          <a:xfrm>
            <a:off x="5694287" y="1777354"/>
            <a:ext cx="1439818" cy="400110"/>
          </a:xfrm>
          <a:prstGeom prst="rect">
            <a:avLst/>
          </a:prstGeom>
          <a:noFill/>
        </p:spPr>
        <p:txBody>
          <a:bodyPr wrap="none" rtlCol="0">
            <a:spAutoFit/>
          </a:bodyPr>
          <a:lstStyle/>
          <a:p>
            <a:r>
              <a:rPr lang="en-US" sz="2000" dirty="0">
                <a:solidFill>
                  <a:schemeClr val="accent4">
                    <a:lumMod val="75000"/>
                  </a:schemeClr>
                </a:solidFill>
              </a:rPr>
              <a:t>Equation(s)</a:t>
            </a:r>
          </a:p>
        </p:txBody>
      </p:sp>
      <p:sp>
        <p:nvSpPr>
          <p:cNvPr id="11" name="TextBox 10">
            <a:extLst>
              <a:ext uri="{FF2B5EF4-FFF2-40B4-BE49-F238E27FC236}">
                <a16:creationId xmlns:a16="http://schemas.microsoft.com/office/drawing/2014/main" id="{5D3B7642-571E-1531-1E09-24FA53FFB49C}"/>
              </a:ext>
            </a:extLst>
          </p:cNvPr>
          <p:cNvSpPr txBox="1"/>
          <p:nvPr/>
        </p:nvSpPr>
        <p:spPr>
          <a:xfrm>
            <a:off x="5441013" y="2598720"/>
            <a:ext cx="2005677" cy="400110"/>
          </a:xfrm>
          <a:prstGeom prst="rect">
            <a:avLst/>
          </a:prstGeom>
          <a:noFill/>
        </p:spPr>
        <p:txBody>
          <a:bodyPr wrap="none" rtlCol="0">
            <a:spAutoFit/>
          </a:bodyPr>
          <a:lstStyle/>
          <a:p>
            <a:r>
              <a:rPr lang="en-US" sz="2000" dirty="0">
                <a:solidFill>
                  <a:schemeClr val="accent4">
                    <a:lumMod val="75000"/>
                  </a:schemeClr>
                </a:solidFill>
              </a:rPr>
              <a:t>Taylor expansion</a:t>
            </a:r>
          </a:p>
        </p:txBody>
      </p:sp>
      <p:pic>
        <p:nvPicPr>
          <p:cNvPr id="13" name="Picture 12">
            <a:extLst>
              <a:ext uri="{FF2B5EF4-FFF2-40B4-BE49-F238E27FC236}">
                <a16:creationId xmlns:a16="http://schemas.microsoft.com/office/drawing/2014/main" id="{BA25AB79-9774-D34D-3A19-8DD9B68530AB}"/>
              </a:ext>
            </a:extLst>
          </p:cNvPr>
          <p:cNvPicPr>
            <a:picLocks noChangeAspect="1"/>
          </p:cNvPicPr>
          <p:nvPr/>
        </p:nvPicPr>
        <p:blipFill>
          <a:blip r:embed="rId6"/>
          <a:stretch>
            <a:fillRect/>
          </a:stretch>
        </p:blipFill>
        <p:spPr>
          <a:xfrm>
            <a:off x="8198945" y="3120505"/>
            <a:ext cx="1306238" cy="664004"/>
          </a:xfrm>
          <a:prstGeom prst="rect">
            <a:avLst/>
          </a:prstGeom>
        </p:spPr>
      </p:pic>
      <p:sp>
        <p:nvSpPr>
          <p:cNvPr id="15" name="TextBox 14">
            <a:extLst>
              <a:ext uri="{FF2B5EF4-FFF2-40B4-BE49-F238E27FC236}">
                <a16:creationId xmlns:a16="http://schemas.microsoft.com/office/drawing/2014/main" id="{B8F07832-545C-2F3E-33C6-111EE5935A67}"/>
              </a:ext>
            </a:extLst>
          </p:cNvPr>
          <p:cNvSpPr txBox="1"/>
          <p:nvPr/>
        </p:nvSpPr>
        <p:spPr>
          <a:xfrm>
            <a:off x="9505183" y="3244334"/>
            <a:ext cx="1253869" cy="369332"/>
          </a:xfrm>
          <a:prstGeom prst="rect">
            <a:avLst/>
          </a:prstGeom>
          <a:noFill/>
        </p:spPr>
        <p:txBody>
          <a:bodyPr wrap="none" rtlCol="0">
            <a:spAutoFit/>
          </a:bodyPr>
          <a:lstStyle/>
          <a:p>
            <a:r>
              <a:rPr lang="en-US" dirty="0"/>
              <a:t>is Jacobian</a:t>
            </a:r>
          </a:p>
        </p:txBody>
      </p:sp>
      <p:pic>
        <p:nvPicPr>
          <p:cNvPr id="18" name="Picture 17">
            <a:extLst>
              <a:ext uri="{FF2B5EF4-FFF2-40B4-BE49-F238E27FC236}">
                <a16:creationId xmlns:a16="http://schemas.microsoft.com/office/drawing/2014/main" id="{634ABB41-7ADD-8CD5-D429-33C3EEDCCC47}"/>
              </a:ext>
            </a:extLst>
          </p:cNvPr>
          <p:cNvPicPr>
            <a:picLocks noChangeAspect="1"/>
          </p:cNvPicPr>
          <p:nvPr/>
        </p:nvPicPr>
        <p:blipFill>
          <a:blip r:embed="rId7"/>
          <a:stretch>
            <a:fillRect/>
          </a:stretch>
        </p:blipFill>
        <p:spPr>
          <a:xfrm>
            <a:off x="7922859" y="4314403"/>
            <a:ext cx="2984500" cy="355600"/>
          </a:xfrm>
          <a:prstGeom prst="rect">
            <a:avLst/>
          </a:prstGeom>
        </p:spPr>
      </p:pic>
      <p:sp>
        <p:nvSpPr>
          <p:cNvPr id="19" name="TextBox 18">
            <a:extLst>
              <a:ext uri="{FF2B5EF4-FFF2-40B4-BE49-F238E27FC236}">
                <a16:creationId xmlns:a16="http://schemas.microsoft.com/office/drawing/2014/main" id="{B463E7B7-BFA8-5E30-2078-29D581376E56}"/>
              </a:ext>
            </a:extLst>
          </p:cNvPr>
          <p:cNvSpPr txBox="1"/>
          <p:nvPr/>
        </p:nvSpPr>
        <p:spPr>
          <a:xfrm>
            <a:off x="5851381" y="4307537"/>
            <a:ext cx="1088760" cy="400110"/>
          </a:xfrm>
          <a:prstGeom prst="rect">
            <a:avLst/>
          </a:prstGeom>
          <a:noFill/>
        </p:spPr>
        <p:txBody>
          <a:bodyPr wrap="none" rtlCol="0">
            <a:spAutoFit/>
          </a:bodyPr>
          <a:lstStyle/>
          <a:p>
            <a:r>
              <a:rPr lang="en-US" sz="2000" dirty="0">
                <a:solidFill>
                  <a:schemeClr val="accent4">
                    <a:lumMod val="75000"/>
                  </a:schemeClr>
                </a:solidFill>
              </a:rPr>
              <a:t>Iteration</a:t>
            </a:r>
          </a:p>
        </p:txBody>
      </p:sp>
      <p:pic>
        <p:nvPicPr>
          <p:cNvPr id="20" name="Picture 19">
            <a:extLst>
              <a:ext uri="{FF2B5EF4-FFF2-40B4-BE49-F238E27FC236}">
                <a16:creationId xmlns:a16="http://schemas.microsoft.com/office/drawing/2014/main" id="{FD2E8E3B-2119-629C-F11C-E6490721EC56}"/>
              </a:ext>
            </a:extLst>
          </p:cNvPr>
          <p:cNvPicPr>
            <a:picLocks noChangeAspect="1"/>
          </p:cNvPicPr>
          <p:nvPr/>
        </p:nvPicPr>
        <p:blipFill>
          <a:blip r:embed="rId8"/>
          <a:stretch>
            <a:fillRect/>
          </a:stretch>
        </p:blipFill>
        <p:spPr>
          <a:xfrm>
            <a:off x="2035838" y="4042049"/>
            <a:ext cx="2451100" cy="914400"/>
          </a:xfrm>
          <a:prstGeom prst="rect">
            <a:avLst/>
          </a:prstGeom>
        </p:spPr>
      </p:pic>
      <p:sp>
        <p:nvSpPr>
          <p:cNvPr id="21" name="TextBox 20">
            <a:extLst>
              <a:ext uri="{FF2B5EF4-FFF2-40B4-BE49-F238E27FC236}">
                <a16:creationId xmlns:a16="http://schemas.microsoft.com/office/drawing/2014/main" id="{82FB281D-85BD-E8CF-B5AD-91B2971ACA83}"/>
              </a:ext>
            </a:extLst>
          </p:cNvPr>
          <p:cNvSpPr txBox="1"/>
          <p:nvPr/>
        </p:nvSpPr>
        <p:spPr>
          <a:xfrm>
            <a:off x="715114" y="5939462"/>
            <a:ext cx="10272533" cy="400110"/>
          </a:xfrm>
          <a:prstGeom prst="rect">
            <a:avLst/>
          </a:prstGeom>
          <a:noFill/>
        </p:spPr>
        <p:txBody>
          <a:bodyPr wrap="square" rtlCol="0">
            <a:spAutoFit/>
          </a:bodyPr>
          <a:lstStyle/>
          <a:p>
            <a:r>
              <a:rPr lang="en-US" sz="2000" dirty="0"/>
              <a:t>Alternative: Multi-dimensional secant method called </a:t>
            </a:r>
            <a:r>
              <a:rPr lang="en-US" sz="2000" b="1" dirty="0" err="1"/>
              <a:t>Broyden</a:t>
            </a:r>
            <a:r>
              <a:rPr lang="en-US" sz="2000" b="1" dirty="0"/>
              <a:t> method</a:t>
            </a:r>
          </a:p>
        </p:txBody>
      </p:sp>
    </p:spTree>
    <p:extLst>
      <p:ext uri="{BB962C8B-B14F-4D97-AF65-F5344CB8AC3E}">
        <p14:creationId xmlns:p14="http://schemas.microsoft.com/office/powerpoint/2010/main" val="523056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D769315-FB38-4E43-931B-7B25AE190E83}"/>
              </a:ext>
            </a:extLst>
          </p:cNvPr>
          <p:cNvSpPr txBox="1"/>
          <p:nvPr/>
        </p:nvSpPr>
        <p:spPr>
          <a:xfrm>
            <a:off x="3093803" y="1067500"/>
            <a:ext cx="6004393" cy="1323439"/>
          </a:xfrm>
          <a:prstGeom prst="rect">
            <a:avLst/>
          </a:prstGeom>
          <a:noFill/>
        </p:spPr>
        <p:txBody>
          <a:bodyPr wrap="square" rtlCol="0">
            <a:spAutoFit/>
          </a:bodyPr>
          <a:lstStyle/>
          <a:p>
            <a:pPr algn="ctr">
              <a:spcAft>
                <a:spcPts val="600"/>
              </a:spcAft>
            </a:pPr>
            <a:r>
              <a:rPr lang="en-US" sz="4000" dirty="0">
                <a:latin typeface="+mj-lt"/>
              </a:rPr>
              <a:t>Random numbers and Monte Carlo methods</a:t>
            </a:r>
            <a:endParaRPr lang="uk-UA" sz="4000" dirty="0">
              <a:solidFill>
                <a:schemeClr val="bg1">
                  <a:lumMod val="50000"/>
                </a:schemeClr>
              </a:solidFill>
              <a:latin typeface="+mj-lt"/>
            </a:endParaRPr>
          </a:p>
        </p:txBody>
      </p:sp>
      <p:sp>
        <p:nvSpPr>
          <p:cNvPr id="2" name="TextBox 1">
            <a:extLst>
              <a:ext uri="{FF2B5EF4-FFF2-40B4-BE49-F238E27FC236}">
                <a16:creationId xmlns:a16="http://schemas.microsoft.com/office/drawing/2014/main" id="{F26547A1-1CEB-68D5-334E-96C09DE991C1}"/>
              </a:ext>
            </a:extLst>
          </p:cNvPr>
          <p:cNvSpPr txBox="1"/>
          <p:nvPr/>
        </p:nvSpPr>
        <p:spPr>
          <a:xfrm>
            <a:off x="784025" y="6316220"/>
            <a:ext cx="7713799" cy="369332"/>
          </a:xfrm>
          <a:prstGeom prst="rect">
            <a:avLst/>
          </a:prstGeom>
          <a:noFill/>
        </p:spPr>
        <p:txBody>
          <a:bodyPr wrap="square">
            <a:spAutoFit/>
          </a:bodyPr>
          <a:lstStyle/>
          <a:p>
            <a:r>
              <a:rPr lang="en-US" b="1" dirty="0" err="1">
                <a:solidFill>
                  <a:srgbClr val="0808FF"/>
                </a:solidFill>
              </a:rPr>
              <a:t>Jupyter</a:t>
            </a:r>
            <a:r>
              <a:rPr lang="en-US" b="1" dirty="0">
                <a:solidFill>
                  <a:srgbClr val="0808FF"/>
                </a:solidFill>
              </a:rPr>
              <a:t> Notebook: </a:t>
            </a:r>
            <a:r>
              <a:rPr lang="en-US" b="1" dirty="0"/>
              <a:t>3_RandomNumbers-NuSTEAM.ipynb</a:t>
            </a:r>
          </a:p>
        </p:txBody>
      </p:sp>
    </p:spTree>
    <p:extLst>
      <p:ext uri="{BB962C8B-B14F-4D97-AF65-F5344CB8AC3E}">
        <p14:creationId xmlns:p14="http://schemas.microsoft.com/office/powerpoint/2010/main" val="2094719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EAA014-8B46-47C7-B723-4D6ACEB4F8A0}"/>
              </a:ext>
            </a:extLst>
          </p:cNvPr>
          <p:cNvSpPr/>
          <p:nvPr/>
        </p:nvSpPr>
        <p:spPr>
          <a:xfrm>
            <a:off x="767980" y="1251691"/>
            <a:ext cx="9747620" cy="1015663"/>
          </a:xfrm>
          <a:prstGeom prst="rect">
            <a:avLst/>
          </a:prstGeom>
        </p:spPr>
        <p:txBody>
          <a:bodyPr wrap="square">
            <a:spAutoFit/>
          </a:bodyPr>
          <a:lstStyle/>
          <a:p>
            <a:pPr algn="just">
              <a:spcAft>
                <a:spcPts val="600"/>
              </a:spcAft>
              <a:buClr>
                <a:srgbClr val="0808FF"/>
              </a:buClr>
            </a:pPr>
            <a:r>
              <a:rPr lang="en-US" sz="2000" dirty="0"/>
              <a:t>Random numbers play important role, both in modelling physics processes (some of which are regarded as truly random, such as radioactive decay) and as a tool to tackle otherwise intractable problems.</a:t>
            </a:r>
          </a:p>
        </p:txBody>
      </p:sp>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(Pseudo-)random numbers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10" name="Rectangle 9">
            <a:extLst>
              <a:ext uri="{FF2B5EF4-FFF2-40B4-BE49-F238E27FC236}">
                <a16:creationId xmlns:a16="http://schemas.microsoft.com/office/drawing/2014/main" id="{CC6E73DF-FE7D-425A-28A9-BF6BBF3DFEFE}"/>
              </a:ext>
            </a:extLst>
          </p:cNvPr>
          <p:cNvSpPr/>
          <p:nvPr/>
        </p:nvSpPr>
        <p:spPr>
          <a:xfrm>
            <a:off x="767980" y="5271853"/>
            <a:ext cx="8805678" cy="1015663"/>
          </a:xfrm>
          <a:prstGeom prst="rect">
            <a:avLst/>
          </a:prstGeom>
        </p:spPr>
        <p:txBody>
          <a:bodyPr wrap="square">
            <a:spAutoFit/>
          </a:bodyPr>
          <a:lstStyle/>
          <a:p>
            <a:pPr algn="just">
              <a:spcAft>
                <a:spcPts val="600"/>
              </a:spcAft>
              <a:buClr>
                <a:srgbClr val="0808FF"/>
              </a:buClr>
            </a:pPr>
            <a:r>
              <a:rPr lang="en-US" sz="2000" dirty="0"/>
              <a:t>Numbers generated on a computer are not truly random, but a good generator produces numbers that reflect the desired properties of a random variable, hence they are called pseudo-random.</a:t>
            </a:r>
            <a:endParaRPr lang="en-US" sz="2000" baseline="-25000" dirty="0"/>
          </a:p>
        </p:txBody>
      </p:sp>
      <p:sp>
        <p:nvSpPr>
          <p:cNvPr id="5" name="Rectangle 4">
            <a:extLst>
              <a:ext uri="{FF2B5EF4-FFF2-40B4-BE49-F238E27FC236}">
                <a16:creationId xmlns:a16="http://schemas.microsoft.com/office/drawing/2014/main" id="{4E6F16C1-57DA-E344-3460-3B94EEB2023A}"/>
              </a:ext>
            </a:extLst>
          </p:cNvPr>
          <p:cNvSpPr/>
          <p:nvPr/>
        </p:nvSpPr>
        <p:spPr>
          <a:xfrm>
            <a:off x="767980" y="2651655"/>
            <a:ext cx="9747620" cy="1938992"/>
          </a:xfrm>
          <a:prstGeom prst="rect">
            <a:avLst/>
          </a:prstGeom>
        </p:spPr>
        <p:txBody>
          <a:bodyPr wrap="square">
            <a:spAutoFit/>
          </a:bodyPr>
          <a:lstStyle/>
          <a:p>
            <a:pPr algn="just">
              <a:spcAft>
                <a:spcPts val="600"/>
              </a:spcAft>
              <a:buClr>
                <a:srgbClr val="0808FF"/>
              </a:buClr>
            </a:pPr>
            <a:r>
              <a:rPr lang="en-US" sz="2000" dirty="0"/>
              <a:t>Examples:</a:t>
            </a:r>
          </a:p>
          <a:p>
            <a:pPr marL="342900" indent="-342900" algn="just">
              <a:spcAft>
                <a:spcPts val="600"/>
              </a:spcAft>
              <a:buClr>
                <a:srgbClr val="0808FF"/>
              </a:buClr>
              <a:buFont typeface="Arial" panose="020B0604020202020204" pitchFamily="34" charset="0"/>
              <a:buChar char="•"/>
            </a:pPr>
            <a:r>
              <a:rPr lang="en-US" sz="2000" dirty="0"/>
              <a:t>Numerical integration (especially in many dimensions)</a:t>
            </a:r>
          </a:p>
          <a:p>
            <a:pPr marL="342900" indent="-342900" algn="just">
              <a:spcAft>
                <a:spcPts val="600"/>
              </a:spcAft>
              <a:buClr>
                <a:srgbClr val="0808FF"/>
              </a:buClr>
              <a:buFont typeface="Arial" panose="020B0604020202020204" pitchFamily="34" charset="0"/>
              <a:buChar char="•"/>
            </a:pPr>
            <a:r>
              <a:rPr lang="en-US" sz="2000" dirty="0"/>
              <a:t>Sampling microstates in statistical mechanics</a:t>
            </a:r>
          </a:p>
          <a:p>
            <a:pPr marL="342900" indent="-342900" algn="just">
              <a:spcAft>
                <a:spcPts val="600"/>
              </a:spcAft>
              <a:buClr>
                <a:srgbClr val="0808FF"/>
              </a:buClr>
              <a:buFont typeface="Arial" panose="020B0604020202020204" pitchFamily="34" charset="0"/>
              <a:buChar char="•"/>
            </a:pPr>
            <a:r>
              <a:rPr lang="en-US" sz="2000" dirty="0"/>
              <a:t>Simulating quantum processes</a:t>
            </a:r>
          </a:p>
          <a:p>
            <a:pPr marL="342900" indent="-342900" algn="just">
              <a:spcAft>
                <a:spcPts val="600"/>
              </a:spcAft>
              <a:buClr>
                <a:srgbClr val="0808FF"/>
              </a:buClr>
              <a:buFont typeface="Arial" panose="020B0604020202020204" pitchFamily="34" charset="0"/>
              <a:buChar char="•"/>
            </a:pPr>
            <a:r>
              <a:rPr lang="en-US" sz="2000" dirty="0"/>
              <a:t>Monte Carlo event generators</a:t>
            </a:r>
          </a:p>
        </p:txBody>
      </p:sp>
    </p:spTree>
    <p:extLst>
      <p:ext uri="{BB962C8B-B14F-4D97-AF65-F5344CB8AC3E}">
        <p14:creationId xmlns:p14="http://schemas.microsoft.com/office/powerpoint/2010/main" val="3247966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66EAA014-8B46-47C7-B723-4D6ACEB4F8A0}"/>
                  </a:ext>
                </a:extLst>
              </p:cNvPr>
              <p:cNvSpPr/>
              <p:nvPr/>
            </p:nvSpPr>
            <p:spPr>
              <a:xfrm>
                <a:off x="767981" y="1234607"/>
                <a:ext cx="7603134" cy="3170099"/>
              </a:xfrm>
              <a:prstGeom prst="rect">
                <a:avLst/>
              </a:prstGeom>
            </p:spPr>
            <p:txBody>
              <a:bodyPr wrap="square">
                <a:spAutoFit/>
              </a:bodyPr>
              <a:lstStyle/>
              <a:p>
                <a:pPr marL="342900" indent="-342900" algn="just">
                  <a:spcAft>
                    <a:spcPts val="600"/>
                  </a:spcAft>
                  <a:buClr>
                    <a:srgbClr val="0808FF"/>
                  </a:buClr>
                  <a:buFont typeface="Arial" panose="020B0604020202020204" pitchFamily="34" charset="0"/>
                  <a:buChar char="•"/>
                </a:pPr>
                <a:r>
                  <a:rPr lang="en-US" sz="2000" dirty="0"/>
                  <a:t>The most basic routine typically produces a random integer number </a:t>
                </a:r>
                <a:r>
                  <a:rPr lang="en-US" sz="2000" i="1" dirty="0"/>
                  <a:t>x</a:t>
                </a:r>
                <a:r>
                  <a:rPr lang="en-US" sz="2000" dirty="0"/>
                  <a:t> between 0 and some maximum value </a:t>
                </a:r>
                <a:r>
                  <a:rPr lang="en-US" sz="2000" i="1" dirty="0"/>
                  <a:t>m</a:t>
                </a:r>
                <a:r>
                  <a:rPr lang="en-US" sz="2000" dirty="0"/>
                  <a:t>. </a:t>
                </a:r>
              </a:p>
              <a:p>
                <a:pPr algn="just">
                  <a:spcAft>
                    <a:spcPts val="600"/>
                  </a:spcAft>
                  <a:buClr>
                    <a:srgbClr val="0808FF"/>
                  </a:buClr>
                </a:pPr>
                <a:endParaRPr lang="en-US" sz="2000" dirty="0"/>
              </a:p>
              <a:p>
                <a:pPr marL="342900" indent="-342900" algn="just">
                  <a:spcAft>
                    <a:spcPts val="600"/>
                  </a:spcAft>
                  <a:buClr>
                    <a:srgbClr val="0808FF"/>
                  </a:buClr>
                  <a:buFont typeface="Arial" panose="020B0604020202020204" pitchFamily="34" charset="0"/>
                  <a:buChar char="•"/>
                </a:pPr>
                <a:r>
                  <a:rPr lang="en-US" sz="2000" dirty="0"/>
                  <a:t>By dividing over </a:t>
                </a:r>
                <a:r>
                  <a:rPr lang="en-US" sz="2000" i="1" dirty="0"/>
                  <a:t>m</a:t>
                </a:r>
                <a:r>
                  <a:rPr lang="en-US" sz="2000" dirty="0"/>
                  <a:t> one can get a real pseudo-random number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𝜂</m:t>
                    </m:r>
                    <m:r>
                      <a:rPr lang="en-US" sz="2000" i="1" dirty="0" smtClean="0">
                        <a:latin typeface="Cambria Math" panose="02040503050406030204" pitchFamily="18" charset="0"/>
                      </a:rPr>
                      <m:t> = </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𝑚</m:t>
                    </m:r>
                    <m:r>
                      <a:rPr lang="en-US" sz="2000" i="1" dirty="0" smtClean="0">
                        <a:latin typeface="Cambria Math" panose="02040503050406030204" pitchFamily="18" charset="0"/>
                      </a:rPr>
                      <m:t> </m:t>
                    </m:r>
                  </m:oMath>
                </a14:m>
                <a:r>
                  <a:rPr lang="en-US" sz="2000" dirty="0"/>
                  <a:t>which is uniformly distributed in an interval </a:t>
                </a:r>
                <a14:m>
                  <m:oMath xmlns:m="http://schemas.openxmlformats.org/officeDocument/2006/math">
                    <m:r>
                      <a:rPr lang="en-US" sz="2000" i="1" smtClean="0">
                        <a:latin typeface="Cambria Math" panose="02040503050406030204" pitchFamily="18" charset="0"/>
                        <a:ea typeface="Cambria Math" panose="02040503050406030204" pitchFamily="18" charset="0"/>
                      </a:rPr>
                      <m:t>𝜂</m:t>
                    </m:r>
                    <m:r>
                      <a:rPr lang="en-US" sz="2000" i="1" smtClean="0">
                        <a:latin typeface="Cambria Math" panose="02040503050406030204" pitchFamily="18" charset="0"/>
                        <a:ea typeface="Cambria Math" panose="02040503050406030204" pitchFamily="18" charset="0"/>
                      </a:rPr>
                      <m:t>∈(0,1)</m:t>
                    </m:r>
                  </m:oMath>
                </a14:m>
                <a:endParaRPr lang="en-US" sz="2000" dirty="0"/>
              </a:p>
              <a:p>
                <a:pPr marL="342900" indent="-342900" algn="just">
                  <a:spcAft>
                    <a:spcPts val="600"/>
                  </a:spcAft>
                  <a:buClr>
                    <a:srgbClr val="0808FF"/>
                  </a:buClr>
                  <a:buFont typeface="Arial" panose="020B0604020202020204" pitchFamily="34" charset="0"/>
                  <a:buChar char="•"/>
                </a:pPr>
                <a:endParaRPr lang="en-US" sz="2000" dirty="0"/>
              </a:p>
              <a:p>
                <a:pPr marL="342900" indent="-342900" algn="just">
                  <a:spcAft>
                    <a:spcPts val="600"/>
                  </a:spcAft>
                  <a:buClr>
                    <a:srgbClr val="0808FF"/>
                  </a:buClr>
                  <a:buFont typeface="Arial" panose="020B0604020202020204" pitchFamily="34" charset="0"/>
                  <a:buChar char="•"/>
                </a:pPr>
                <a:r>
                  <a:rPr lang="en-US" sz="2000" dirty="0"/>
                  <a:t>By applying various transformations and techniques to the sequence of </a:t>
                </a:r>
                <a14:m>
                  <m:oMath xmlns:m="http://schemas.openxmlformats.org/officeDocument/2006/math">
                    <m:r>
                      <a:rPr lang="en-US" sz="2000" i="1" smtClean="0">
                        <a:latin typeface="Cambria Math" panose="02040503050406030204" pitchFamily="18" charset="0"/>
                        <a:ea typeface="Cambria Math" panose="02040503050406030204" pitchFamily="18" charset="0"/>
                      </a:rPr>
                      <m:t>𝜂</m:t>
                    </m:r>
                    <m:r>
                      <a:rPr lang="en-US" sz="2000" i="1" smtClean="0">
                        <a:latin typeface="Cambria Math" panose="02040503050406030204" pitchFamily="18" charset="0"/>
                        <a:ea typeface="Cambria Math" panose="02040503050406030204" pitchFamily="18" charset="0"/>
                      </a:rPr>
                      <m:t> </m:t>
                    </m:r>
                  </m:oMath>
                </a14:m>
                <a:r>
                  <a:rPr lang="en-US" sz="2000" dirty="0"/>
                  <a:t>one can sample various other (non-uniform) distributions.</a:t>
                </a:r>
              </a:p>
            </p:txBody>
          </p:sp>
        </mc:Choice>
        <mc:Fallback xmlns="">
          <p:sp>
            <p:nvSpPr>
              <p:cNvPr id="16" name="Rectangle 15">
                <a:extLst>
                  <a:ext uri="{FF2B5EF4-FFF2-40B4-BE49-F238E27FC236}">
                    <a16:creationId xmlns:a16="http://schemas.microsoft.com/office/drawing/2014/main" id="{66EAA014-8B46-47C7-B723-4D6ACEB4F8A0}"/>
                  </a:ext>
                </a:extLst>
              </p:cNvPr>
              <p:cNvSpPr>
                <a:spLocks noRot="1" noChangeAspect="1" noMove="1" noResize="1" noEditPoints="1" noAdjustHandles="1" noChangeArrowheads="1" noChangeShapeType="1" noTextEdit="1"/>
              </p:cNvSpPr>
              <p:nvPr/>
            </p:nvSpPr>
            <p:spPr>
              <a:xfrm>
                <a:off x="767981" y="1234607"/>
                <a:ext cx="7603134" cy="3170099"/>
              </a:xfrm>
              <a:prstGeom prst="rect">
                <a:avLst/>
              </a:prstGeom>
              <a:blipFill>
                <a:blip r:embed="rId3"/>
                <a:stretch>
                  <a:fillRect l="-667" t="-1195" r="-833" b="-2390"/>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Pseudo-random numbers on a computer</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10" name="Rectangle 9">
            <a:extLst>
              <a:ext uri="{FF2B5EF4-FFF2-40B4-BE49-F238E27FC236}">
                <a16:creationId xmlns:a16="http://schemas.microsoft.com/office/drawing/2014/main" id="{CC6E73DF-FE7D-425A-28A9-BF6BBF3DFEFE}"/>
              </a:ext>
            </a:extLst>
          </p:cNvPr>
          <p:cNvSpPr/>
          <p:nvPr/>
        </p:nvSpPr>
        <p:spPr>
          <a:xfrm>
            <a:off x="767981" y="4474227"/>
            <a:ext cx="8805678" cy="400110"/>
          </a:xfrm>
          <a:prstGeom prst="rect">
            <a:avLst/>
          </a:prstGeom>
        </p:spPr>
        <p:txBody>
          <a:bodyPr wrap="square">
            <a:spAutoFit/>
          </a:bodyPr>
          <a:lstStyle/>
          <a:p>
            <a:pPr algn="just">
              <a:spcAft>
                <a:spcPts val="600"/>
              </a:spcAft>
              <a:buClr>
                <a:srgbClr val="0808FF"/>
              </a:buClr>
            </a:pPr>
            <a:r>
              <a:rPr lang="en-US" sz="2000" dirty="0"/>
              <a:t>Most common routine for sampling x is </a:t>
            </a:r>
            <a:r>
              <a:rPr lang="en-US" sz="2000" b="1" dirty="0"/>
              <a:t>Mersenne Twister</a:t>
            </a:r>
          </a:p>
        </p:txBody>
      </p:sp>
      <p:sp>
        <p:nvSpPr>
          <p:cNvPr id="3" name="TextBox 2">
            <a:extLst>
              <a:ext uri="{FF2B5EF4-FFF2-40B4-BE49-F238E27FC236}">
                <a16:creationId xmlns:a16="http://schemas.microsoft.com/office/drawing/2014/main" id="{4E5DE8CE-D2E3-5956-B97B-88A6F2F75490}"/>
              </a:ext>
            </a:extLst>
          </p:cNvPr>
          <p:cNvSpPr txBox="1"/>
          <p:nvPr/>
        </p:nvSpPr>
        <p:spPr>
          <a:xfrm>
            <a:off x="767981" y="4931228"/>
            <a:ext cx="938077" cy="369332"/>
          </a:xfrm>
          <a:prstGeom prst="rect">
            <a:avLst/>
          </a:prstGeom>
          <a:noFill/>
        </p:spPr>
        <p:txBody>
          <a:bodyPr wrap="none" rtlCol="0">
            <a:spAutoFit/>
          </a:bodyPr>
          <a:lstStyle/>
          <a:p>
            <a:r>
              <a:rPr lang="en-US" dirty="0"/>
              <a:t>Python:</a:t>
            </a:r>
          </a:p>
        </p:txBody>
      </p:sp>
      <p:pic>
        <p:nvPicPr>
          <p:cNvPr id="5" name="Picture 4">
            <a:extLst>
              <a:ext uri="{FF2B5EF4-FFF2-40B4-BE49-F238E27FC236}">
                <a16:creationId xmlns:a16="http://schemas.microsoft.com/office/drawing/2014/main" id="{07E206C5-3B77-8BF1-BDE3-0C527643DA10}"/>
              </a:ext>
            </a:extLst>
          </p:cNvPr>
          <p:cNvPicPr>
            <a:picLocks noChangeAspect="1"/>
          </p:cNvPicPr>
          <p:nvPr/>
        </p:nvPicPr>
        <p:blipFill>
          <a:blip r:embed="rId4"/>
          <a:stretch>
            <a:fillRect/>
          </a:stretch>
        </p:blipFill>
        <p:spPr>
          <a:xfrm>
            <a:off x="930142" y="5430705"/>
            <a:ext cx="4385077" cy="595325"/>
          </a:xfrm>
          <a:prstGeom prst="rect">
            <a:avLst/>
          </a:prstGeom>
        </p:spPr>
      </p:pic>
      <p:sp>
        <p:nvSpPr>
          <p:cNvPr id="6" name="TextBox 5">
            <a:extLst>
              <a:ext uri="{FF2B5EF4-FFF2-40B4-BE49-F238E27FC236}">
                <a16:creationId xmlns:a16="http://schemas.microsoft.com/office/drawing/2014/main" id="{47E39ED4-02E9-7CC7-0747-C48B9CDCC85B}"/>
              </a:ext>
            </a:extLst>
          </p:cNvPr>
          <p:cNvSpPr txBox="1"/>
          <p:nvPr/>
        </p:nvSpPr>
        <p:spPr>
          <a:xfrm>
            <a:off x="7224807" y="4945602"/>
            <a:ext cx="2292615" cy="369332"/>
          </a:xfrm>
          <a:prstGeom prst="rect">
            <a:avLst/>
          </a:prstGeom>
          <a:noFill/>
        </p:spPr>
        <p:txBody>
          <a:bodyPr wrap="none" rtlCol="0">
            <a:spAutoFit/>
          </a:bodyPr>
          <a:lstStyle/>
          <a:p>
            <a:r>
              <a:rPr lang="en-US" dirty="0"/>
              <a:t>C++ (since C++11):</a:t>
            </a:r>
          </a:p>
        </p:txBody>
      </p:sp>
      <p:pic>
        <p:nvPicPr>
          <p:cNvPr id="7" name="Picture 6">
            <a:extLst>
              <a:ext uri="{FF2B5EF4-FFF2-40B4-BE49-F238E27FC236}">
                <a16:creationId xmlns:a16="http://schemas.microsoft.com/office/drawing/2014/main" id="{A4923D4C-0D4E-08B9-363C-A1DFAD5EDCBB}"/>
              </a:ext>
            </a:extLst>
          </p:cNvPr>
          <p:cNvPicPr>
            <a:picLocks noChangeAspect="1"/>
          </p:cNvPicPr>
          <p:nvPr/>
        </p:nvPicPr>
        <p:blipFill rotWithShape="1">
          <a:blip r:embed="rId5"/>
          <a:srcRect t="12898"/>
          <a:stretch/>
        </p:blipFill>
        <p:spPr>
          <a:xfrm>
            <a:off x="9663233" y="4153496"/>
            <a:ext cx="2247731" cy="2294127"/>
          </a:xfrm>
          <a:prstGeom prst="rect">
            <a:avLst/>
          </a:prstGeom>
        </p:spPr>
      </p:pic>
      <p:sp>
        <p:nvSpPr>
          <p:cNvPr id="8" name="TextBox 7">
            <a:extLst>
              <a:ext uri="{FF2B5EF4-FFF2-40B4-BE49-F238E27FC236}">
                <a16:creationId xmlns:a16="http://schemas.microsoft.com/office/drawing/2014/main" id="{FF3C2E48-BACC-8696-71BA-AD8EBDD100D1}"/>
              </a:ext>
            </a:extLst>
          </p:cNvPr>
          <p:cNvSpPr txBox="1"/>
          <p:nvPr/>
        </p:nvSpPr>
        <p:spPr>
          <a:xfrm>
            <a:off x="7279235" y="5386199"/>
            <a:ext cx="1944763" cy="369332"/>
          </a:xfrm>
          <a:prstGeom prst="rect">
            <a:avLst/>
          </a:prstGeom>
          <a:noFill/>
        </p:spPr>
        <p:txBody>
          <a:bodyPr wrap="none" rtlCol="0">
            <a:spAutoFit/>
          </a:bodyPr>
          <a:lstStyle/>
          <a:p>
            <a:r>
              <a:rPr lang="en-US" dirty="0">
                <a:solidFill>
                  <a:srgbClr val="FF0000"/>
                </a:solidFill>
              </a:rPr>
              <a:t>avoid using rand()</a:t>
            </a:r>
          </a:p>
        </p:txBody>
      </p:sp>
    </p:spTree>
    <p:extLst>
      <p:ext uri="{BB962C8B-B14F-4D97-AF65-F5344CB8AC3E}">
        <p14:creationId xmlns:p14="http://schemas.microsoft.com/office/powerpoint/2010/main" val="3580766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integrals: Estimating the area under the curve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3" name="TextBox 2">
            <a:extLst>
              <a:ext uri="{FF2B5EF4-FFF2-40B4-BE49-F238E27FC236}">
                <a16:creationId xmlns:a16="http://schemas.microsoft.com/office/drawing/2014/main" id="{F4DFB3F5-F4AC-E3C8-C5EB-ACA54F9DB150}"/>
              </a:ext>
            </a:extLst>
          </p:cNvPr>
          <p:cNvSpPr txBox="1"/>
          <p:nvPr/>
        </p:nvSpPr>
        <p:spPr>
          <a:xfrm>
            <a:off x="799420" y="1165086"/>
            <a:ext cx="8382423" cy="646331"/>
          </a:xfrm>
          <a:prstGeom prst="rect">
            <a:avLst/>
          </a:prstGeom>
          <a:noFill/>
        </p:spPr>
        <p:txBody>
          <a:bodyPr wrap="none" rtlCol="0">
            <a:spAutoFit/>
          </a:bodyPr>
          <a:lstStyle/>
          <a:p>
            <a:r>
              <a:rPr lang="en-US" dirty="0"/>
              <a:t>Recall the interpretation of a definite integral as the area under the curve.</a:t>
            </a:r>
          </a:p>
          <a:p>
            <a:r>
              <a:rPr lang="en-US" dirty="0"/>
              <a:t>We can use this interpretation to apply random numbers for approximating integrals.</a:t>
            </a:r>
          </a:p>
        </p:txBody>
      </p:sp>
      <p:sp>
        <p:nvSpPr>
          <p:cNvPr id="5" name="TextBox 4">
            <a:extLst>
              <a:ext uri="{FF2B5EF4-FFF2-40B4-BE49-F238E27FC236}">
                <a16:creationId xmlns:a16="http://schemas.microsoft.com/office/drawing/2014/main" id="{7BB4D771-B084-728B-53A1-6253227FF50C}"/>
              </a:ext>
            </a:extLst>
          </p:cNvPr>
          <p:cNvSpPr txBox="1"/>
          <p:nvPr/>
        </p:nvSpPr>
        <p:spPr>
          <a:xfrm>
            <a:off x="799419" y="1868228"/>
            <a:ext cx="1008609" cy="369332"/>
          </a:xfrm>
          <a:prstGeom prst="rect">
            <a:avLst/>
          </a:prstGeom>
          <a:noFill/>
        </p:spPr>
        <p:txBody>
          <a:bodyPr wrap="none" rtlCol="0">
            <a:spAutoFit/>
          </a:bodyPr>
          <a:lstStyle/>
          <a:p>
            <a:r>
              <a:rPr lang="en-US" dirty="0"/>
              <a:t>Consider</a:t>
            </a:r>
          </a:p>
        </p:txBody>
      </p:sp>
      <p:pic>
        <p:nvPicPr>
          <p:cNvPr id="6" name="Picture 5">
            <a:extLst>
              <a:ext uri="{FF2B5EF4-FFF2-40B4-BE49-F238E27FC236}">
                <a16:creationId xmlns:a16="http://schemas.microsoft.com/office/drawing/2014/main" id="{3B810C1C-BCB0-EB78-AABA-C7EAF3E54FEF}"/>
              </a:ext>
            </a:extLst>
          </p:cNvPr>
          <p:cNvPicPr>
            <a:picLocks noChangeAspect="1"/>
          </p:cNvPicPr>
          <p:nvPr/>
        </p:nvPicPr>
        <p:blipFill>
          <a:blip r:embed="rId3"/>
          <a:stretch>
            <a:fillRect/>
          </a:stretch>
        </p:blipFill>
        <p:spPr>
          <a:xfrm>
            <a:off x="5418178" y="2103465"/>
            <a:ext cx="1355640" cy="580989"/>
          </a:xfrm>
          <a:prstGeom prst="rect">
            <a:avLst/>
          </a:prstGeom>
        </p:spPr>
      </p:pic>
      <p:pic>
        <p:nvPicPr>
          <p:cNvPr id="14340" name="Picture 4">
            <a:extLst>
              <a:ext uri="{FF2B5EF4-FFF2-40B4-BE49-F238E27FC236}">
                <a16:creationId xmlns:a16="http://schemas.microsoft.com/office/drawing/2014/main" id="{18C22282-37F2-7FC1-2410-406A3A6CDF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4080" y="2911766"/>
            <a:ext cx="4503835" cy="3400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585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integrals: Estimating the area under the curve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3" name="TextBox 2">
            <a:extLst>
              <a:ext uri="{FF2B5EF4-FFF2-40B4-BE49-F238E27FC236}">
                <a16:creationId xmlns:a16="http://schemas.microsoft.com/office/drawing/2014/main" id="{F4DFB3F5-F4AC-E3C8-C5EB-ACA54F9DB150}"/>
              </a:ext>
            </a:extLst>
          </p:cNvPr>
          <p:cNvSpPr txBox="1"/>
          <p:nvPr/>
        </p:nvSpPr>
        <p:spPr>
          <a:xfrm>
            <a:off x="799420" y="1165086"/>
            <a:ext cx="10541668" cy="646331"/>
          </a:xfrm>
          <a:prstGeom prst="rect">
            <a:avLst/>
          </a:prstGeom>
          <a:noFill/>
        </p:spPr>
        <p:txBody>
          <a:bodyPr wrap="none" rtlCol="0">
            <a:spAutoFit/>
          </a:bodyPr>
          <a:lstStyle/>
          <a:p>
            <a:r>
              <a:rPr lang="en-US" dirty="0"/>
              <a:t>We can estimate the area by sampling the points uniformly from an enveloping rectangle and counting the </a:t>
            </a:r>
          </a:p>
          <a:p>
            <a:r>
              <a:rPr lang="en-US" dirty="0"/>
              <a:t>fraction of points under the curve given by the integrand f(x).</a:t>
            </a:r>
          </a:p>
        </p:txBody>
      </p:sp>
      <p:sp>
        <p:nvSpPr>
          <p:cNvPr id="5" name="TextBox 4">
            <a:extLst>
              <a:ext uri="{FF2B5EF4-FFF2-40B4-BE49-F238E27FC236}">
                <a16:creationId xmlns:a16="http://schemas.microsoft.com/office/drawing/2014/main" id="{7BB4D771-B084-728B-53A1-6253227FF50C}"/>
              </a:ext>
            </a:extLst>
          </p:cNvPr>
          <p:cNvSpPr txBox="1"/>
          <p:nvPr/>
        </p:nvSpPr>
        <p:spPr>
          <a:xfrm>
            <a:off x="799419" y="1868228"/>
            <a:ext cx="2206053" cy="369332"/>
          </a:xfrm>
          <a:prstGeom prst="rect">
            <a:avLst/>
          </a:prstGeom>
          <a:noFill/>
        </p:spPr>
        <p:txBody>
          <a:bodyPr wrap="none" rtlCol="0">
            <a:spAutoFit/>
          </a:bodyPr>
          <a:lstStyle/>
          <a:p>
            <a:r>
              <a:rPr lang="en-US" dirty="0"/>
              <a:t>Assuming an integral</a:t>
            </a:r>
          </a:p>
        </p:txBody>
      </p:sp>
      <p:pic>
        <p:nvPicPr>
          <p:cNvPr id="7" name="Picture 6">
            <a:extLst>
              <a:ext uri="{FF2B5EF4-FFF2-40B4-BE49-F238E27FC236}">
                <a16:creationId xmlns:a16="http://schemas.microsoft.com/office/drawing/2014/main" id="{39D73111-0B96-2843-B030-1803A889105E}"/>
              </a:ext>
            </a:extLst>
          </p:cNvPr>
          <p:cNvPicPr>
            <a:picLocks noChangeAspect="1"/>
          </p:cNvPicPr>
          <p:nvPr/>
        </p:nvPicPr>
        <p:blipFill>
          <a:blip r:embed="rId3"/>
          <a:stretch>
            <a:fillRect/>
          </a:stretch>
        </p:blipFill>
        <p:spPr>
          <a:xfrm>
            <a:off x="5478593" y="2237560"/>
            <a:ext cx="1234813" cy="530584"/>
          </a:xfrm>
          <a:prstGeom prst="rect">
            <a:avLst/>
          </a:prstGeom>
        </p:spPr>
      </p:pic>
      <p:sp>
        <p:nvSpPr>
          <p:cNvPr id="9" name="TextBox 8">
            <a:extLst>
              <a:ext uri="{FF2B5EF4-FFF2-40B4-BE49-F238E27FC236}">
                <a16:creationId xmlns:a16="http://schemas.microsoft.com/office/drawing/2014/main" id="{226535B7-F4F2-5F5A-ED23-CA044CFA536F}"/>
              </a:ext>
            </a:extLst>
          </p:cNvPr>
          <p:cNvSpPr txBox="1"/>
          <p:nvPr/>
        </p:nvSpPr>
        <p:spPr>
          <a:xfrm>
            <a:off x="799419" y="2871121"/>
            <a:ext cx="9137600" cy="369332"/>
          </a:xfrm>
          <a:prstGeom prst="rect">
            <a:avLst/>
          </a:prstGeom>
          <a:noFill/>
        </p:spPr>
        <p:txBody>
          <a:bodyPr wrap="square">
            <a:spAutoFit/>
          </a:bodyPr>
          <a:lstStyle/>
          <a:p>
            <a:r>
              <a:rPr lang="en-US" dirty="0"/>
              <a:t>where f(x) &gt; 0 and f(x) &lt; </a:t>
            </a:r>
            <a:r>
              <a:rPr lang="en-US" dirty="0" err="1"/>
              <a:t>y</a:t>
            </a:r>
            <a:r>
              <a:rPr lang="en-US" baseline="-25000" dirty="0" err="1"/>
              <a:t>max</a:t>
            </a:r>
            <a:r>
              <a:rPr lang="en-US" dirty="0"/>
              <a:t>, the integrand can be evaluated as</a:t>
            </a:r>
          </a:p>
        </p:txBody>
      </p:sp>
      <p:pic>
        <p:nvPicPr>
          <p:cNvPr id="10" name="Picture 9">
            <a:extLst>
              <a:ext uri="{FF2B5EF4-FFF2-40B4-BE49-F238E27FC236}">
                <a16:creationId xmlns:a16="http://schemas.microsoft.com/office/drawing/2014/main" id="{564BE38E-A004-4351-E04D-1BC6AD5291E5}"/>
              </a:ext>
            </a:extLst>
          </p:cNvPr>
          <p:cNvPicPr>
            <a:picLocks noChangeAspect="1"/>
          </p:cNvPicPr>
          <p:nvPr/>
        </p:nvPicPr>
        <p:blipFill>
          <a:blip r:embed="rId4"/>
          <a:stretch>
            <a:fillRect/>
          </a:stretch>
        </p:blipFill>
        <p:spPr>
          <a:xfrm>
            <a:off x="5399951" y="3343430"/>
            <a:ext cx="1392098" cy="369332"/>
          </a:xfrm>
          <a:prstGeom prst="rect">
            <a:avLst/>
          </a:prstGeom>
        </p:spPr>
      </p:pic>
      <p:sp>
        <p:nvSpPr>
          <p:cNvPr id="11" name="TextBox 10">
            <a:extLst>
              <a:ext uri="{FF2B5EF4-FFF2-40B4-BE49-F238E27FC236}">
                <a16:creationId xmlns:a16="http://schemas.microsoft.com/office/drawing/2014/main" id="{FE331BE9-0786-22DA-9761-E300CE2313F3}"/>
              </a:ext>
            </a:extLst>
          </p:cNvPr>
          <p:cNvSpPr txBox="1"/>
          <p:nvPr/>
        </p:nvSpPr>
        <p:spPr>
          <a:xfrm>
            <a:off x="799419" y="3770022"/>
            <a:ext cx="6585457" cy="369332"/>
          </a:xfrm>
          <a:prstGeom prst="rect">
            <a:avLst/>
          </a:prstGeom>
          <a:noFill/>
        </p:spPr>
        <p:txBody>
          <a:bodyPr wrap="none" rtlCol="0">
            <a:spAutoFit/>
          </a:bodyPr>
          <a:lstStyle/>
          <a:p>
            <a:r>
              <a:rPr lang="en-US" dirty="0"/>
              <a:t>where C is the number of the sampled points that fall under f(x).</a:t>
            </a:r>
          </a:p>
        </p:txBody>
      </p:sp>
      <p:sp>
        <p:nvSpPr>
          <p:cNvPr id="12" name="TextBox 11">
            <a:extLst>
              <a:ext uri="{FF2B5EF4-FFF2-40B4-BE49-F238E27FC236}">
                <a16:creationId xmlns:a16="http://schemas.microsoft.com/office/drawing/2014/main" id="{1D220BBC-EBEC-1A01-40D3-5179586D6F09}"/>
              </a:ext>
            </a:extLst>
          </p:cNvPr>
          <p:cNvSpPr txBox="1"/>
          <p:nvPr/>
        </p:nvSpPr>
        <p:spPr>
          <a:xfrm>
            <a:off x="799419" y="4421334"/>
            <a:ext cx="10160154" cy="646331"/>
          </a:xfrm>
          <a:prstGeom prst="rect">
            <a:avLst/>
          </a:prstGeom>
          <a:noFill/>
        </p:spPr>
        <p:txBody>
          <a:bodyPr wrap="none" rtlCol="0">
            <a:spAutoFit/>
          </a:bodyPr>
          <a:lstStyle/>
          <a:p>
            <a:r>
              <a:rPr lang="en-US" dirty="0"/>
              <a:t>The statistical error of the integrand can be estimated using the properties of the binomial distribution </a:t>
            </a:r>
          </a:p>
          <a:p>
            <a:r>
              <a:rPr lang="en-US" dirty="0"/>
              <a:t>with p = C/N:</a:t>
            </a:r>
          </a:p>
        </p:txBody>
      </p:sp>
      <p:pic>
        <p:nvPicPr>
          <p:cNvPr id="13" name="Picture 12">
            <a:extLst>
              <a:ext uri="{FF2B5EF4-FFF2-40B4-BE49-F238E27FC236}">
                <a16:creationId xmlns:a16="http://schemas.microsoft.com/office/drawing/2014/main" id="{EEF4447C-C19B-CE79-2188-D36E47676F06}"/>
              </a:ext>
            </a:extLst>
          </p:cNvPr>
          <p:cNvPicPr>
            <a:picLocks noChangeAspect="1"/>
          </p:cNvPicPr>
          <p:nvPr/>
        </p:nvPicPr>
        <p:blipFill>
          <a:blip r:embed="rId5"/>
          <a:stretch>
            <a:fillRect/>
          </a:stretch>
        </p:blipFill>
        <p:spPr>
          <a:xfrm>
            <a:off x="5065349" y="5128787"/>
            <a:ext cx="2061300" cy="498547"/>
          </a:xfrm>
          <a:prstGeom prst="rect">
            <a:avLst/>
          </a:prstGeom>
        </p:spPr>
      </p:pic>
      <p:sp>
        <p:nvSpPr>
          <p:cNvPr id="14" name="TextBox 13">
            <a:extLst>
              <a:ext uri="{FF2B5EF4-FFF2-40B4-BE49-F238E27FC236}">
                <a16:creationId xmlns:a16="http://schemas.microsoft.com/office/drawing/2014/main" id="{09EDB105-5CE0-6320-7F09-F40139E42A7B}"/>
              </a:ext>
            </a:extLst>
          </p:cNvPr>
          <p:cNvSpPr txBox="1"/>
          <p:nvPr/>
        </p:nvSpPr>
        <p:spPr>
          <a:xfrm>
            <a:off x="799419" y="6097959"/>
            <a:ext cx="10602582" cy="369332"/>
          </a:xfrm>
          <a:prstGeom prst="rect">
            <a:avLst/>
          </a:prstGeom>
          <a:noFill/>
        </p:spPr>
        <p:txBody>
          <a:bodyPr wrap="none" rtlCol="0">
            <a:spAutoFit/>
          </a:bodyPr>
          <a:lstStyle/>
          <a:p>
            <a:r>
              <a:rPr lang="en-US" dirty="0"/>
              <a:t>To reduce the error by factor x2 we need to sample x4 more numbers – true for most Monte Carlo methods.</a:t>
            </a:r>
          </a:p>
        </p:txBody>
      </p:sp>
      <p:sp>
        <p:nvSpPr>
          <p:cNvPr id="15" name="TextBox 14">
            <a:extLst>
              <a:ext uri="{FF2B5EF4-FFF2-40B4-BE49-F238E27FC236}">
                <a16:creationId xmlns:a16="http://schemas.microsoft.com/office/drawing/2014/main" id="{EB4FF598-5C82-29B8-5B8C-BFC49DF40117}"/>
              </a:ext>
            </a:extLst>
          </p:cNvPr>
          <p:cNvSpPr txBox="1"/>
          <p:nvPr/>
        </p:nvSpPr>
        <p:spPr>
          <a:xfrm>
            <a:off x="799419" y="5688456"/>
            <a:ext cx="2730235" cy="369332"/>
          </a:xfrm>
          <a:prstGeom prst="rect">
            <a:avLst/>
          </a:prstGeom>
          <a:noFill/>
        </p:spPr>
        <p:txBody>
          <a:bodyPr wrap="none" rtlCol="0">
            <a:spAutoFit/>
          </a:bodyPr>
          <a:lstStyle/>
          <a:p>
            <a:r>
              <a:rPr lang="en-US" dirty="0"/>
              <a:t>The error scales with N</a:t>
            </a:r>
            <a:r>
              <a:rPr lang="en-US" baseline="30000" dirty="0"/>
              <a:t>-1/2</a:t>
            </a:r>
            <a:endParaRPr lang="en-US" dirty="0"/>
          </a:p>
        </p:txBody>
      </p:sp>
    </p:spTree>
    <p:extLst>
      <p:ext uri="{BB962C8B-B14F-4D97-AF65-F5344CB8AC3E}">
        <p14:creationId xmlns:p14="http://schemas.microsoft.com/office/powerpoint/2010/main" val="3793442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integrals: Estimating the area under the curve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B6ACD554-2E43-EC2D-D481-CBB50ABC51C2}"/>
              </a:ext>
            </a:extLst>
          </p:cNvPr>
          <p:cNvPicPr>
            <a:picLocks noChangeAspect="1"/>
          </p:cNvPicPr>
          <p:nvPr/>
        </p:nvPicPr>
        <p:blipFill>
          <a:blip r:embed="rId3"/>
          <a:stretch>
            <a:fillRect/>
          </a:stretch>
        </p:blipFill>
        <p:spPr>
          <a:xfrm>
            <a:off x="585755" y="1165085"/>
            <a:ext cx="4807545" cy="3107509"/>
          </a:xfrm>
          <a:prstGeom prst="rect">
            <a:avLst/>
          </a:prstGeom>
        </p:spPr>
      </p:pic>
      <p:pic>
        <p:nvPicPr>
          <p:cNvPr id="3" name="Picture 2">
            <a:extLst>
              <a:ext uri="{FF2B5EF4-FFF2-40B4-BE49-F238E27FC236}">
                <a16:creationId xmlns:a16="http://schemas.microsoft.com/office/drawing/2014/main" id="{57700783-B8A8-8808-6D05-0E9525E7423E}"/>
              </a:ext>
            </a:extLst>
          </p:cNvPr>
          <p:cNvPicPr>
            <a:picLocks noChangeAspect="1"/>
          </p:cNvPicPr>
          <p:nvPr/>
        </p:nvPicPr>
        <p:blipFill>
          <a:blip r:embed="rId4"/>
          <a:stretch>
            <a:fillRect/>
          </a:stretch>
        </p:blipFill>
        <p:spPr>
          <a:xfrm>
            <a:off x="585755" y="4626003"/>
            <a:ext cx="2739613" cy="1066912"/>
          </a:xfrm>
          <a:prstGeom prst="rect">
            <a:avLst/>
          </a:prstGeom>
        </p:spPr>
      </p:pic>
      <p:pic>
        <p:nvPicPr>
          <p:cNvPr id="5" name="Picture 4">
            <a:extLst>
              <a:ext uri="{FF2B5EF4-FFF2-40B4-BE49-F238E27FC236}">
                <a16:creationId xmlns:a16="http://schemas.microsoft.com/office/drawing/2014/main" id="{0CB7BCB4-FB81-D65B-0722-B14BB4B84260}"/>
              </a:ext>
            </a:extLst>
          </p:cNvPr>
          <p:cNvPicPr>
            <a:picLocks noChangeAspect="1"/>
          </p:cNvPicPr>
          <p:nvPr/>
        </p:nvPicPr>
        <p:blipFill>
          <a:blip r:embed="rId5"/>
          <a:stretch>
            <a:fillRect/>
          </a:stretch>
        </p:blipFill>
        <p:spPr>
          <a:xfrm>
            <a:off x="585755" y="5924154"/>
            <a:ext cx="3630195" cy="244340"/>
          </a:xfrm>
          <a:prstGeom prst="rect">
            <a:avLst/>
          </a:prstGeom>
        </p:spPr>
      </p:pic>
      <p:pic>
        <p:nvPicPr>
          <p:cNvPr id="1026" name="Picture 2">
            <a:extLst>
              <a:ext uri="{FF2B5EF4-FFF2-40B4-BE49-F238E27FC236}">
                <a16:creationId xmlns:a16="http://schemas.microsoft.com/office/drawing/2014/main" id="{10D51B08-08D1-B0DC-76F2-3879873112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1738" y="1669460"/>
            <a:ext cx="4758657" cy="3636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338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51081-225A-4924-4BDD-856FDC519B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FCCE97-8734-D217-D2ED-A715C254A7F8}"/>
                  </a:ext>
                </a:extLst>
              </p:cNvPr>
              <p:cNvSpPr>
                <a:spLocks noGrp="1"/>
              </p:cNvSpPr>
              <p:nvPr>
                <p:ph type="title"/>
              </p:nvPr>
            </p:nvSpPr>
            <p:spPr/>
            <p:txBody>
              <a:bodyPr/>
              <a:lstStyle/>
              <a:p>
                <a:r>
                  <a:rPr lang="en-US" dirty="0">
                    <a:latin typeface="LM Sans 10" panose="00000500000000000000" pitchFamily="50" charset="0"/>
                  </a:rPr>
                  <a:t>Computing </a:t>
                </a:r>
                <a14:m>
                  <m:oMath xmlns:m="http://schemas.openxmlformats.org/officeDocument/2006/math">
                    <m:r>
                      <a:rPr lang="en-US" i="1" dirty="0" smtClean="0">
                        <a:latin typeface="Cambria Math" panose="02040503050406030204" pitchFamily="18" charset="0"/>
                        <a:ea typeface="Cambria Math" panose="02040503050406030204" pitchFamily="18" charset="0"/>
                      </a:rPr>
                      <m:t>𝝅</m:t>
                    </m:r>
                  </m:oMath>
                </a14:m>
                <a:endParaRPr lang="uk-UA" dirty="0"/>
              </a:p>
            </p:txBody>
          </p:sp>
        </mc:Choice>
        <mc:Fallback xmlns="">
          <p:sp>
            <p:nvSpPr>
              <p:cNvPr id="2" name="Title 1">
                <a:extLst>
                  <a:ext uri="{FF2B5EF4-FFF2-40B4-BE49-F238E27FC236}">
                    <a16:creationId xmlns:a16="http://schemas.microsoft.com/office/drawing/2014/main" id="{60FCCE97-8734-D217-D2ED-A715C254A7F8}"/>
                  </a:ext>
                </a:extLst>
              </p:cNvPr>
              <p:cNvSpPr>
                <a:spLocks noGrp="1" noRot="1" noChangeAspect="1" noMove="1" noResize="1" noEditPoints="1" noAdjustHandles="1" noChangeArrowheads="1" noChangeShapeType="1" noTextEdit="1"/>
              </p:cNvSpPr>
              <p:nvPr>
                <p:ph type="title"/>
              </p:nvPr>
            </p:nvSpPr>
            <p:spPr>
              <a:blipFill>
                <a:blip r:embed="rId3"/>
                <a:stretch>
                  <a:fillRect l="-122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F8A4CF90-ECD6-B5A1-8166-F72BB073E5ED}"/>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CEECDAFD-BC38-2225-F0ED-281C652DEE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8719" y="3549150"/>
            <a:ext cx="2940612" cy="275390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A84511D-93CC-3873-070A-834C8AE422E8}"/>
              </a:ext>
            </a:extLst>
          </p:cNvPr>
          <p:cNvSpPr txBox="1"/>
          <p:nvPr/>
        </p:nvSpPr>
        <p:spPr>
          <a:xfrm>
            <a:off x="569323" y="1165086"/>
            <a:ext cx="6097656" cy="338554"/>
          </a:xfrm>
          <a:prstGeom prst="rect">
            <a:avLst/>
          </a:prstGeom>
          <a:noFill/>
        </p:spPr>
        <p:txBody>
          <a:bodyPr wrap="square">
            <a:spAutoFit/>
          </a:bodyPr>
          <a:lstStyle/>
          <a:p>
            <a:r>
              <a:rPr lang="en-US" sz="1600" dirty="0"/>
              <a:t>Consider a circle of unit radius r = 1. Its area is:</a:t>
            </a:r>
          </a:p>
        </p:txBody>
      </p:sp>
      <p:pic>
        <p:nvPicPr>
          <p:cNvPr id="9" name="Picture 8">
            <a:extLst>
              <a:ext uri="{FF2B5EF4-FFF2-40B4-BE49-F238E27FC236}">
                <a16:creationId xmlns:a16="http://schemas.microsoft.com/office/drawing/2014/main" id="{BDD25735-B701-2349-35AB-6BA48614B44E}"/>
              </a:ext>
            </a:extLst>
          </p:cNvPr>
          <p:cNvPicPr>
            <a:picLocks noChangeAspect="1"/>
          </p:cNvPicPr>
          <p:nvPr/>
        </p:nvPicPr>
        <p:blipFill>
          <a:blip r:embed="rId5"/>
          <a:stretch>
            <a:fillRect/>
          </a:stretch>
        </p:blipFill>
        <p:spPr>
          <a:xfrm>
            <a:off x="5517880" y="1375317"/>
            <a:ext cx="1173093" cy="471430"/>
          </a:xfrm>
          <a:prstGeom prst="rect">
            <a:avLst/>
          </a:prstGeom>
        </p:spPr>
      </p:pic>
      <p:sp>
        <p:nvSpPr>
          <p:cNvPr id="11" name="TextBox 10">
            <a:extLst>
              <a:ext uri="{FF2B5EF4-FFF2-40B4-BE49-F238E27FC236}">
                <a16:creationId xmlns:a16="http://schemas.microsoft.com/office/drawing/2014/main" id="{1981092C-484C-B126-0563-4BF33CE270F6}"/>
              </a:ext>
            </a:extLst>
          </p:cNvPr>
          <p:cNvSpPr txBox="1"/>
          <p:nvPr/>
        </p:nvSpPr>
        <p:spPr>
          <a:xfrm>
            <a:off x="569320" y="1786472"/>
            <a:ext cx="10741408" cy="338554"/>
          </a:xfrm>
          <a:prstGeom prst="rect">
            <a:avLst/>
          </a:prstGeom>
          <a:noFill/>
        </p:spPr>
        <p:txBody>
          <a:bodyPr wrap="square">
            <a:spAutoFit/>
          </a:bodyPr>
          <a:lstStyle/>
          <a:p>
            <a:r>
              <a:rPr lang="en-US" sz="1600" dirty="0"/>
              <a:t>The circle can be embedded into a square with a side length of two. The area of the square is: </a:t>
            </a:r>
            <a:r>
              <a:rPr lang="en-US" sz="1600" i="1" dirty="0" err="1"/>
              <a:t>A</a:t>
            </a:r>
            <a:r>
              <a:rPr lang="en-US" sz="1600" i="1" baseline="-25000" dirty="0" err="1"/>
              <a:t>sq</a:t>
            </a:r>
            <a:r>
              <a:rPr lang="en-US" sz="1600" baseline="-25000" dirty="0"/>
              <a:t> </a:t>
            </a:r>
            <a:r>
              <a:rPr lang="en-US" sz="1600" dirty="0"/>
              <a:t>= 2</a:t>
            </a:r>
            <a:r>
              <a:rPr lang="en-US" sz="1600" baseline="30000" dirty="0"/>
              <a:t>2</a:t>
            </a:r>
            <a:r>
              <a:rPr lang="en-US" sz="1600" dirty="0"/>
              <a:t> = 4</a:t>
            </a:r>
          </a:p>
        </p:txBody>
      </p:sp>
      <p:sp>
        <p:nvSpPr>
          <p:cNvPr id="15" name="TextBox 14">
            <a:extLst>
              <a:ext uri="{FF2B5EF4-FFF2-40B4-BE49-F238E27FC236}">
                <a16:creationId xmlns:a16="http://schemas.microsoft.com/office/drawing/2014/main" id="{FA192C50-11E3-B368-C27E-7AA43D31C80C}"/>
              </a:ext>
            </a:extLst>
          </p:cNvPr>
          <p:cNvSpPr txBox="1"/>
          <p:nvPr/>
        </p:nvSpPr>
        <p:spPr>
          <a:xfrm>
            <a:off x="569320" y="2184258"/>
            <a:ext cx="11168792" cy="584775"/>
          </a:xfrm>
          <a:prstGeom prst="rect">
            <a:avLst/>
          </a:prstGeom>
          <a:noFill/>
        </p:spPr>
        <p:txBody>
          <a:bodyPr wrap="square">
            <a:spAutoFit/>
          </a:bodyPr>
          <a:lstStyle/>
          <a:p>
            <a:r>
              <a:rPr lang="en-US" sz="1600" dirty="0"/>
              <a:t>Consider now a random point anywhere inside the square. The probability that it is also inside the circle is the ratio of their areas:</a:t>
            </a:r>
          </a:p>
        </p:txBody>
      </p:sp>
      <p:pic>
        <p:nvPicPr>
          <p:cNvPr id="17" name="Picture 16">
            <a:extLst>
              <a:ext uri="{FF2B5EF4-FFF2-40B4-BE49-F238E27FC236}">
                <a16:creationId xmlns:a16="http://schemas.microsoft.com/office/drawing/2014/main" id="{D21F199B-1461-2EAC-922F-DA1CB387FEF8}"/>
              </a:ext>
            </a:extLst>
          </p:cNvPr>
          <p:cNvPicPr>
            <a:picLocks noChangeAspect="1"/>
          </p:cNvPicPr>
          <p:nvPr/>
        </p:nvPicPr>
        <p:blipFill>
          <a:blip r:embed="rId6"/>
          <a:stretch>
            <a:fillRect/>
          </a:stretch>
        </p:blipFill>
        <p:spPr>
          <a:xfrm>
            <a:off x="5517880" y="2605596"/>
            <a:ext cx="1156237" cy="482603"/>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B221FE8-8E20-1DBA-E473-7736F7405C54}"/>
                  </a:ext>
                </a:extLst>
              </p:cNvPr>
              <p:cNvSpPr txBox="1"/>
              <p:nvPr/>
            </p:nvSpPr>
            <p:spPr>
              <a:xfrm>
                <a:off x="569320" y="3042709"/>
                <a:ext cx="10403479" cy="584775"/>
              </a:xfrm>
              <a:prstGeom prst="rect">
                <a:avLst/>
              </a:prstGeom>
              <a:noFill/>
            </p:spPr>
            <p:txBody>
              <a:bodyPr wrap="square">
                <a:spAutoFit/>
              </a:bodyPr>
              <a:lstStyle/>
              <a:p>
                <a:r>
                  <a:rPr lang="en-US" sz="1600" dirty="0"/>
                  <a:t>This probability can be estimated by sampling points inside the square many times and counting how many fall inside the circle. </a:t>
                </a:r>
                <a14:m>
                  <m:oMath xmlns:m="http://schemas.openxmlformats.org/officeDocument/2006/math">
                    <m:r>
                      <a:rPr lang="en-US" sz="1600" b="0" i="1" dirty="0" smtClean="0">
                        <a:latin typeface="Cambria Math" panose="02040503050406030204" pitchFamily="18" charset="0"/>
                        <a:ea typeface="Cambria Math" panose="02040503050406030204" pitchFamily="18" charset="0"/>
                      </a:rPr>
                      <m:t>𝜋</m:t>
                    </m:r>
                  </m:oMath>
                </a14:m>
                <a:r>
                  <a:rPr lang="en-US" sz="1600" dirty="0"/>
                  <a:t> can therefore be estimated as:</a:t>
                </a:r>
              </a:p>
            </p:txBody>
          </p:sp>
        </mc:Choice>
        <mc:Fallback xmlns="">
          <p:sp>
            <p:nvSpPr>
              <p:cNvPr id="19" name="TextBox 18">
                <a:extLst>
                  <a:ext uri="{FF2B5EF4-FFF2-40B4-BE49-F238E27FC236}">
                    <a16:creationId xmlns:a16="http://schemas.microsoft.com/office/drawing/2014/main" id="{8B221FE8-8E20-1DBA-E473-7736F7405C54}"/>
                  </a:ext>
                </a:extLst>
              </p:cNvPr>
              <p:cNvSpPr txBox="1">
                <a:spLocks noRot="1" noChangeAspect="1" noMove="1" noResize="1" noEditPoints="1" noAdjustHandles="1" noChangeArrowheads="1" noChangeShapeType="1" noTextEdit="1"/>
              </p:cNvSpPr>
              <p:nvPr/>
            </p:nvSpPr>
            <p:spPr>
              <a:xfrm>
                <a:off x="569320" y="3042709"/>
                <a:ext cx="10403479" cy="584775"/>
              </a:xfrm>
              <a:prstGeom prst="rect">
                <a:avLst/>
              </a:prstGeom>
              <a:blipFill>
                <a:blip r:embed="rId7"/>
                <a:stretch>
                  <a:fillRect l="-244" t="-2128" b="-10638"/>
                </a:stretch>
              </a:blipFill>
            </p:spPr>
            <p:txBody>
              <a:bodyPr/>
              <a:lstStyle/>
              <a:p>
                <a:r>
                  <a:rPr lang="en-US">
                    <a:noFill/>
                  </a:rPr>
                  <a:t> </a:t>
                </a:r>
              </a:p>
            </p:txBody>
          </p:sp>
        </mc:Fallback>
      </mc:AlternateContent>
      <p:pic>
        <p:nvPicPr>
          <p:cNvPr id="21" name="Picture 20">
            <a:extLst>
              <a:ext uri="{FF2B5EF4-FFF2-40B4-BE49-F238E27FC236}">
                <a16:creationId xmlns:a16="http://schemas.microsoft.com/office/drawing/2014/main" id="{A4F2261D-5B58-0F50-0DA2-CCE8002A7CC8}"/>
              </a:ext>
            </a:extLst>
          </p:cNvPr>
          <p:cNvPicPr>
            <a:picLocks noChangeAspect="1"/>
          </p:cNvPicPr>
          <p:nvPr/>
        </p:nvPicPr>
        <p:blipFill>
          <a:blip r:embed="rId8"/>
          <a:stretch>
            <a:fillRect/>
          </a:stretch>
        </p:blipFill>
        <p:spPr>
          <a:xfrm>
            <a:off x="6235527" y="3651213"/>
            <a:ext cx="862903" cy="568501"/>
          </a:xfrm>
          <a:prstGeom prst="rect">
            <a:avLst/>
          </a:prstGeom>
        </p:spPr>
      </p:pic>
    </p:spTree>
    <p:extLst>
      <p:ext uri="{BB962C8B-B14F-4D97-AF65-F5344CB8AC3E}">
        <p14:creationId xmlns:p14="http://schemas.microsoft.com/office/powerpoint/2010/main" val="2518925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794F-39E6-B319-8C1A-68B143ADE10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1B67E02-F24C-D3F3-4901-7A5ADD3FCF97}"/>
                  </a:ext>
                </a:extLst>
              </p:cNvPr>
              <p:cNvSpPr>
                <a:spLocks noGrp="1"/>
              </p:cNvSpPr>
              <p:nvPr>
                <p:ph type="title"/>
              </p:nvPr>
            </p:nvSpPr>
            <p:spPr/>
            <p:txBody>
              <a:bodyPr/>
              <a:lstStyle/>
              <a:p>
                <a:r>
                  <a:rPr lang="en-US" dirty="0">
                    <a:latin typeface="LM Sans 10" panose="00000500000000000000" pitchFamily="50" charset="0"/>
                  </a:rPr>
                  <a:t>Computing </a:t>
                </a:r>
                <a14:m>
                  <m:oMath xmlns:m="http://schemas.openxmlformats.org/officeDocument/2006/math">
                    <m:r>
                      <a:rPr lang="en-US" i="1" dirty="0" smtClean="0">
                        <a:latin typeface="Cambria Math" panose="02040503050406030204" pitchFamily="18" charset="0"/>
                        <a:ea typeface="Cambria Math" panose="02040503050406030204" pitchFamily="18" charset="0"/>
                      </a:rPr>
                      <m:t>𝝅</m:t>
                    </m:r>
                  </m:oMath>
                </a14:m>
                <a:endParaRPr lang="uk-UA" dirty="0"/>
              </a:p>
            </p:txBody>
          </p:sp>
        </mc:Choice>
        <mc:Fallback xmlns="">
          <p:sp>
            <p:nvSpPr>
              <p:cNvPr id="2" name="Title 1">
                <a:extLst>
                  <a:ext uri="{FF2B5EF4-FFF2-40B4-BE49-F238E27FC236}">
                    <a16:creationId xmlns:a16="http://schemas.microsoft.com/office/drawing/2014/main" id="{91B67E02-F24C-D3F3-4901-7A5ADD3FCF97}"/>
                  </a:ext>
                </a:extLst>
              </p:cNvPr>
              <p:cNvSpPr>
                <a:spLocks noGrp="1" noRot="1" noChangeAspect="1" noMove="1" noResize="1" noEditPoints="1" noAdjustHandles="1" noChangeArrowheads="1" noChangeShapeType="1" noTextEdit="1"/>
              </p:cNvSpPr>
              <p:nvPr>
                <p:ph type="title"/>
              </p:nvPr>
            </p:nvSpPr>
            <p:spPr>
              <a:blipFill>
                <a:blip r:embed="rId3"/>
                <a:stretch>
                  <a:fillRect l="-122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84405007-B0D8-DCF2-56FA-4950A54F3C16}"/>
              </a:ext>
            </a:extLst>
          </p:cNvPr>
          <p:cNvSpPr>
            <a:spLocks noGrp="1"/>
          </p:cNvSpPr>
          <p:nvPr>
            <p:ph type="body" sz="quarter" idx="12"/>
          </p:nvPr>
        </p:nvSpPr>
        <p:spPr/>
        <p:txBody>
          <a:bodyPr/>
          <a:lstStyle/>
          <a:p>
            <a:endParaRPr lang="en-US"/>
          </a:p>
        </p:txBody>
      </p:sp>
      <p:pic>
        <p:nvPicPr>
          <p:cNvPr id="2050" name="Picture 2">
            <a:extLst>
              <a:ext uri="{FF2B5EF4-FFF2-40B4-BE49-F238E27FC236}">
                <a16:creationId xmlns:a16="http://schemas.microsoft.com/office/drawing/2014/main" id="{C4C8BDDA-460C-B0E9-10C1-CA0AC1A967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8719" y="3549150"/>
            <a:ext cx="2940612" cy="275390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F8DD8AA-5BB7-972C-52E0-F4BF016EC20F}"/>
              </a:ext>
            </a:extLst>
          </p:cNvPr>
          <p:cNvSpPr txBox="1"/>
          <p:nvPr/>
        </p:nvSpPr>
        <p:spPr>
          <a:xfrm>
            <a:off x="569323" y="1165086"/>
            <a:ext cx="6097656" cy="338554"/>
          </a:xfrm>
          <a:prstGeom prst="rect">
            <a:avLst/>
          </a:prstGeom>
          <a:noFill/>
        </p:spPr>
        <p:txBody>
          <a:bodyPr wrap="square">
            <a:spAutoFit/>
          </a:bodyPr>
          <a:lstStyle/>
          <a:p>
            <a:r>
              <a:rPr lang="en-US" sz="1600" dirty="0"/>
              <a:t>Consider a circle of unit radius r = 1. Its area is:</a:t>
            </a:r>
          </a:p>
        </p:txBody>
      </p:sp>
      <p:pic>
        <p:nvPicPr>
          <p:cNvPr id="9" name="Picture 8">
            <a:extLst>
              <a:ext uri="{FF2B5EF4-FFF2-40B4-BE49-F238E27FC236}">
                <a16:creationId xmlns:a16="http://schemas.microsoft.com/office/drawing/2014/main" id="{0E9C0B62-94D3-F4B4-2CFF-A6E237BEDF2C}"/>
              </a:ext>
            </a:extLst>
          </p:cNvPr>
          <p:cNvPicPr>
            <a:picLocks noChangeAspect="1"/>
          </p:cNvPicPr>
          <p:nvPr/>
        </p:nvPicPr>
        <p:blipFill>
          <a:blip r:embed="rId5"/>
          <a:stretch>
            <a:fillRect/>
          </a:stretch>
        </p:blipFill>
        <p:spPr>
          <a:xfrm>
            <a:off x="5517880" y="1375317"/>
            <a:ext cx="1173093" cy="471430"/>
          </a:xfrm>
          <a:prstGeom prst="rect">
            <a:avLst/>
          </a:prstGeom>
        </p:spPr>
      </p:pic>
      <p:sp>
        <p:nvSpPr>
          <p:cNvPr id="11" name="TextBox 10">
            <a:extLst>
              <a:ext uri="{FF2B5EF4-FFF2-40B4-BE49-F238E27FC236}">
                <a16:creationId xmlns:a16="http://schemas.microsoft.com/office/drawing/2014/main" id="{A0FB9870-B03F-B8F3-D351-6A8723FC744A}"/>
              </a:ext>
            </a:extLst>
          </p:cNvPr>
          <p:cNvSpPr txBox="1"/>
          <p:nvPr/>
        </p:nvSpPr>
        <p:spPr>
          <a:xfrm>
            <a:off x="569320" y="1786472"/>
            <a:ext cx="10741408" cy="338554"/>
          </a:xfrm>
          <a:prstGeom prst="rect">
            <a:avLst/>
          </a:prstGeom>
          <a:noFill/>
        </p:spPr>
        <p:txBody>
          <a:bodyPr wrap="square">
            <a:spAutoFit/>
          </a:bodyPr>
          <a:lstStyle/>
          <a:p>
            <a:r>
              <a:rPr lang="en-US" sz="1600" dirty="0"/>
              <a:t>The circle can be embedded into a square with a side length of two. The area of the square is: </a:t>
            </a:r>
            <a:r>
              <a:rPr lang="en-US" sz="1600" i="1" dirty="0" err="1"/>
              <a:t>A</a:t>
            </a:r>
            <a:r>
              <a:rPr lang="en-US" sz="1600" i="1" baseline="-25000" dirty="0" err="1"/>
              <a:t>sq</a:t>
            </a:r>
            <a:r>
              <a:rPr lang="en-US" sz="1600" baseline="-25000" dirty="0"/>
              <a:t> </a:t>
            </a:r>
            <a:r>
              <a:rPr lang="en-US" sz="1600" dirty="0"/>
              <a:t>= 2</a:t>
            </a:r>
            <a:r>
              <a:rPr lang="en-US" sz="1600" baseline="30000" dirty="0"/>
              <a:t>2</a:t>
            </a:r>
            <a:r>
              <a:rPr lang="en-US" sz="1600" dirty="0"/>
              <a:t> = 4</a:t>
            </a:r>
          </a:p>
        </p:txBody>
      </p:sp>
      <p:sp>
        <p:nvSpPr>
          <p:cNvPr id="15" name="TextBox 14">
            <a:extLst>
              <a:ext uri="{FF2B5EF4-FFF2-40B4-BE49-F238E27FC236}">
                <a16:creationId xmlns:a16="http://schemas.microsoft.com/office/drawing/2014/main" id="{7E37043C-873D-9D4B-F2CA-6EC2D8E0FF10}"/>
              </a:ext>
            </a:extLst>
          </p:cNvPr>
          <p:cNvSpPr txBox="1"/>
          <p:nvPr/>
        </p:nvSpPr>
        <p:spPr>
          <a:xfrm>
            <a:off x="569320" y="2184258"/>
            <a:ext cx="11168792" cy="584775"/>
          </a:xfrm>
          <a:prstGeom prst="rect">
            <a:avLst/>
          </a:prstGeom>
          <a:noFill/>
        </p:spPr>
        <p:txBody>
          <a:bodyPr wrap="square">
            <a:spAutoFit/>
          </a:bodyPr>
          <a:lstStyle/>
          <a:p>
            <a:r>
              <a:rPr lang="en-US" sz="1600" dirty="0"/>
              <a:t>Consider now a random point anywhere inside the square. The probability that it is also inside the circle is the ratio of their areas:</a:t>
            </a:r>
          </a:p>
        </p:txBody>
      </p:sp>
      <p:pic>
        <p:nvPicPr>
          <p:cNvPr id="17" name="Picture 16">
            <a:extLst>
              <a:ext uri="{FF2B5EF4-FFF2-40B4-BE49-F238E27FC236}">
                <a16:creationId xmlns:a16="http://schemas.microsoft.com/office/drawing/2014/main" id="{48A91F1E-CAAB-612D-930B-CFAF501CD11E}"/>
              </a:ext>
            </a:extLst>
          </p:cNvPr>
          <p:cNvPicPr>
            <a:picLocks noChangeAspect="1"/>
          </p:cNvPicPr>
          <p:nvPr/>
        </p:nvPicPr>
        <p:blipFill>
          <a:blip r:embed="rId6"/>
          <a:stretch>
            <a:fillRect/>
          </a:stretch>
        </p:blipFill>
        <p:spPr>
          <a:xfrm>
            <a:off x="5517880" y="2605596"/>
            <a:ext cx="1156237" cy="482603"/>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126A63-94C9-26DE-AEFB-7278DD990FC4}"/>
                  </a:ext>
                </a:extLst>
              </p:cNvPr>
              <p:cNvSpPr txBox="1"/>
              <p:nvPr/>
            </p:nvSpPr>
            <p:spPr>
              <a:xfrm>
                <a:off x="569320" y="3042709"/>
                <a:ext cx="10403479" cy="584775"/>
              </a:xfrm>
              <a:prstGeom prst="rect">
                <a:avLst/>
              </a:prstGeom>
              <a:noFill/>
            </p:spPr>
            <p:txBody>
              <a:bodyPr wrap="square">
                <a:spAutoFit/>
              </a:bodyPr>
              <a:lstStyle/>
              <a:p>
                <a:r>
                  <a:rPr lang="en-US" sz="1600" dirty="0"/>
                  <a:t>This probability can be estimated by sampling points inside the square many times and counting how many fall inside the circle. </a:t>
                </a:r>
                <a14:m>
                  <m:oMath xmlns:m="http://schemas.openxmlformats.org/officeDocument/2006/math">
                    <m:r>
                      <a:rPr lang="en-US" sz="1600" b="0" i="1" dirty="0" smtClean="0">
                        <a:latin typeface="Cambria Math" panose="02040503050406030204" pitchFamily="18" charset="0"/>
                        <a:ea typeface="Cambria Math" panose="02040503050406030204" pitchFamily="18" charset="0"/>
                      </a:rPr>
                      <m:t>𝜋</m:t>
                    </m:r>
                  </m:oMath>
                </a14:m>
                <a:r>
                  <a:rPr lang="en-US" sz="1600" dirty="0"/>
                  <a:t> can therefore be estimated as:</a:t>
                </a:r>
              </a:p>
            </p:txBody>
          </p:sp>
        </mc:Choice>
        <mc:Fallback xmlns="">
          <p:sp>
            <p:nvSpPr>
              <p:cNvPr id="19" name="TextBox 18">
                <a:extLst>
                  <a:ext uri="{FF2B5EF4-FFF2-40B4-BE49-F238E27FC236}">
                    <a16:creationId xmlns:a16="http://schemas.microsoft.com/office/drawing/2014/main" id="{D3126A63-94C9-26DE-AEFB-7278DD990FC4}"/>
                  </a:ext>
                </a:extLst>
              </p:cNvPr>
              <p:cNvSpPr txBox="1">
                <a:spLocks noRot="1" noChangeAspect="1" noMove="1" noResize="1" noEditPoints="1" noAdjustHandles="1" noChangeArrowheads="1" noChangeShapeType="1" noTextEdit="1"/>
              </p:cNvSpPr>
              <p:nvPr/>
            </p:nvSpPr>
            <p:spPr>
              <a:xfrm>
                <a:off x="569320" y="3042709"/>
                <a:ext cx="10403479" cy="584775"/>
              </a:xfrm>
              <a:prstGeom prst="rect">
                <a:avLst/>
              </a:prstGeom>
              <a:blipFill>
                <a:blip r:embed="rId7"/>
                <a:stretch>
                  <a:fillRect l="-244" t="-2128" b="-10638"/>
                </a:stretch>
              </a:blipFill>
            </p:spPr>
            <p:txBody>
              <a:bodyPr/>
              <a:lstStyle/>
              <a:p>
                <a:r>
                  <a:rPr lang="en-US">
                    <a:noFill/>
                  </a:rPr>
                  <a:t> </a:t>
                </a:r>
              </a:p>
            </p:txBody>
          </p:sp>
        </mc:Fallback>
      </mc:AlternateContent>
      <p:pic>
        <p:nvPicPr>
          <p:cNvPr id="20" name="Picture 19">
            <a:extLst>
              <a:ext uri="{FF2B5EF4-FFF2-40B4-BE49-F238E27FC236}">
                <a16:creationId xmlns:a16="http://schemas.microsoft.com/office/drawing/2014/main" id="{C0390D31-2182-BA33-7BE3-8C660739079E}"/>
              </a:ext>
            </a:extLst>
          </p:cNvPr>
          <p:cNvPicPr>
            <a:picLocks noChangeAspect="1"/>
          </p:cNvPicPr>
          <p:nvPr/>
        </p:nvPicPr>
        <p:blipFill>
          <a:blip r:embed="rId8"/>
          <a:stretch>
            <a:fillRect/>
          </a:stretch>
        </p:blipFill>
        <p:spPr>
          <a:xfrm>
            <a:off x="6235527" y="3651213"/>
            <a:ext cx="862903" cy="568501"/>
          </a:xfrm>
          <a:prstGeom prst="rect">
            <a:avLst/>
          </a:prstGeom>
        </p:spPr>
      </p:pic>
      <p:pic>
        <p:nvPicPr>
          <p:cNvPr id="3" name="Picture 2">
            <a:extLst>
              <a:ext uri="{FF2B5EF4-FFF2-40B4-BE49-F238E27FC236}">
                <a16:creationId xmlns:a16="http://schemas.microsoft.com/office/drawing/2014/main" id="{A1A1F74B-B9C1-4D44-7051-18E683BC70C9}"/>
              </a:ext>
            </a:extLst>
          </p:cNvPr>
          <p:cNvPicPr>
            <a:picLocks noChangeAspect="1"/>
          </p:cNvPicPr>
          <p:nvPr/>
        </p:nvPicPr>
        <p:blipFill>
          <a:blip r:embed="rId9"/>
          <a:stretch>
            <a:fillRect/>
          </a:stretch>
        </p:blipFill>
        <p:spPr>
          <a:xfrm>
            <a:off x="668823" y="3889295"/>
            <a:ext cx="5102236" cy="2377741"/>
          </a:xfrm>
          <a:prstGeom prst="rect">
            <a:avLst/>
          </a:prstGeom>
        </p:spPr>
      </p:pic>
      <p:sp>
        <p:nvSpPr>
          <p:cNvPr id="5" name="TextBox 4">
            <a:extLst>
              <a:ext uri="{FF2B5EF4-FFF2-40B4-BE49-F238E27FC236}">
                <a16:creationId xmlns:a16="http://schemas.microsoft.com/office/drawing/2014/main" id="{2B51116C-8BA7-3892-D068-2E910CB5F60B}"/>
              </a:ext>
            </a:extLst>
          </p:cNvPr>
          <p:cNvSpPr txBox="1"/>
          <p:nvPr/>
        </p:nvSpPr>
        <p:spPr>
          <a:xfrm>
            <a:off x="3642145" y="6438431"/>
            <a:ext cx="6097656" cy="369332"/>
          </a:xfrm>
          <a:prstGeom prst="rect">
            <a:avLst/>
          </a:prstGeom>
          <a:noFill/>
        </p:spPr>
        <p:txBody>
          <a:bodyPr wrap="square">
            <a:spAutoFit/>
          </a:bodyPr>
          <a:lstStyle/>
          <a:p>
            <a:r>
              <a:rPr lang="en-US" dirty="0"/>
              <a:t>This method is known as the </a:t>
            </a:r>
            <a:r>
              <a:rPr lang="en-US" b="1" dirty="0"/>
              <a:t>Monte Carlo estimation of </a:t>
            </a:r>
            <a:r>
              <a:rPr lang="el-GR" b="1" dirty="0"/>
              <a:t>π</a:t>
            </a:r>
            <a:r>
              <a:rPr lang="el-GR" dirty="0"/>
              <a:t>.</a:t>
            </a:r>
          </a:p>
        </p:txBody>
      </p:sp>
    </p:spTree>
    <p:extLst>
      <p:ext uri="{BB962C8B-B14F-4D97-AF65-F5344CB8AC3E}">
        <p14:creationId xmlns:p14="http://schemas.microsoft.com/office/powerpoint/2010/main" val="3657177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078CB659-2650-E7D1-4040-5B27DA065680}"/>
              </a:ext>
            </a:extLst>
          </p:cNvPr>
          <p:cNvPicPr>
            <a:picLocks noChangeAspect="1"/>
          </p:cNvPicPr>
          <p:nvPr/>
        </p:nvPicPr>
        <p:blipFill>
          <a:blip r:embed="rId3"/>
          <a:stretch>
            <a:fillRect/>
          </a:stretch>
        </p:blipFill>
        <p:spPr>
          <a:xfrm>
            <a:off x="747783" y="2695434"/>
            <a:ext cx="2787900" cy="589931"/>
          </a:xfrm>
          <a:prstGeom prst="rect">
            <a:avLst/>
          </a:prstGeom>
        </p:spPr>
      </p:pic>
      <p:pic>
        <p:nvPicPr>
          <p:cNvPr id="5" name="Picture 4">
            <a:extLst>
              <a:ext uri="{FF2B5EF4-FFF2-40B4-BE49-F238E27FC236}">
                <a16:creationId xmlns:a16="http://schemas.microsoft.com/office/drawing/2014/main" id="{499D4124-E876-1252-1704-EF9F905D1A0C}"/>
              </a:ext>
            </a:extLst>
          </p:cNvPr>
          <p:cNvPicPr>
            <a:picLocks noChangeAspect="1"/>
          </p:cNvPicPr>
          <p:nvPr/>
        </p:nvPicPr>
        <p:blipFill>
          <a:blip r:embed="rId4"/>
          <a:stretch>
            <a:fillRect/>
          </a:stretch>
        </p:blipFill>
        <p:spPr>
          <a:xfrm>
            <a:off x="622862" y="3429000"/>
            <a:ext cx="3129062" cy="298843"/>
          </a:xfrm>
          <a:prstGeom prst="rect">
            <a:avLst/>
          </a:prstGeom>
        </p:spPr>
      </p:pic>
      <p:pic>
        <p:nvPicPr>
          <p:cNvPr id="4098" name="Picture 2">
            <a:extLst>
              <a:ext uri="{FF2B5EF4-FFF2-40B4-BE49-F238E27FC236}">
                <a16:creationId xmlns:a16="http://schemas.microsoft.com/office/drawing/2014/main" id="{A0FDD39D-E470-A9F4-F57A-ADCEF68E95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8358" y="1530069"/>
            <a:ext cx="4152208" cy="37978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733E65-7688-9133-FB99-846EA1C2A21E}"/>
              </a:ext>
            </a:extLst>
          </p:cNvPr>
          <p:cNvSpPr txBox="1"/>
          <p:nvPr/>
        </p:nvSpPr>
        <p:spPr>
          <a:xfrm>
            <a:off x="618719" y="4277360"/>
            <a:ext cx="3046027" cy="369332"/>
          </a:xfrm>
          <a:prstGeom prst="rect">
            <a:avLst/>
          </a:prstGeom>
          <a:noFill/>
        </p:spPr>
        <p:txBody>
          <a:bodyPr wrap="none" rtlCol="0">
            <a:spAutoFit/>
          </a:bodyPr>
          <a:lstStyle/>
          <a:p>
            <a:r>
              <a:rPr lang="en-US" dirty="0"/>
              <a:t>Try a larger number of points</a:t>
            </a:r>
          </a:p>
        </p:txBody>
      </p:sp>
    </p:spTree>
    <p:extLst>
      <p:ext uri="{BB962C8B-B14F-4D97-AF65-F5344CB8AC3E}">
        <p14:creationId xmlns:p14="http://schemas.microsoft.com/office/powerpoint/2010/main" val="2357400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7" name="Picture 6">
            <a:extLst>
              <a:ext uri="{FF2B5EF4-FFF2-40B4-BE49-F238E27FC236}">
                <a16:creationId xmlns:a16="http://schemas.microsoft.com/office/drawing/2014/main" id="{C1D21037-5065-D833-3A86-9B53213DD5F0}"/>
              </a:ext>
            </a:extLst>
          </p:cNvPr>
          <p:cNvPicPr>
            <a:picLocks noChangeAspect="1"/>
          </p:cNvPicPr>
          <p:nvPr/>
        </p:nvPicPr>
        <p:blipFill>
          <a:blip r:embed="rId3"/>
          <a:stretch>
            <a:fillRect/>
          </a:stretch>
        </p:blipFill>
        <p:spPr>
          <a:xfrm>
            <a:off x="680270" y="1245001"/>
            <a:ext cx="9999061" cy="2571187"/>
          </a:xfrm>
          <a:prstGeom prst="rect">
            <a:avLst/>
          </a:prstGeom>
        </p:spPr>
      </p:pic>
      <p:pic>
        <p:nvPicPr>
          <p:cNvPr id="2050" name="Picture 2">
            <a:extLst>
              <a:ext uri="{FF2B5EF4-FFF2-40B4-BE49-F238E27FC236}">
                <a16:creationId xmlns:a16="http://schemas.microsoft.com/office/drawing/2014/main" id="{A5C954C9-1BE3-F506-FBD1-9C248901F3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8719" y="3549150"/>
            <a:ext cx="2940612" cy="2753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138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7" name="Picture 6">
            <a:extLst>
              <a:ext uri="{FF2B5EF4-FFF2-40B4-BE49-F238E27FC236}">
                <a16:creationId xmlns:a16="http://schemas.microsoft.com/office/drawing/2014/main" id="{C1D21037-5065-D833-3A86-9B53213DD5F0}"/>
              </a:ext>
            </a:extLst>
          </p:cNvPr>
          <p:cNvPicPr>
            <a:picLocks noChangeAspect="1"/>
          </p:cNvPicPr>
          <p:nvPr/>
        </p:nvPicPr>
        <p:blipFill>
          <a:blip r:embed="rId3"/>
          <a:stretch>
            <a:fillRect/>
          </a:stretch>
        </p:blipFill>
        <p:spPr>
          <a:xfrm>
            <a:off x="680270" y="1245001"/>
            <a:ext cx="9999061" cy="2571187"/>
          </a:xfrm>
          <a:prstGeom prst="rect">
            <a:avLst/>
          </a:prstGeom>
        </p:spPr>
      </p:pic>
      <p:pic>
        <p:nvPicPr>
          <p:cNvPr id="8" name="Picture 7">
            <a:extLst>
              <a:ext uri="{FF2B5EF4-FFF2-40B4-BE49-F238E27FC236}">
                <a16:creationId xmlns:a16="http://schemas.microsoft.com/office/drawing/2014/main" id="{42DA9CBC-072B-6FFC-C568-D99292D3874D}"/>
              </a:ext>
            </a:extLst>
          </p:cNvPr>
          <p:cNvPicPr>
            <a:picLocks noChangeAspect="1"/>
          </p:cNvPicPr>
          <p:nvPr/>
        </p:nvPicPr>
        <p:blipFill>
          <a:blip r:embed="rId4"/>
          <a:stretch>
            <a:fillRect/>
          </a:stretch>
        </p:blipFill>
        <p:spPr>
          <a:xfrm>
            <a:off x="680270" y="3896103"/>
            <a:ext cx="5590923" cy="2605479"/>
          </a:xfrm>
          <a:prstGeom prst="rect">
            <a:avLst/>
          </a:prstGeom>
        </p:spPr>
      </p:pic>
      <p:pic>
        <p:nvPicPr>
          <p:cNvPr id="5" name="Picture 2">
            <a:extLst>
              <a:ext uri="{FF2B5EF4-FFF2-40B4-BE49-F238E27FC236}">
                <a16:creationId xmlns:a16="http://schemas.microsoft.com/office/drawing/2014/main" id="{6021A17F-DACC-1001-37C1-E2F447A373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8719" y="3549150"/>
            <a:ext cx="2940612" cy="2753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320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7" name="Picture 6">
            <a:extLst>
              <a:ext uri="{FF2B5EF4-FFF2-40B4-BE49-F238E27FC236}">
                <a16:creationId xmlns:a16="http://schemas.microsoft.com/office/drawing/2014/main" id="{C1D21037-5065-D833-3A86-9B53213DD5F0}"/>
              </a:ext>
            </a:extLst>
          </p:cNvPr>
          <p:cNvPicPr>
            <a:picLocks noChangeAspect="1"/>
          </p:cNvPicPr>
          <p:nvPr/>
        </p:nvPicPr>
        <p:blipFill>
          <a:blip r:embed="rId3"/>
          <a:stretch>
            <a:fillRect/>
          </a:stretch>
        </p:blipFill>
        <p:spPr>
          <a:xfrm>
            <a:off x="680270" y="1245001"/>
            <a:ext cx="9999061" cy="2571187"/>
          </a:xfrm>
          <a:prstGeom prst="rect">
            <a:avLst/>
          </a:prstGeom>
        </p:spPr>
      </p:pic>
      <p:pic>
        <p:nvPicPr>
          <p:cNvPr id="3" name="Picture 2">
            <a:extLst>
              <a:ext uri="{FF2B5EF4-FFF2-40B4-BE49-F238E27FC236}">
                <a16:creationId xmlns:a16="http://schemas.microsoft.com/office/drawing/2014/main" id="{6B811D50-B829-1BB1-0141-6B78AD052F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483" y="3559629"/>
            <a:ext cx="3010848" cy="27539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06F13F5-8DC9-32BC-A290-47DD1674FB1B}"/>
              </a:ext>
            </a:extLst>
          </p:cNvPr>
          <p:cNvPicPr>
            <a:picLocks noChangeAspect="1"/>
          </p:cNvPicPr>
          <p:nvPr/>
        </p:nvPicPr>
        <p:blipFill>
          <a:blip r:embed="rId5"/>
          <a:stretch>
            <a:fillRect/>
          </a:stretch>
        </p:blipFill>
        <p:spPr>
          <a:xfrm>
            <a:off x="1052583" y="4001719"/>
            <a:ext cx="2787900" cy="589931"/>
          </a:xfrm>
          <a:prstGeom prst="rect">
            <a:avLst/>
          </a:prstGeom>
        </p:spPr>
      </p:pic>
      <p:pic>
        <p:nvPicPr>
          <p:cNvPr id="6" name="Picture 5">
            <a:extLst>
              <a:ext uri="{FF2B5EF4-FFF2-40B4-BE49-F238E27FC236}">
                <a16:creationId xmlns:a16="http://schemas.microsoft.com/office/drawing/2014/main" id="{7E0CE5C6-4BFE-2FC4-BAB9-0F792E4F3446}"/>
              </a:ext>
            </a:extLst>
          </p:cNvPr>
          <p:cNvPicPr>
            <a:picLocks noChangeAspect="1"/>
          </p:cNvPicPr>
          <p:nvPr/>
        </p:nvPicPr>
        <p:blipFill>
          <a:blip r:embed="rId6"/>
          <a:stretch>
            <a:fillRect/>
          </a:stretch>
        </p:blipFill>
        <p:spPr>
          <a:xfrm>
            <a:off x="927662" y="4735285"/>
            <a:ext cx="3129062" cy="298843"/>
          </a:xfrm>
          <a:prstGeom prst="rect">
            <a:avLst/>
          </a:prstGeom>
        </p:spPr>
      </p:pic>
      <p:sp>
        <p:nvSpPr>
          <p:cNvPr id="8" name="TextBox 7">
            <a:extLst>
              <a:ext uri="{FF2B5EF4-FFF2-40B4-BE49-F238E27FC236}">
                <a16:creationId xmlns:a16="http://schemas.microsoft.com/office/drawing/2014/main" id="{FC1672F9-5869-769D-48B3-A8C38FB2A155}"/>
              </a:ext>
            </a:extLst>
          </p:cNvPr>
          <p:cNvSpPr txBox="1"/>
          <p:nvPr/>
        </p:nvSpPr>
        <p:spPr>
          <a:xfrm>
            <a:off x="861782" y="5428333"/>
            <a:ext cx="2978701" cy="369332"/>
          </a:xfrm>
          <a:prstGeom prst="rect">
            <a:avLst/>
          </a:prstGeom>
          <a:noFill/>
        </p:spPr>
        <p:txBody>
          <a:bodyPr wrap="none" rtlCol="0">
            <a:spAutoFit/>
          </a:bodyPr>
          <a:lstStyle/>
          <a:p>
            <a:r>
              <a:rPr lang="en-US" dirty="0"/>
              <a:t>Try to implement it yourself!</a:t>
            </a:r>
          </a:p>
        </p:txBody>
      </p:sp>
    </p:spTree>
    <p:extLst>
      <p:ext uri="{BB962C8B-B14F-4D97-AF65-F5344CB8AC3E}">
        <p14:creationId xmlns:p14="http://schemas.microsoft.com/office/powerpoint/2010/main" val="22367342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078CB659-2650-E7D1-4040-5B27DA065680}"/>
              </a:ext>
            </a:extLst>
          </p:cNvPr>
          <p:cNvPicPr>
            <a:picLocks noChangeAspect="1"/>
          </p:cNvPicPr>
          <p:nvPr/>
        </p:nvPicPr>
        <p:blipFill>
          <a:blip r:embed="rId3"/>
          <a:stretch>
            <a:fillRect/>
          </a:stretch>
        </p:blipFill>
        <p:spPr>
          <a:xfrm>
            <a:off x="747783" y="2695434"/>
            <a:ext cx="2787900" cy="589931"/>
          </a:xfrm>
          <a:prstGeom prst="rect">
            <a:avLst/>
          </a:prstGeom>
        </p:spPr>
      </p:pic>
      <p:pic>
        <p:nvPicPr>
          <p:cNvPr id="5" name="Picture 4">
            <a:extLst>
              <a:ext uri="{FF2B5EF4-FFF2-40B4-BE49-F238E27FC236}">
                <a16:creationId xmlns:a16="http://schemas.microsoft.com/office/drawing/2014/main" id="{499D4124-E876-1252-1704-EF9F905D1A0C}"/>
              </a:ext>
            </a:extLst>
          </p:cNvPr>
          <p:cNvPicPr>
            <a:picLocks noChangeAspect="1"/>
          </p:cNvPicPr>
          <p:nvPr/>
        </p:nvPicPr>
        <p:blipFill>
          <a:blip r:embed="rId4"/>
          <a:stretch>
            <a:fillRect/>
          </a:stretch>
        </p:blipFill>
        <p:spPr>
          <a:xfrm>
            <a:off x="622862" y="3429000"/>
            <a:ext cx="3129062" cy="298843"/>
          </a:xfrm>
          <a:prstGeom prst="rect">
            <a:avLst/>
          </a:prstGeom>
        </p:spPr>
      </p:pic>
      <p:pic>
        <p:nvPicPr>
          <p:cNvPr id="4098" name="Picture 2">
            <a:extLst>
              <a:ext uri="{FF2B5EF4-FFF2-40B4-BE49-F238E27FC236}">
                <a16:creationId xmlns:a16="http://schemas.microsoft.com/office/drawing/2014/main" id="{A0FDD39D-E470-A9F4-F57A-ADCEF68E95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8358" y="1530069"/>
            <a:ext cx="4152208" cy="37978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733E65-7688-9133-FB99-846EA1C2A21E}"/>
              </a:ext>
            </a:extLst>
          </p:cNvPr>
          <p:cNvSpPr txBox="1"/>
          <p:nvPr/>
        </p:nvSpPr>
        <p:spPr>
          <a:xfrm>
            <a:off x="618719" y="4277360"/>
            <a:ext cx="3046027" cy="369332"/>
          </a:xfrm>
          <a:prstGeom prst="rect">
            <a:avLst/>
          </a:prstGeom>
          <a:noFill/>
        </p:spPr>
        <p:txBody>
          <a:bodyPr wrap="none" rtlCol="0">
            <a:spAutoFit/>
          </a:bodyPr>
          <a:lstStyle/>
          <a:p>
            <a:r>
              <a:rPr lang="en-US" dirty="0"/>
              <a:t>Try a larger number of points</a:t>
            </a:r>
          </a:p>
        </p:txBody>
      </p:sp>
    </p:spTree>
    <p:extLst>
      <p:ext uri="{BB962C8B-B14F-4D97-AF65-F5344CB8AC3E}">
        <p14:creationId xmlns:p14="http://schemas.microsoft.com/office/powerpoint/2010/main" val="679191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 as the average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1CF26413-CF39-C7FB-F6D4-9A90927AD8EE}"/>
              </a:ext>
            </a:extLst>
          </p:cNvPr>
          <p:cNvPicPr>
            <a:picLocks noChangeAspect="1"/>
          </p:cNvPicPr>
          <p:nvPr/>
        </p:nvPicPr>
        <p:blipFill>
          <a:blip r:embed="rId3"/>
          <a:stretch>
            <a:fillRect/>
          </a:stretch>
        </p:blipFill>
        <p:spPr>
          <a:xfrm>
            <a:off x="1427232" y="1084165"/>
            <a:ext cx="9337534" cy="3525201"/>
          </a:xfrm>
          <a:prstGeom prst="rect">
            <a:avLst/>
          </a:prstGeom>
        </p:spPr>
      </p:pic>
      <p:pic>
        <p:nvPicPr>
          <p:cNvPr id="5" name="Picture 4">
            <a:extLst>
              <a:ext uri="{FF2B5EF4-FFF2-40B4-BE49-F238E27FC236}">
                <a16:creationId xmlns:a16="http://schemas.microsoft.com/office/drawing/2014/main" id="{553589BC-5530-D3AA-0F40-13D7B6EB9994}"/>
              </a:ext>
            </a:extLst>
          </p:cNvPr>
          <p:cNvPicPr>
            <a:picLocks noChangeAspect="1"/>
          </p:cNvPicPr>
          <p:nvPr/>
        </p:nvPicPr>
        <p:blipFill>
          <a:blip r:embed="rId4"/>
          <a:stretch>
            <a:fillRect/>
          </a:stretch>
        </p:blipFill>
        <p:spPr>
          <a:xfrm>
            <a:off x="3570273" y="4783117"/>
            <a:ext cx="5051453" cy="1737557"/>
          </a:xfrm>
          <a:prstGeom prst="rect">
            <a:avLst/>
          </a:prstGeom>
        </p:spPr>
      </p:pic>
    </p:spTree>
    <p:extLst>
      <p:ext uri="{BB962C8B-B14F-4D97-AF65-F5344CB8AC3E}">
        <p14:creationId xmlns:p14="http://schemas.microsoft.com/office/powerpoint/2010/main" val="3218082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 as the average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F33734B0-9840-1663-77AD-F341AE2CE808}"/>
              </a:ext>
            </a:extLst>
          </p:cNvPr>
          <p:cNvPicPr>
            <a:picLocks noChangeAspect="1"/>
          </p:cNvPicPr>
          <p:nvPr/>
        </p:nvPicPr>
        <p:blipFill>
          <a:blip r:embed="rId3"/>
          <a:stretch>
            <a:fillRect/>
          </a:stretch>
        </p:blipFill>
        <p:spPr>
          <a:xfrm>
            <a:off x="6096000" y="1560533"/>
            <a:ext cx="5384800" cy="1943100"/>
          </a:xfrm>
          <a:prstGeom prst="rect">
            <a:avLst/>
          </a:prstGeom>
        </p:spPr>
      </p:pic>
      <p:pic>
        <p:nvPicPr>
          <p:cNvPr id="7" name="Picture 4">
            <a:extLst>
              <a:ext uri="{FF2B5EF4-FFF2-40B4-BE49-F238E27FC236}">
                <a16:creationId xmlns:a16="http://schemas.microsoft.com/office/drawing/2014/main" id="{08414D85-9050-0BA1-9F4C-DD65471C7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2860" y="1247978"/>
            <a:ext cx="3401479" cy="25682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7A2397B-C937-5CBD-0781-FBDC15900EBA}"/>
              </a:ext>
            </a:extLst>
          </p:cNvPr>
          <p:cNvSpPr txBox="1"/>
          <p:nvPr/>
        </p:nvSpPr>
        <p:spPr>
          <a:xfrm>
            <a:off x="638212" y="4616130"/>
            <a:ext cx="9329798" cy="369332"/>
          </a:xfrm>
          <a:prstGeom prst="rect">
            <a:avLst/>
          </a:prstGeom>
          <a:noFill/>
        </p:spPr>
        <p:txBody>
          <a:bodyPr wrap="none" rtlCol="0">
            <a:spAutoFit/>
          </a:bodyPr>
          <a:lstStyle/>
          <a:p>
            <a:r>
              <a:rPr lang="en-US" dirty="0"/>
              <a:t>Advantage: the method works also if </a:t>
            </a:r>
            <a:r>
              <a:rPr lang="en-US" i="1" dirty="0"/>
              <a:t>f</a:t>
            </a:r>
            <a:r>
              <a:rPr lang="en-US" dirty="0"/>
              <a:t>(</a:t>
            </a:r>
            <a:r>
              <a:rPr lang="en-US" i="1" dirty="0"/>
              <a:t>x</a:t>
            </a:r>
            <a:r>
              <a:rPr lang="en-US" dirty="0"/>
              <a:t>) is negative, also no need to know its maximum value</a:t>
            </a:r>
          </a:p>
        </p:txBody>
      </p:sp>
    </p:spTree>
    <p:extLst>
      <p:ext uri="{BB962C8B-B14F-4D97-AF65-F5344CB8AC3E}">
        <p14:creationId xmlns:p14="http://schemas.microsoft.com/office/powerpoint/2010/main" val="14116819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Another way to compute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7D2D5D30-39FB-3B6C-9FC3-2E31A3E92F9C}"/>
              </a:ext>
            </a:extLst>
          </p:cNvPr>
          <p:cNvPicPr>
            <a:picLocks noChangeAspect="1"/>
          </p:cNvPicPr>
          <p:nvPr/>
        </p:nvPicPr>
        <p:blipFill>
          <a:blip r:embed="rId3"/>
          <a:stretch>
            <a:fillRect/>
          </a:stretch>
        </p:blipFill>
        <p:spPr>
          <a:xfrm>
            <a:off x="638212" y="1204737"/>
            <a:ext cx="7772400" cy="1037133"/>
          </a:xfrm>
          <a:prstGeom prst="rect">
            <a:avLst/>
          </a:prstGeom>
        </p:spPr>
      </p:pic>
    </p:spTree>
    <p:extLst>
      <p:ext uri="{BB962C8B-B14F-4D97-AF65-F5344CB8AC3E}">
        <p14:creationId xmlns:p14="http://schemas.microsoft.com/office/powerpoint/2010/main" val="4287802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Another way to compute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7D2D5D30-39FB-3B6C-9FC3-2E31A3E92F9C}"/>
              </a:ext>
            </a:extLst>
          </p:cNvPr>
          <p:cNvPicPr>
            <a:picLocks noChangeAspect="1"/>
          </p:cNvPicPr>
          <p:nvPr/>
        </p:nvPicPr>
        <p:blipFill>
          <a:blip r:embed="rId3"/>
          <a:stretch>
            <a:fillRect/>
          </a:stretch>
        </p:blipFill>
        <p:spPr>
          <a:xfrm>
            <a:off x="638212" y="1204737"/>
            <a:ext cx="7772400" cy="1037133"/>
          </a:xfrm>
          <a:prstGeom prst="rect">
            <a:avLst/>
          </a:prstGeom>
        </p:spPr>
      </p:pic>
      <p:pic>
        <p:nvPicPr>
          <p:cNvPr id="5" name="Picture 4">
            <a:extLst>
              <a:ext uri="{FF2B5EF4-FFF2-40B4-BE49-F238E27FC236}">
                <a16:creationId xmlns:a16="http://schemas.microsoft.com/office/drawing/2014/main" id="{031B54B5-12CB-8C36-E124-AD59084AC778}"/>
              </a:ext>
            </a:extLst>
          </p:cNvPr>
          <p:cNvPicPr>
            <a:picLocks noChangeAspect="1"/>
          </p:cNvPicPr>
          <p:nvPr/>
        </p:nvPicPr>
        <p:blipFill>
          <a:blip r:embed="rId4"/>
          <a:stretch>
            <a:fillRect/>
          </a:stretch>
        </p:blipFill>
        <p:spPr>
          <a:xfrm>
            <a:off x="638212" y="2793838"/>
            <a:ext cx="5740400" cy="2044700"/>
          </a:xfrm>
          <a:prstGeom prst="rect">
            <a:avLst/>
          </a:prstGeom>
        </p:spPr>
      </p:pic>
    </p:spTree>
    <p:extLst>
      <p:ext uri="{BB962C8B-B14F-4D97-AF65-F5344CB8AC3E}">
        <p14:creationId xmlns:p14="http://schemas.microsoft.com/office/powerpoint/2010/main" val="204876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C12EC-10D4-D448-814E-CCB0907BF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81388-69F2-A101-6EFF-EE659FC523B6}"/>
              </a:ext>
            </a:extLst>
          </p:cNvPr>
          <p:cNvSpPr>
            <a:spLocks noGrp="1"/>
          </p:cNvSpPr>
          <p:nvPr>
            <p:ph type="title"/>
          </p:nvPr>
        </p:nvSpPr>
        <p:spPr/>
        <p:txBody>
          <a:bodyPr/>
          <a:lstStyle/>
          <a:p>
            <a:r>
              <a:rPr lang="en-US" dirty="0">
                <a:latin typeface="LM Sans 10" panose="00000500000000000000" pitchFamily="50" charset="0"/>
              </a:rPr>
              <a:t>Computing integral as the average</a:t>
            </a:r>
            <a:endParaRPr lang="uk-UA" dirty="0"/>
          </a:p>
        </p:txBody>
      </p:sp>
      <p:sp>
        <p:nvSpPr>
          <p:cNvPr id="4" name="Text Placeholder 3">
            <a:extLst>
              <a:ext uri="{FF2B5EF4-FFF2-40B4-BE49-F238E27FC236}">
                <a16:creationId xmlns:a16="http://schemas.microsoft.com/office/drawing/2014/main" id="{7A4D6E88-A820-50A2-768C-FD9BB4CDD5F2}"/>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2CFB67D3-E5B5-D81C-7E55-CCAC22879203}"/>
              </a:ext>
            </a:extLst>
          </p:cNvPr>
          <p:cNvPicPr>
            <a:picLocks noChangeAspect="1"/>
          </p:cNvPicPr>
          <p:nvPr/>
        </p:nvPicPr>
        <p:blipFill>
          <a:blip r:embed="rId3"/>
          <a:stretch>
            <a:fillRect/>
          </a:stretch>
        </p:blipFill>
        <p:spPr>
          <a:xfrm>
            <a:off x="3570273" y="4783117"/>
            <a:ext cx="5051453" cy="1737557"/>
          </a:xfrm>
          <a:prstGeom prst="rect">
            <a:avLst/>
          </a:prstGeom>
        </p:spPr>
      </p:pic>
      <p:sp>
        <p:nvSpPr>
          <p:cNvPr id="7" name="TextBox 6">
            <a:extLst>
              <a:ext uri="{FF2B5EF4-FFF2-40B4-BE49-F238E27FC236}">
                <a16:creationId xmlns:a16="http://schemas.microsoft.com/office/drawing/2014/main" id="{308D69D0-4D9B-C990-7736-DEC7F943F6D7}"/>
              </a:ext>
            </a:extLst>
          </p:cNvPr>
          <p:cNvSpPr txBox="1"/>
          <p:nvPr/>
        </p:nvSpPr>
        <p:spPr>
          <a:xfrm>
            <a:off x="609080" y="1165086"/>
            <a:ext cx="6097656" cy="338554"/>
          </a:xfrm>
          <a:prstGeom prst="rect">
            <a:avLst/>
          </a:prstGeom>
          <a:noFill/>
        </p:spPr>
        <p:txBody>
          <a:bodyPr wrap="square">
            <a:spAutoFit/>
          </a:bodyPr>
          <a:lstStyle/>
          <a:p>
            <a:pPr marL="285750" indent="-285750">
              <a:buFont typeface="Arial" panose="020B0604020202020204" pitchFamily="34" charset="0"/>
              <a:buChar char="•"/>
            </a:pPr>
            <a:r>
              <a:rPr lang="en-US" sz="1600" dirty="0"/>
              <a:t>The integral of a function over an interval (a, b) is given by:</a:t>
            </a:r>
          </a:p>
        </p:txBody>
      </p:sp>
      <p:pic>
        <p:nvPicPr>
          <p:cNvPr id="8" name="Picture 7">
            <a:extLst>
              <a:ext uri="{FF2B5EF4-FFF2-40B4-BE49-F238E27FC236}">
                <a16:creationId xmlns:a16="http://schemas.microsoft.com/office/drawing/2014/main" id="{8ED90EF3-8645-2ABD-D307-30642DEDEB05}"/>
              </a:ext>
            </a:extLst>
          </p:cNvPr>
          <p:cNvPicPr>
            <a:picLocks noChangeAspect="1"/>
          </p:cNvPicPr>
          <p:nvPr/>
        </p:nvPicPr>
        <p:blipFill>
          <a:blip r:embed="rId4"/>
          <a:stretch>
            <a:fillRect/>
          </a:stretch>
        </p:blipFill>
        <p:spPr>
          <a:xfrm>
            <a:off x="5504712" y="1450926"/>
            <a:ext cx="1182573" cy="571243"/>
          </a:xfrm>
          <a:prstGeom prst="rect">
            <a:avLst/>
          </a:prstGeom>
        </p:spPr>
      </p:pic>
      <p:sp>
        <p:nvSpPr>
          <p:cNvPr id="10" name="TextBox 9">
            <a:extLst>
              <a:ext uri="{FF2B5EF4-FFF2-40B4-BE49-F238E27FC236}">
                <a16:creationId xmlns:a16="http://schemas.microsoft.com/office/drawing/2014/main" id="{6107ED4C-3CAF-2235-288B-8A6C46C6930E}"/>
              </a:ext>
            </a:extLst>
          </p:cNvPr>
          <p:cNvSpPr txBox="1"/>
          <p:nvPr/>
        </p:nvSpPr>
        <p:spPr>
          <a:xfrm>
            <a:off x="609080" y="1969455"/>
            <a:ext cx="6097656" cy="338554"/>
          </a:xfrm>
          <a:prstGeom prst="rect">
            <a:avLst/>
          </a:prstGeom>
          <a:noFill/>
        </p:spPr>
        <p:txBody>
          <a:bodyPr wrap="square">
            <a:spAutoFit/>
          </a:bodyPr>
          <a:lstStyle/>
          <a:p>
            <a:pPr marL="285750" indent="-285750">
              <a:buFont typeface="Arial" panose="020B0604020202020204" pitchFamily="34" charset="0"/>
              <a:buChar char="•"/>
            </a:pPr>
            <a:r>
              <a:rPr lang="en-US" sz="1600" dirty="0"/>
              <a:t>The mean value of f(x) over (a, b) is:</a:t>
            </a:r>
          </a:p>
        </p:txBody>
      </p:sp>
      <p:pic>
        <p:nvPicPr>
          <p:cNvPr id="11" name="Picture 10">
            <a:extLst>
              <a:ext uri="{FF2B5EF4-FFF2-40B4-BE49-F238E27FC236}">
                <a16:creationId xmlns:a16="http://schemas.microsoft.com/office/drawing/2014/main" id="{FDC5FDEC-5171-760D-610B-3334523C9FFA}"/>
              </a:ext>
            </a:extLst>
          </p:cNvPr>
          <p:cNvPicPr>
            <a:picLocks noChangeAspect="1"/>
          </p:cNvPicPr>
          <p:nvPr/>
        </p:nvPicPr>
        <p:blipFill>
          <a:blip r:embed="rId5"/>
          <a:stretch>
            <a:fillRect/>
          </a:stretch>
        </p:blipFill>
        <p:spPr>
          <a:xfrm>
            <a:off x="5099047" y="2233789"/>
            <a:ext cx="1993902" cy="606393"/>
          </a:xfrm>
          <a:prstGeom prst="rect">
            <a:avLst/>
          </a:prstGeom>
        </p:spPr>
      </p:pic>
      <p:sp>
        <p:nvSpPr>
          <p:cNvPr id="13" name="TextBox 12">
            <a:extLst>
              <a:ext uri="{FF2B5EF4-FFF2-40B4-BE49-F238E27FC236}">
                <a16:creationId xmlns:a16="http://schemas.microsoft.com/office/drawing/2014/main" id="{D90F4D57-B65C-4923-A428-8D188AA0BC0E}"/>
              </a:ext>
            </a:extLst>
          </p:cNvPr>
          <p:cNvSpPr txBox="1"/>
          <p:nvPr/>
        </p:nvSpPr>
        <p:spPr>
          <a:xfrm>
            <a:off x="7712646" y="2367708"/>
            <a:ext cx="1818160" cy="338554"/>
          </a:xfrm>
          <a:prstGeom prst="rect">
            <a:avLst/>
          </a:prstGeom>
          <a:noFill/>
        </p:spPr>
        <p:txBody>
          <a:bodyPr wrap="square">
            <a:spAutoFit/>
          </a:bodyPr>
          <a:lstStyle/>
          <a:p>
            <a:r>
              <a:rPr lang="en-US" sz="1600" dirty="0"/>
              <a:t>which gives:</a:t>
            </a:r>
          </a:p>
        </p:txBody>
      </p:sp>
      <p:pic>
        <p:nvPicPr>
          <p:cNvPr id="14" name="Picture 13">
            <a:extLst>
              <a:ext uri="{FF2B5EF4-FFF2-40B4-BE49-F238E27FC236}">
                <a16:creationId xmlns:a16="http://schemas.microsoft.com/office/drawing/2014/main" id="{7435D141-8C25-8E97-1CFC-1A52F226B3CD}"/>
              </a:ext>
            </a:extLst>
          </p:cNvPr>
          <p:cNvPicPr>
            <a:picLocks noChangeAspect="1"/>
          </p:cNvPicPr>
          <p:nvPr/>
        </p:nvPicPr>
        <p:blipFill>
          <a:blip r:embed="rId6"/>
          <a:stretch>
            <a:fillRect/>
          </a:stretch>
        </p:blipFill>
        <p:spPr>
          <a:xfrm>
            <a:off x="9030694" y="2378236"/>
            <a:ext cx="1119809" cy="352532"/>
          </a:xfrm>
          <a:prstGeom prst="rect">
            <a:avLst/>
          </a:prstGeom>
        </p:spPr>
      </p:pic>
      <p:sp>
        <p:nvSpPr>
          <p:cNvPr id="16" name="TextBox 15">
            <a:extLst>
              <a:ext uri="{FF2B5EF4-FFF2-40B4-BE49-F238E27FC236}">
                <a16:creationId xmlns:a16="http://schemas.microsoft.com/office/drawing/2014/main" id="{509A6F4B-0390-147B-BE71-573123459D45}"/>
              </a:ext>
            </a:extLst>
          </p:cNvPr>
          <p:cNvSpPr txBox="1"/>
          <p:nvPr/>
        </p:nvSpPr>
        <p:spPr>
          <a:xfrm>
            <a:off x="609080" y="2935239"/>
            <a:ext cx="10070251" cy="338554"/>
          </a:xfrm>
          <a:prstGeom prst="rect">
            <a:avLst/>
          </a:prstGeom>
          <a:noFill/>
        </p:spPr>
        <p:txBody>
          <a:bodyPr wrap="square">
            <a:spAutoFit/>
          </a:bodyPr>
          <a:lstStyle/>
          <a:p>
            <a:pPr marL="285750" indent="-285750">
              <a:buFont typeface="Arial" panose="020B0604020202020204" pitchFamily="34" charset="0"/>
              <a:buChar char="•"/>
            </a:pPr>
            <a:r>
              <a:rPr lang="en-US" sz="1600" dirty="0"/>
              <a:t>The integral can be estimated by computing the average value of f(x), where x is randomly sampled over (a, b):</a:t>
            </a:r>
          </a:p>
        </p:txBody>
      </p:sp>
      <p:pic>
        <p:nvPicPr>
          <p:cNvPr id="17" name="Picture 16">
            <a:extLst>
              <a:ext uri="{FF2B5EF4-FFF2-40B4-BE49-F238E27FC236}">
                <a16:creationId xmlns:a16="http://schemas.microsoft.com/office/drawing/2014/main" id="{BAAE5481-044D-056D-1A0F-4CC5BFA91F12}"/>
              </a:ext>
            </a:extLst>
          </p:cNvPr>
          <p:cNvPicPr>
            <a:picLocks noChangeAspect="1"/>
          </p:cNvPicPr>
          <p:nvPr/>
        </p:nvPicPr>
        <p:blipFill>
          <a:blip r:embed="rId7"/>
          <a:stretch>
            <a:fillRect/>
          </a:stretch>
        </p:blipFill>
        <p:spPr>
          <a:xfrm>
            <a:off x="5457548" y="3347003"/>
            <a:ext cx="1276904" cy="477691"/>
          </a:xfrm>
          <a:prstGeom prst="rect">
            <a:avLst/>
          </a:prstGeom>
        </p:spPr>
      </p:pic>
      <p:sp>
        <p:nvSpPr>
          <p:cNvPr id="19" name="TextBox 18">
            <a:extLst>
              <a:ext uri="{FF2B5EF4-FFF2-40B4-BE49-F238E27FC236}">
                <a16:creationId xmlns:a16="http://schemas.microsoft.com/office/drawing/2014/main" id="{BB569E33-FC45-3A7F-9004-90035A1651B3}"/>
              </a:ext>
            </a:extLst>
          </p:cNvPr>
          <p:cNvSpPr txBox="1"/>
          <p:nvPr/>
        </p:nvSpPr>
        <p:spPr>
          <a:xfrm>
            <a:off x="589628" y="3792322"/>
            <a:ext cx="6944233" cy="338554"/>
          </a:xfrm>
          <a:prstGeom prst="rect">
            <a:avLst/>
          </a:prstGeom>
          <a:noFill/>
        </p:spPr>
        <p:txBody>
          <a:bodyPr wrap="square">
            <a:spAutoFit/>
          </a:bodyPr>
          <a:lstStyle/>
          <a:p>
            <a:pPr marL="285750" indent="-285750">
              <a:buFont typeface="Arial" panose="020B0604020202020204" pitchFamily="34" charset="0"/>
              <a:buChar char="•"/>
            </a:pPr>
            <a:r>
              <a:rPr lang="en-US" sz="1600" dirty="0"/>
              <a:t>Using the law of averages, the error estimate involves the variance of f(x):</a:t>
            </a:r>
          </a:p>
        </p:txBody>
      </p:sp>
      <p:pic>
        <p:nvPicPr>
          <p:cNvPr id="20" name="Picture 19">
            <a:extLst>
              <a:ext uri="{FF2B5EF4-FFF2-40B4-BE49-F238E27FC236}">
                <a16:creationId xmlns:a16="http://schemas.microsoft.com/office/drawing/2014/main" id="{9CF7B7D8-B063-67B4-77C3-87CA126D791B}"/>
              </a:ext>
            </a:extLst>
          </p:cNvPr>
          <p:cNvPicPr>
            <a:picLocks noChangeAspect="1"/>
          </p:cNvPicPr>
          <p:nvPr/>
        </p:nvPicPr>
        <p:blipFill>
          <a:blip r:embed="rId8"/>
          <a:stretch>
            <a:fillRect/>
          </a:stretch>
        </p:blipFill>
        <p:spPr>
          <a:xfrm>
            <a:off x="5257274" y="4226082"/>
            <a:ext cx="1677448" cy="417189"/>
          </a:xfrm>
          <a:prstGeom prst="rect">
            <a:avLst/>
          </a:prstGeom>
        </p:spPr>
      </p:pic>
    </p:spTree>
    <p:extLst>
      <p:ext uri="{BB962C8B-B14F-4D97-AF65-F5344CB8AC3E}">
        <p14:creationId xmlns:p14="http://schemas.microsoft.com/office/powerpoint/2010/main" val="3916020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integral as the average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F33734B0-9840-1663-77AD-F341AE2CE808}"/>
              </a:ext>
            </a:extLst>
          </p:cNvPr>
          <p:cNvPicPr>
            <a:picLocks noChangeAspect="1"/>
          </p:cNvPicPr>
          <p:nvPr/>
        </p:nvPicPr>
        <p:blipFill>
          <a:blip r:embed="rId3"/>
          <a:stretch>
            <a:fillRect/>
          </a:stretch>
        </p:blipFill>
        <p:spPr>
          <a:xfrm>
            <a:off x="6096000" y="1560533"/>
            <a:ext cx="5384800" cy="1943100"/>
          </a:xfrm>
          <a:prstGeom prst="rect">
            <a:avLst/>
          </a:prstGeom>
        </p:spPr>
      </p:pic>
      <p:pic>
        <p:nvPicPr>
          <p:cNvPr id="7" name="Picture 4">
            <a:extLst>
              <a:ext uri="{FF2B5EF4-FFF2-40B4-BE49-F238E27FC236}">
                <a16:creationId xmlns:a16="http://schemas.microsoft.com/office/drawing/2014/main" id="{08414D85-9050-0BA1-9F4C-DD65471C7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2860" y="1247978"/>
            <a:ext cx="3401479" cy="25682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7A2397B-C937-5CBD-0781-FBDC15900EBA}"/>
              </a:ext>
            </a:extLst>
          </p:cNvPr>
          <p:cNvSpPr txBox="1"/>
          <p:nvPr/>
        </p:nvSpPr>
        <p:spPr>
          <a:xfrm>
            <a:off x="638212" y="4616130"/>
            <a:ext cx="4451860" cy="923330"/>
          </a:xfrm>
          <a:prstGeom prst="rect">
            <a:avLst/>
          </a:prstGeom>
          <a:noFill/>
        </p:spPr>
        <p:txBody>
          <a:bodyPr wrap="none" rtlCol="0">
            <a:spAutoFit/>
          </a:bodyPr>
          <a:lstStyle/>
          <a:p>
            <a:r>
              <a:rPr lang="en-US" b="1" dirty="0"/>
              <a:t>Advantages: </a:t>
            </a:r>
          </a:p>
          <a:p>
            <a:pPr marL="285750" indent="-285750">
              <a:buFont typeface="Arial" panose="020B0604020202020204" pitchFamily="34" charset="0"/>
              <a:buChar char="•"/>
            </a:pPr>
            <a:r>
              <a:rPr lang="en-US" dirty="0"/>
              <a:t>the method works also if </a:t>
            </a:r>
            <a:r>
              <a:rPr lang="en-US" i="1" dirty="0"/>
              <a:t>f</a:t>
            </a:r>
            <a:r>
              <a:rPr lang="en-US" dirty="0"/>
              <a:t>(</a:t>
            </a:r>
            <a:r>
              <a:rPr lang="en-US" i="1" dirty="0"/>
              <a:t>x</a:t>
            </a:r>
            <a:r>
              <a:rPr lang="en-US" dirty="0"/>
              <a:t>) is negative </a:t>
            </a:r>
          </a:p>
          <a:p>
            <a:pPr marL="285750" indent="-285750">
              <a:buFont typeface="Arial" panose="020B0604020202020204" pitchFamily="34" charset="0"/>
              <a:buChar char="•"/>
            </a:pPr>
            <a:r>
              <a:rPr lang="en-US" dirty="0"/>
              <a:t>no need to know its maximum value</a:t>
            </a:r>
          </a:p>
        </p:txBody>
      </p:sp>
    </p:spTree>
    <p:extLst>
      <p:ext uri="{BB962C8B-B14F-4D97-AF65-F5344CB8AC3E}">
        <p14:creationId xmlns:p14="http://schemas.microsoft.com/office/powerpoint/2010/main" val="20582680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Another way to compute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5D3DD80A-1E61-4CED-5994-E1AF185E74C5}"/>
              </a:ext>
            </a:extLst>
          </p:cNvPr>
          <p:cNvPicPr>
            <a:picLocks noChangeAspect="1"/>
          </p:cNvPicPr>
          <p:nvPr/>
        </p:nvPicPr>
        <p:blipFill>
          <a:blip r:embed="rId3"/>
          <a:srcRect l="55728" t="23101"/>
          <a:stretch/>
        </p:blipFill>
        <p:spPr>
          <a:xfrm>
            <a:off x="4375476" y="1344059"/>
            <a:ext cx="3441047" cy="797546"/>
          </a:xfrm>
          <a:prstGeom prst="rect">
            <a:avLst/>
          </a:prstGeom>
        </p:spPr>
      </p:pic>
      <p:sp>
        <p:nvSpPr>
          <p:cNvPr id="6" name="TextBox 5">
            <a:extLst>
              <a:ext uri="{FF2B5EF4-FFF2-40B4-BE49-F238E27FC236}">
                <a16:creationId xmlns:a16="http://schemas.microsoft.com/office/drawing/2014/main" id="{1A44263F-A760-9D28-D16E-74D2BAF219D0}"/>
              </a:ext>
            </a:extLst>
          </p:cNvPr>
          <p:cNvSpPr txBox="1"/>
          <p:nvPr/>
        </p:nvSpPr>
        <p:spPr>
          <a:xfrm>
            <a:off x="638212" y="1120039"/>
            <a:ext cx="2109873" cy="369332"/>
          </a:xfrm>
          <a:prstGeom prst="rect">
            <a:avLst/>
          </a:prstGeom>
          <a:noFill/>
        </p:spPr>
        <p:txBody>
          <a:bodyPr wrap="none" rtlCol="0">
            <a:spAutoFit/>
          </a:bodyPr>
          <a:lstStyle/>
          <a:p>
            <a:r>
              <a:rPr lang="en-US" dirty="0"/>
              <a:t>Consider an integral</a:t>
            </a:r>
          </a:p>
        </p:txBody>
      </p:sp>
    </p:spTree>
    <p:extLst>
      <p:ext uri="{BB962C8B-B14F-4D97-AF65-F5344CB8AC3E}">
        <p14:creationId xmlns:p14="http://schemas.microsoft.com/office/powerpoint/2010/main" val="3487188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Another way to compute pi</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7D2D5D30-39FB-3B6C-9FC3-2E31A3E92F9C}"/>
              </a:ext>
            </a:extLst>
          </p:cNvPr>
          <p:cNvPicPr>
            <a:picLocks noChangeAspect="1"/>
          </p:cNvPicPr>
          <p:nvPr/>
        </p:nvPicPr>
        <p:blipFill>
          <a:blip r:embed="rId3"/>
          <a:srcRect l="55728" t="23101"/>
          <a:stretch/>
        </p:blipFill>
        <p:spPr>
          <a:xfrm>
            <a:off x="4375476" y="1344059"/>
            <a:ext cx="3441047" cy="797546"/>
          </a:xfrm>
          <a:prstGeom prst="rect">
            <a:avLst/>
          </a:prstGeom>
        </p:spPr>
      </p:pic>
      <p:pic>
        <p:nvPicPr>
          <p:cNvPr id="5" name="Picture 4">
            <a:extLst>
              <a:ext uri="{FF2B5EF4-FFF2-40B4-BE49-F238E27FC236}">
                <a16:creationId xmlns:a16="http://schemas.microsoft.com/office/drawing/2014/main" id="{031B54B5-12CB-8C36-E124-AD59084AC778}"/>
              </a:ext>
            </a:extLst>
          </p:cNvPr>
          <p:cNvPicPr>
            <a:picLocks noChangeAspect="1"/>
          </p:cNvPicPr>
          <p:nvPr/>
        </p:nvPicPr>
        <p:blipFill>
          <a:blip r:embed="rId4"/>
          <a:stretch>
            <a:fillRect/>
          </a:stretch>
        </p:blipFill>
        <p:spPr>
          <a:xfrm>
            <a:off x="638212" y="2793838"/>
            <a:ext cx="5740400" cy="2044700"/>
          </a:xfrm>
          <a:prstGeom prst="rect">
            <a:avLst/>
          </a:prstGeom>
        </p:spPr>
      </p:pic>
      <p:sp>
        <p:nvSpPr>
          <p:cNvPr id="6" name="TextBox 5">
            <a:extLst>
              <a:ext uri="{FF2B5EF4-FFF2-40B4-BE49-F238E27FC236}">
                <a16:creationId xmlns:a16="http://schemas.microsoft.com/office/drawing/2014/main" id="{2EF99CE0-3137-6961-D25E-D126B5F43B58}"/>
              </a:ext>
            </a:extLst>
          </p:cNvPr>
          <p:cNvSpPr txBox="1"/>
          <p:nvPr/>
        </p:nvSpPr>
        <p:spPr>
          <a:xfrm>
            <a:off x="638212" y="1120039"/>
            <a:ext cx="2109873" cy="369332"/>
          </a:xfrm>
          <a:prstGeom prst="rect">
            <a:avLst/>
          </a:prstGeom>
          <a:noFill/>
        </p:spPr>
        <p:txBody>
          <a:bodyPr wrap="none" rtlCol="0">
            <a:spAutoFit/>
          </a:bodyPr>
          <a:lstStyle/>
          <a:p>
            <a:r>
              <a:rPr lang="en-US" dirty="0"/>
              <a:t>Consider an integral</a:t>
            </a:r>
          </a:p>
        </p:txBody>
      </p:sp>
    </p:spTree>
    <p:extLst>
      <p:ext uri="{BB962C8B-B14F-4D97-AF65-F5344CB8AC3E}">
        <p14:creationId xmlns:p14="http://schemas.microsoft.com/office/powerpoint/2010/main" val="41293891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multi-dimensional integrals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4A2D353D-D04C-8F69-B842-D63AD67EF270}"/>
              </a:ext>
            </a:extLst>
          </p:cNvPr>
          <p:cNvSpPr txBox="1"/>
          <p:nvPr/>
        </p:nvSpPr>
        <p:spPr>
          <a:xfrm>
            <a:off x="933245" y="1247978"/>
            <a:ext cx="10629833" cy="646331"/>
          </a:xfrm>
          <a:prstGeom prst="rect">
            <a:avLst/>
          </a:prstGeom>
          <a:noFill/>
        </p:spPr>
        <p:txBody>
          <a:bodyPr wrap="none" rtlCol="0">
            <a:spAutoFit/>
          </a:bodyPr>
          <a:lstStyle/>
          <a:p>
            <a:r>
              <a:rPr lang="en-US" dirty="0"/>
              <a:t>Monte Carlo methods really shine when it comes to numerical evaluation of integrals in multiple dimensions.</a:t>
            </a:r>
          </a:p>
          <a:p>
            <a:r>
              <a:rPr lang="en-US" dirty="0"/>
              <a:t>Consider the following D-dimensional integral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DADED0-6A5E-2EF5-980B-70C1C385680F}"/>
                  </a:ext>
                </a:extLst>
              </p:cNvPr>
              <p:cNvSpPr txBox="1"/>
              <p:nvPr/>
            </p:nvSpPr>
            <p:spPr>
              <a:xfrm>
                <a:off x="933245" y="4495121"/>
                <a:ext cx="9631163" cy="703398"/>
              </a:xfrm>
              <a:prstGeom prst="rect">
                <a:avLst/>
              </a:prstGeom>
              <a:noFill/>
            </p:spPr>
            <p:txBody>
              <a:bodyPr wrap="none" rtlCol="0">
                <a:spAutoFit/>
              </a:bodyPr>
              <a:lstStyle/>
              <a:p>
                <a:r>
                  <a:rPr lang="en-US" dirty="0"/>
                  <a:t>The total number of integrand evaluations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𝑡𝑜𝑡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𝑑</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𝐷</m:t>
                            </m:r>
                          </m:sub>
                        </m:s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𝑑</m:t>
                            </m:r>
                          </m:sub>
                        </m:sSub>
                      </m:e>
                    </m:nary>
                  </m:oMath>
                </a14:m>
                <a:r>
                  <a:rPr lang="en-US" dirty="0"/>
                  <a:t>, </a:t>
                </a:r>
              </a:p>
              <a:p>
                <a:r>
                  <a:rPr lang="en-US" dirty="0"/>
                  <a:t>e.g. if we use the same number </a:t>
                </a:r>
                <a:r>
                  <a:rPr lang="en-US" i="1" dirty="0"/>
                  <a:t>N</a:t>
                </a:r>
                <a:r>
                  <a:rPr lang="en-US" dirty="0"/>
                  <a:t> of points in each dimension,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𝑡𝑜𝑡</m:t>
                        </m:r>
                      </m:sub>
                    </m:sSub>
                  </m:oMath>
                </a14:m>
                <a:r>
                  <a:rPr lang="en-US" dirty="0"/>
                  <a:t> scales exponentially with </a:t>
                </a:r>
                <a:r>
                  <a:rPr lang="en-US" i="1" dirty="0"/>
                  <a:t>D</a:t>
                </a:r>
              </a:p>
            </p:txBody>
          </p:sp>
        </mc:Choice>
        <mc:Fallback xmlns="">
          <p:sp>
            <p:nvSpPr>
              <p:cNvPr id="9" name="TextBox 8">
                <a:extLst>
                  <a:ext uri="{FF2B5EF4-FFF2-40B4-BE49-F238E27FC236}">
                    <a16:creationId xmlns:a16="http://schemas.microsoft.com/office/drawing/2014/main" id="{01DADED0-6A5E-2EF5-980B-70C1C385680F}"/>
                  </a:ext>
                </a:extLst>
              </p:cNvPr>
              <p:cNvSpPr txBox="1">
                <a:spLocks noRot="1" noChangeAspect="1" noMove="1" noResize="1" noEditPoints="1" noAdjustHandles="1" noChangeArrowheads="1" noChangeShapeType="1" noTextEdit="1"/>
              </p:cNvSpPr>
              <p:nvPr/>
            </p:nvSpPr>
            <p:spPr>
              <a:xfrm>
                <a:off x="933245" y="4495121"/>
                <a:ext cx="9631163" cy="703398"/>
              </a:xfrm>
              <a:prstGeom prst="rect">
                <a:avLst/>
              </a:prstGeom>
              <a:blipFill>
                <a:blip r:embed="rId3"/>
                <a:stretch>
                  <a:fillRect l="-527" t="-52632" b="-4561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F7768D6-368A-D8EC-7F0B-DCBB502D125E}"/>
              </a:ext>
            </a:extLst>
          </p:cNvPr>
          <p:cNvPicPr>
            <a:picLocks noChangeAspect="1"/>
          </p:cNvPicPr>
          <p:nvPr/>
        </p:nvPicPr>
        <p:blipFill>
          <a:blip r:embed="rId4"/>
          <a:stretch>
            <a:fillRect/>
          </a:stretch>
        </p:blipFill>
        <p:spPr>
          <a:xfrm>
            <a:off x="4586472" y="1977201"/>
            <a:ext cx="3019056" cy="525968"/>
          </a:xfrm>
          <a:prstGeom prst="rect">
            <a:avLst/>
          </a:prstGeom>
        </p:spPr>
      </p:pic>
      <p:sp>
        <p:nvSpPr>
          <p:cNvPr id="11" name="TextBox 10">
            <a:extLst>
              <a:ext uri="{FF2B5EF4-FFF2-40B4-BE49-F238E27FC236}">
                <a16:creationId xmlns:a16="http://schemas.microsoft.com/office/drawing/2014/main" id="{C668033C-27DD-242E-24F7-4711F2975313}"/>
              </a:ext>
            </a:extLst>
          </p:cNvPr>
          <p:cNvSpPr txBox="1"/>
          <p:nvPr/>
        </p:nvSpPr>
        <p:spPr>
          <a:xfrm>
            <a:off x="933245" y="2720314"/>
            <a:ext cx="9366893" cy="646331"/>
          </a:xfrm>
          <a:prstGeom prst="rect">
            <a:avLst/>
          </a:prstGeom>
          <a:noFill/>
        </p:spPr>
        <p:txBody>
          <a:bodyPr wrap="square">
            <a:spAutoFit/>
          </a:bodyPr>
          <a:lstStyle/>
          <a:p>
            <a:r>
              <a:rPr lang="en-US" dirty="0"/>
              <a:t>Computing it numerically using for instance the </a:t>
            </a:r>
            <a:r>
              <a:rPr lang="en-US" i="1" dirty="0"/>
              <a:t>rectangle rule </a:t>
            </a:r>
            <a:r>
              <a:rPr lang="en-US" dirty="0"/>
              <a:t>would involve the evaluation of a multi-dimensional sum</a:t>
            </a:r>
          </a:p>
        </p:txBody>
      </p:sp>
      <p:pic>
        <p:nvPicPr>
          <p:cNvPr id="12" name="Picture 11">
            <a:extLst>
              <a:ext uri="{FF2B5EF4-FFF2-40B4-BE49-F238E27FC236}">
                <a16:creationId xmlns:a16="http://schemas.microsoft.com/office/drawing/2014/main" id="{9C1776D3-D000-0A1D-6C9C-79BACF25D7B9}"/>
              </a:ext>
            </a:extLst>
          </p:cNvPr>
          <p:cNvPicPr>
            <a:picLocks noChangeAspect="1"/>
          </p:cNvPicPr>
          <p:nvPr/>
        </p:nvPicPr>
        <p:blipFill>
          <a:blip r:embed="rId5"/>
          <a:stretch>
            <a:fillRect/>
          </a:stretch>
        </p:blipFill>
        <p:spPr>
          <a:xfrm>
            <a:off x="4740494" y="3399158"/>
            <a:ext cx="2711012" cy="546175"/>
          </a:xfrm>
          <a:prstGeom prst="rect">
            <a:avLst/>
          </a:prstGeom>
        </p:spPr>
      </p:pic>
      <p:sp>
        <p:nvSpPr>
          <p:cNvPr id="13" name="TextBox 12">
            <a:extLst>
              <a:ext uri="{FF2B5EF4-FFF2-40B4-BE49-F238E27FC236}">
                <a16:creationId xmlns:a16="http://schemas.microsoft.com/office/drawing/2014/main" id="{8F71857D-4125-B7BF-8F94-F490A6F961DF}"/>
              </a:ext>
            </a:extLst>
          </p:cNvPr>
          <p:cNvSpPr txBox="1"/>
          <p:nvPr/>
        </p:nvSpPr>
        <p:spPr>
          <a:xfrm>
            <a:off x="933245" y="4007984"/>
            <a:ext cx="744114" cy="369332"/>
          </a:xfrm>
          <a:prstGeom prst="rect">
            <a:avLst/>
          </a:prstGeom>
          <a:noFill/>
        </p:spPr>
        <p:txBody>
          <a:bodyPr wrap="none" rtlCol="0">
            <a:spAutoFit/>
          </a:bodyPr>
          <a:lstStyle/>
          <a:p>
            <a:r>
              <a:rPr lang="en-US" dirty="0"/>
              <a:t>where</a:t>
            </a:r>
          </a:p>
        </p:txBody>
      </p:sp>
      <p:pic>
        <p:nvPicPr>
          <p:cNvPr id="14" name="Picture 13">
            <a:extLst>
              <a:ext uri="{FF2B5EF4-FFF2-40B4-BE49-F238E27FC236}">
                <a16:creationId xmlns:a16="http://schemas.microsoft.com/office/drawing/2014/main" id="{79D2D1B9-544F-22B0-0310-FAB8D5C0D141}"/>
              </a:ext>
            </a:extLst>
          </p:cNvPr>
          <p:cNvPicPr>
            <a:picLocks noChangeAspect="1"/>
          </p:cNvPicPr>
          <p:nvPr/>
        </p:nvPicPr>
        <p:blipFill>
          <a:blip r:embed="rId6"/>
          <a:stretch>
            <a:fillRect/>
          </a:stretch>
        </p:blipFill>
        <p:spPr>
          <a:xfrm>
            <a:off x="1677359" y="4063138"/>
            <a:ext cx="4279900" cy="304800"/>
          </a:xfrm>
          <a:prstGeom prst="rect">
            <a:avLst/>
          </a:prstGeom>
        </p:spPr>
      </p:pic>
      <p:pic>
        <p:nvPicPr>
          <p:cNvPr id="15" name="Picture 14">
            <a:extLst>
              <a:ext uri="{FF2B5EF4-FFF2-40B4-BE49-F238E27FC236}">
                <a16:creationId xmlns:a16="http://schemas.microsoft.com/office/drawing/2014/main" id="{1F76C495-18E0-6B38-CB7C-51BCE8001604}"/>
              </a:ext>
            </a:extLst>
          </p:cNvPr>
          <p:cNvPicPr>
            <a:picLocks noChangeAspect="1"/>
          </p:cNvPicPr>
          <p:nvPr/>
        </p:nvPicPr>
        <p:blipFill>
          <a:blip r:embed="rId7"/>
          <a:stretch>
            <a:fillRect/>
          </a:stretch>
        </p:blipFill>
        <p:spPr>
          <a:xfrm>
            <a:off x="5423859" y="5201147"/>
            <a:ext cx="1066800" cy="419100"/>
          </a:xfrm>
          <a:prstGeom prst="rect">
            <a:avLst/>
          </a:prstGeom>
        </p:spPr>
      </p:pic>
      <p:sp>
        <p:nvSpPr>
          <p:cNvPr id="16" name="TextBox 15">
            <a:extLst>
              <a:ext uri="{FF2B5EF4-FFF2-40B4-BE49-F238E27FC236}">
                <a16:creationId xmlns:a16="http://schemas.microsoft.com/office/drawing/2014/main" id="{B396E68F-80CF-382F-ADD9-030512C24450}"/>
              </a:ext>
            </a:extLst>
          </p:cNvPr>
          <p:cNvSpPr txBox="1"/>
          <p:nvPr/>
        </p:nvSpPr>
        <p:spPr>
          <a:xfrm>
            <a:off x="4794201" y="5650926"/>
            <a:ext cx="2603598" cy="369332"/>
          </a:xfrm>
          <a:prstGeom prst="rect">
            <a:avLst/>
          </a:prstGeom>
          <a:noFill/>
        </p:spPr>
        <p:txBody>
          <a:bodyPr wrap="none" rtlCol="0">
            <a:spAutoFit/>
          </a:bodyPr>
          <a:lstStyle/>
          <a:p>
            <a:r>
              <a:rPr lang="en-US" b="1" i="1" dirty="0">
                <a:solidFill>
                  <a:srgbClr val="FF0000"/>
                </a:solidFill>
              </a:rPr>
              <a:t>curse of dimensionality</a:t>
            </a:r>
          </a:p>
        </p:txBody>
      </p:sp>
    </p:spTree>
    <p:extLst>
      <p:ext uri="{BB962C8B-B14F-4D97-AF65-F5344CB8AC3E}">
        <p14:creationId xmlns:p14="http://schemas.microsoft.com/office/powerpoint/2010/main" val="2781490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multi-dimensional integrals: Monte Carlo</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17" name="TextBox 16">
            <a:extLst>
              <a:ext uri="{FF2B5EF4-FFF2-40B4-BE49-F238E27FC236}">
                <a16:creationId xmlns:a16="http://schemas.microsoft.com/office/drawing/2014/main" id="{91F8DDE7-AA20-53D9-E69A-03D0397B6DA3}"/>
              </a:ext>
            </a:extLst>
          </p:cNvPr>
          <p:cNvSpPr txBox="1"/>
          <p:nvPr/>
        </p:nvSpPr>
        <p:spPr>
          <a:xfrm>
            <a:off x="714703" y="1165841"/>
            <a:ext cx="2775119" cy="369332"/>
          </a:xfrm>
          <a:prstGeom prst="rect">
            <a:avLst/>
          </a:prstGeom>
          <a:noFill/>
        </p:spPr>
        <p:txBody>
          <a:bodyPr wrap="none" rtlCol="0">
            <a:spAutoFit/>
          </a:bodyPr>
          <a:lstStyle/>
          <a:p>
            <a:r>
              <a:rPr lang="en-US" dirty="0"/>
              <a:t>Similar to 1D case, replace</a:t>
            </a:r>
          </a:p>
        </p:txBody>
      </p:sp>
      <p:sp>
        <p:nvSpPr>
          <p:cNvPr id="19" name="TextBox 18">
            <a:extLst>
              <a:ext uri="{FF2B5EF4-FFF2-40B4-BE49-F238E27FC236}">
                <a16:creationId xmlns:a16="http://schemas.microsoft.com/office/drawing/2014/main" id="{98246061-3AE5-0950-BDB0-BFDDCAB57C46}"/>
              </a:ext>
            </a:extLst>
          </p:cNvPr>
          <p:cNvSpPr txBox="1"/>
          <p:nvPr/>
        </p:nvSpPr>
        <p:spPr>
          <a:xfrm>
            <a:off x="714702" y="3446856"/>
            <a:ext cx="9262472" cy="369332"/>
          </a:xfrm>
          <a:prstGeom prst="rect">
            <a:avLst/>
          </a:prstGeom>
          <a:noFill/>
        </p:spPr>
        <p:txBody>
          <a:bodyPr wrap="none" rtlCol="0">
            <a:spAutoFit/>
          </a:bodyPr>
          <a:lstStyle/>
          <a:p>
            <a:r>
              <a:rPr lang="en-US" dirty="0"/>
              <a:t>Here x</a:t>
            </a:r>
            <a:r>
              <a:rPr lang="en-US" baseline="-25000" dirty="0"/>
              <a:t>1</a:t>
            </a:r>
            <a:r>
              <a:rPr lang="en-US" dirty="0"/>
              <a:t>,…,</a:t>
            </a:r>
            <a:r>
              <a:rPr lang="en-US" dirty="0" err="1"/>
              <a:t>x</a:t>
            </a:r>
            <a:r>
              <a:rPr lang="en-US" baseline="-25000" dirty="0" err="1"/>
              <a:t>D</a:t>
            </a:r>
            <a:r>
              <a:rPr lang="en-US" dirty="0"/>
              <a:t> are independent random variables distributed uniformly in intervals </a:t>
            </a:r>
            <a:r>
              <a:rPr lang="en-US" dirty="0" err="1"/>
              <a:t>x</a:t>
            </a:r>
            <a:r>
              <a:rPr lang="en-US" baseline="-25000" dirty="0" err="1"/>
              <a:t>k</a:t>
            </a:r>
            <a:r>
              <a:rPr lang="en-US" dirty="0"/>
              <a:t> in [</a:t>
            </a:r>
            <a:r>
              <a:rPr lang="en-US" dirty="0" err="1"/>
              <a:t>a</a:t>
            </a:r>
            <a:r>
              <a:rPr lang="en-US" baseline="-25000" dirty="0" err="1"/>
              <a:t>k</a:t>
            </a:r>
            <a:r>
              <a:rPr lang="en-US" dirty="0" err="1"/>
              <a:t>,b</a:t>
            </a:r>
            <a:r>
              <a:rPr lang="en-US" baseline="-25000" dirty="0" err="1"/>
              <a:t>k</a:t>
            </a:r>
            <a:r>
              <a:rPr lang="en-US" dirty="0"/>
              <a:t>].</a:t>
            </a:r>
          </a:p>
        </p:txBody>
      </p:sp>
      <p:pic>
        <p:nvPicPr>
          <p:cNvPr id="3" name="Picture 2">
            <a:extLst>
              <a:ext uri="{FF2B5EF4-FFF2-40B4-BE49-F238E27FC236}">
                <a16:creationId xmlns:a16="http://schemas.microsoft.com/office/drawing/2014/main" id="{B5900D98-EA18-A4CB-1ACC-52EAE1ADC9AE}"/>
              </a:ext>
            </a:extLst>
          </p:cNvPr>
          <p:cNvPicPr>
            <a:picLocks noChangeAspect="1"/>
          </p:cNvPicPr>
          <p:nvPr/>
        </p:nvPicPr>
        <p:blipFill>
          <a:blip r:embed="rId3"/>
          <a:stretch>
            <a:fillRect/>
          </a:stretch>
        </p:blipFill>
        <p:spPr>
          <a:xfrm>
            <a:off x="4469008" y="1581124"/>
            <a:ext cx="3253983" cy="566896"/>
          </a:xfrm>
          <a:prstGeom prst="rect">
            <a:avLst/>
          </a:prstGeom>
        </p:spPr>
      </p:pic>
      <p:sp>
        <p:nvSpPr>
          <p:cNvPr id="5" name="TextBox 4">
            <a:extLst>
              <a:ext uri="{FF2B5EF4-FFF2-40B4-BE49-F238E27FC236}">
                <a16:creationId xmlns:a16="http://schemas.microsoft.com/office/drawing/2014/main" id="{BC5638A5-A0C0-F426-9EB6-3D98DEBEC7B2}"/>
              </a:ext>
            </a:extLst>
          </p:cNvPr>
          <p:cNvSpPr txBox="1"/>
          <p:nvPr/>
        </p:nvSpPr>
        <p:spPr>
          <a:xfrm>
            <a:off x="714702" y="2200240"/>
            <a:ext cx="1382110" cy="369332"/>
          </a:xfrm>
          <a:prstGeom prst="rect">
            <a:avLst/>
          </a:prstGeom>
          <a:noFill/>
        </p:spPr>
        <p:txBody>
          <a:bodyPr wrap="none" rtlCol="0">
            <a:spAutoFit/>
          </a:bodyPr>
          <a:lstStyle/>
          <a:p>
            <a:r>
              <a:rPr lang="en-US" dirty="0"/>
              <a:t>by the mean</a:t>
            </a:r>
          </a:p>
        </p:txBody>
      </p:sp>
      <p:pic>
        <p:nvPicPr>
          <p:cNvPr id="8" name="Picture 7">
            <a:extLst>
              <a:ext uri="{FF2B5EF4-FFF2-40B4-BE49-F238E27FC236}">
                <a16:creationId xmlns:a16="http://schemas.microsoft.com/office/drawing/2014/main" id="{30BA0657-3903-A462-A32F-1815FADB6EEA}"/>
              </a:ext>
            </a:extLst>
          </p:cNvPr>
          <p:cNvPicPr>
            <a:picLocks noChangeAspect="1"/>
          </p:cNvPicPr>
          <p:nvPr/>
        </p:nvPicPr>
        <p:blipFill>
          <a:blip r:embed="rId4"/>
          <a:stretch>
            <a:fillRect/>
          </a:stretch>
        </p:blipFill>
        <p:spPr>
          <a:xfrm>
            <a:off x="4552949" y="2564722"/>
            <a:ext cx="3086100" cy="711200"/>
          </a:xfrm>
          <a:prstGeom prst="rect">
            <a:avLst/>
          </a:prstGeom>
        </p:spPr>
      </p:pic>
      <p:sp>
        <p:nvSpPr>
          <p:cNvPr id="12" name="TextBox 11">
            <a:extLst>
              <a:ext uri="{FF2B5EF4-FFF2-40B4-BE49-F238E27FC236}">
                <a16:creationId xmlns:a16="http://schemas.microsoft.com/office/drawing/2014/main" id="{CF2E0C77-3E99-1A57-FA63-4DA581E779E4}"/>
              </a:ext>
            </a:extLst>
          </p:cNvPr>
          <p:cNvSpPr txBox="1"/>
          <p:nvPr/>
        </p:nvSpPr>
        <p:spPr>
          <a:xfrm>
            <a:off x="714702" y="4793636"/>
            <a:ext cx="10310650" cy="369332"/>
          </a:xfrm>
          <a:prstGeom prst="rect">
            <a:avLst/>
          </a:prstGeom>
          <a:noFill/>
        </p:spPr>
        <p:txBody>
          <a:bodyPr wrap="square">
            <a:spAutoFit/>
          </a:bodyPr>
          <a:lstStyle/>
          <a:p>
            <a:r>
              <a:rPr lang="en-US" dirty="0"/>
              <a:t>Increasing the number of dimensions by one: sample one more number each iteration.</a:t>
            </a:r>
          </a:p>
        </p:txBody>
      </p:sp>
      <p:sp>
        <p:nvSpPr>
          <p:cNvPr id="13" name="TextBox 12">
            <a:extLst>
              <a:ext uri="{FF2B5EF4-FFF2-40B4-BE49-F238E27FC236}">
                <a16:creationId xmlns:a16="http://schemas.microsoft.com/office/drawing/2014/main" id="{9343EABB-2599-5CC1-154E-D8B8B29A8A9B}"/>
              </a:ext>
            </a:extLst>
          </p:cNvPr>
          <p:cNvSpPr txBox="1"/>
          <p:nvPr/>
        </p:nvSpPr>
        <p:spPr>
          <a:xfrm>
            <a:off x="721385" y="4080352"/>
            <a:ext cx="1622560" cy="369332"/>
          </a:xfrm>
          <a:prstGeom prst="rect">
            <a:avLst/>
          </a:prstGeom>
          <a:noFill/>
        </p:spPr>
        <p:txBody>
          <a:bodyPr wrap="none" rtlCol="0">
            <a:spAutoFit/>
          </a:bodyPr>
          <a:lstStyle/>
          <a:p>
            <a:r>
              <a:rPr lang="en-US" dirty="0"/>
              <a:t>Error estimate:</a:t>
            </a:r>
          </a:p>
        </p:txBody>
      </p:sp>
      <p:pic>
        <p:nvPicPr>
          <p:cNvPr id="14" name="Picture 13">
            <a:extLst>
              <a:ext uri="{FF2B5EF4-FFF2-40B4-BE49-F238E27FC236}">
                <a16:creationId xmlns:a16="http://schemas.microsoft.com/office/drawing/2014/main" id="{1E11EE91-84B6-54B7-828A-7BF25B1A6F74}"/>
              </a:ext>
            </a:extLst>
          </p:cNvPr>
          <p:cNvPicPr>
            <a:picLocks noChangeAspect="1"/>
          </p:cNvPicPr>
          <p:nvPr/>
        </p:nvPicPr>
        <p:blipFill>
          <a:blip r:embed="rId5"/>
          <a:stretch>
            <a:fillRect/>
          </a:stretch>
        </p:blipFill>
        <p:spPr>
          <a:xfrm>
            <a:off x="4538497" y="3929592"/>
            <a:ext cx="2775791" cy="763880"/>
          </a:xfrm>
          <a:prstGeom prst="rect">
            <a:avLst/>
          </a:prstGeom>
        </p:spPr>
      </p:pic>
      <p:sp>
        <p:nvSpPr>
          <p:cNvPr id="15" name="Down Arrow 14">
            <a:extLst>
              <a:ext uri="{FF2B5EF4-FFF2-40B4-BE49-F238E27FC236}">
                <a16:creationId xmlns:a16="http://schemas.microsoft.com/office/drawing/2014/main" id="{8ABB96CB-D04C-9F62-0DB5-8CA44B7BC314}"/>
              </a:ext>
            </a:extLst>
          </p:cNvPr>
          <p:cNvSpPr/>
          <p:nvPr/>
        </p:nvSpPr>
        <p:spPr>
          <a:xfrm>
            <a:off x="5875284" y="5307724"/>
            <a:ext cx="325820" cy="4688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E9EFF55-C939-C7A2-4CD2-41FE00F99148}"/>
              </a:ext>
            </a:extLst>
          </p:cNvPr>
          <p:cNvSpPr txBox="1"/>
          <p:nvPr/>
        </p:nvSpPr>
        <p:spPr>
          <a:xfrm>
            <a:off x="4945685" y="5921326"/>
            <a:ext cx="2517036" cy="369332"/>
          </a:xfrm>
          <a:prstGeom prst="rect">
            <a:avLst/>
          </a:prstGeom>
          <a:noFill/>
        </p:spPr>
        <p:txBody>
          <a:bodyPr wrap="none" rtlCol="0">
            <a:spAutoFit/>
          </a:bodyPr>
          <a:lstStyle/>
          <a:p>
            <a:r>
              <a:rPr lang="en-US" b="1" dirty="0">
                <a:solidFill>
                  <a:srgbClr val="00B050"/>
                </a:solidFill>
              </a:rPr>
              <a:t>linear complexity in D</a:t>
            </a:r>
          </a:p>
        </p:txBody>
      </p:sp>
    </p:spTree>
    <p:extLst>
      <p:ext uri="{BB962C8B-B14F-4D97-AF65-F5344CB8AC3E}">
        <p14:creationId xmlns:p14="http://schemas.microsoft.com/office/powerpoint/2010/main" val="2994873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multi-dimensional integrals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4A2D353D-D04C-8F69-B842-D63AD67EF270}"/>
              </a:ext>
            </a:extLst>
          </p:cNvPr>
          <p:cNvSpPr txBox="1"/>
          <p:nvPr/>
        </p:nvSpPr>
        <p:spPr>
          <a:xfrm>
            <a:off x="933245" y="1247978"/>
            <a:ext cx="10629833" cy="646331"/>
          </a:xfrm>
          <a:prstGeom prst="rect">
            <a:avLst/>
          </a:prstGeom>
          <a:noFill/>
        </p:spPr>
        <p:txBody>
          <a:bodyPr wrap="none" rtlCol="0">
            <a:spAutoFit/>
          </a:bodyPr>
          <a:lstStyle/>
          <a:p>
            <a:r>
              <a:rPr lang="en-US" dirty="0"/>
              <a:t>Monte Carlo methods really shine when it comes to numerical evaluation of integrals in multiple dimensions.</a:t>
            </a:r>
          </a:p>
          <a:p>
            <a:r>
              <a:rPr lang="en-US" dirty="0"/>
              <a:t>Consider the following D-dimensional integral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DADED0-6A5E-2EF5-980B-70C1C385680F}"/>
                  </a:ext>
                </a:extLst>
              </p:cNvPr>
              <p:cNvSpPr txBox="1"/>
              <p:nvPr/>
            </p:nvSpPr>
            <p:spPr>
              <a:xfrm>
                <a:off x="933245" y="4495121"/>
                <a:ext cx="9631163" cy="703398"/>
              </a:xfrm>
              <a:prstGeom prst="rect">
                <a:avLst/>
              </a:prstGeom>
              <a:noFill/>
            </p:spPr>
            <p:txBody>
              <a:bodyPr wrap="none" rtlCol="0">
                <a:spAutoFit/>
              </a:bodyPr>
              <a:lstStyle/>
              <a:p>
                <a:r>
                  <a:rPr lang="en-US" dirty="0"/>
                  <a:t>The total number of integrand evaluations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𝑡𝑜𝑡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𝑑</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𝐷</m:t>
                            </m:r>
                          </m:sub>
                        </m:s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𝑑</m:t>
                            </m:r>
                          </m:sub>
                        </m:sSub>
                      </m:e>
                    </m:nary>
                  </m:oMath>
                </a14:m>
                <a:r>
                  <a:rPr lang="en-US" dirty="0"/>
                  <a:t>, </a:t>
                </a:r>
              </a:p>
              <a:p>
                <a:r>
                  <a:rPr lang="en-US" dirty="0"/>
                  <a:t>e.g. if we use the same number </a:t>
                </a:r>
                <a:r>
                  <a:rPr lang="en-US" i="1" dirty="0"/>
                  <a:t>N</a:t>
                </a:r>
                <a:r>
                  <a:rPr lang="en-US" dirty="0"/>
                  <a:t> of points in each dimension,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𝑡𝑜𝑡</m:t>
                        </m:r>
                      </m:sub>
                    </m:sSub>
                  </m:oMath>
                </a14:m>
                <a:r>
                  <a:rPr lang="en-US" dirty="0"/>
                  <a:t> scales exponentially with </a:t>
                </a:r>
                <a:r>
                  <a:rPr lang="en-US" i="1" dirty="0"/>
                  <a:t>D</a:t>
                </a:r>
              </a:p>
            </p:txBody>
          </p:sp>
        </mc:Choice>
        <mc:Fallback xmlns="">
          <p:sp>
            <p:nvSpPr>
              <p:cNvPr id="9" name="TextBox 8">
                <a:extLst>
                  <a:ext uri="{FF2B5EF4-FFF2-40B4-BE49-F238E27FC236}">
                    <a16:creationId xmlns:a16="http://schemas.microsoft.com/office/drawing/2014/main" id="{01DADED0-6A5E-2EF5-980B-70C1C385680F}"/>
                  </a:ext>
                </a:extLst>
              </p:cNvPr>
              <p:cNvSpPr txBox="1">
                <a:spLocks noRot="1" noChangeAspect="1" noMove="1" noResize="1" noEditPoints="1" noAdjustHandles="1" noChangeArrowheads="1" noChangeShapeType="1" noTextEdit="1"/>
              </p:cNvSpPr>
              <p:nvPr/>
            </p:nvSpPr>
            <p:spPr>
              <a:xfrm>
                <a:off x="933245" y="4495121"/>
                <a:ext cx="9631163" cy="703398"/>
              </a:xfrm>
              <a:prstGeom prst="rect">
                <a:avLst/>
              </a:prstGeom>
              <a:blipFill>
                <a:blip r:embed="rId3"/>
                <a:stretch>
                  <a:fillRect l="-527" t="-52632" b="-4561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F7768D6-368A-D8EC-7F0B-DCBB502D125E}"/>
              </a:ext>
            </a:extLst>
          </p:cNvPr>
          <p:cNvPicPr>
            <a:picLocks noChangeAspect="1"/>
          </p:cNvPicPr>
          <p:nvPr/>
        </p:nvPicPr>
        <p:blipFill>
          <a:blip r:embed="rId4"/>
          <a:stretch>
            <a:fillRect/>
          </a:stretch>
        </p:blipFill>
        <p:spPr>
          <a:xfrm>
            <a:off x="4586472" y="1977201"/>
            <a:ext cx="3019056" cy="525968"/>
          </a:xfrm>
          <a:prstGeom prst="rect">
            <a:avLst/>
          </a:prstGeom>
        </p:spPr>
      </p:pic>
      <p:sp>
        <p:nvSpPr>
          <p:cNvPr id="11" name="TextBox 10">
            <a:extLst>
              <a:ext uri="{FF2B5EF4-FFF2-40B4-BE49-F238E27FC236}">
                <a16:creationId xmlns:a16="http://schemas.microsoft.com/office/drawing/2014/main" id="{C668033C-27DD-242E-24F7-4711F2975313}"/>
              </a:ext>
            </a:extLst>
          </p:cNvPr>
          <p:cNvSpPr txBox="1"/>
          <p:nvPr/>
        </p:nvSpPr>
        <p:spPr>
          <a:xfrm>
            <a:off x="933245" y="2720314"/>
            <a:ext cx="9366893" cy="646331"/>
          </a:xfrm>
          <a:prstGeom prst="rect">
            <a:avLst/>
          </a:prstGeom>
          <a:noFill/>
        </p:spPr>
        <p:txBody>
          <a:bodyPr wrap="square">
            <a:spAutoFit/>
          </a:bodyPr>
          <a:lstStyle/>
          <a:p>
            <a:r>
              <a:rPr lang="en-US" dirty="0"/>
              <a:t>Computing it numerically using for instance the </a:t>
            </a:r>
            <a:r>
              <a:rPr lang="en-US" i="1" dirty="0"/>
              <a:t>rectangle rule </a:t>
            </a:r>
            <a:r>
              <a:rPr lang="en-US" dirty="0"/>
              <a:t>would involve the evaluation of a multi-dimensional sum</a:t>
            </a:r>
          </a:p>
        </p:txBody>
      </p:sp>
      <p:pic>
        <p:nvPicPr>
          <p:cNvPr id="12" name="Picture 11">
            <a:extLst>
              <a:ext uri="{FF2B5EF4-FFF2-40B4-BE49-F238E27FC236}">
                <a16:creationId xmlns:a16="http://schemas.microsoft.com/office/drawing/2014/main" id="{9C1776D3-D000-0A1D-6C9C-79BACF25D7B9}"/>
              </a:ext>
            </a:extLst>
          </p:cNvPr>
          <p:cNvPicPr>
            <a:picLocks noChangeAspect="1"/>
          </p:cNvPicPr>
          <p:nvPr/>
        </p:nvPicPr>
        <p:blipFill>
          <a:blip r:embed="rId5"/>
          <a:stretch>
            <a:fillRect/>
          </a:stretch>
        </p:blipFill>
        <p:spPr>
          <a:xfrm>
            <a:off x="4740494" y="3399158"/>
            <a:ext cx="2711012" cy="546175"/>
          </a:xfrm>
          <a:prstGeom prst="rect">
            <a:avLst/>
          </a:prstGeom>
        </p:spPr>
      </p:pic>
      <p:sp>
        <p:nvSpPr>
          <p:cNvPr id="13" name="TextBox 12">
            <a:extLst>
              <a:ext uri="{FF2B5EF4-FFF2-40B4-BE49-F238E27FC236}">
                <a16:creationId xmlns:a16="http://schemas.microsoft.com/office/drawing/2014/main" id="{8F71857D-4125-B7BF-8F94-F490A6F961DF}"/>
              </a:ext>
            </a:extLst>
          </p:cNvPr>
          <p:cNvSpPr txBox="1"/>
          <p:nvPr/>
        </p:nvSpPr>
        <p:spPr>
          <a:xfrm>
            <a:off x="933245" y="4007984"/>
            <a:ext cx="744114" cy="369332"/>
          </a:xfrm>
          <a:prstGeom prst="rect">
            <a:avLst/>
          </a:prstGeom>
          <a:noFill/>
        </p:spPr>
        <p:txBody>
          <a:bodyPr wrap="none" rtlCol="0">
            <a:spAutoFit/>
          </a:bodyPr>
          <a:lstStyle/>
          <a:p>
            <a:r>
              <a:rPr lang="en-US" dirty="0"/>
              <a:t>where</a:t>
            </a:r>
          </a:p>
        </p:txBody>
      </p:sp>
      <p:pic>
        <p:nvPicPr>
          <p:cNvPr id="14" name="Picture 13">
            <a:extLst>
              <a:ext uri="{FF2B5EF4-FFF2-40B4-BE49-F238E27FC236}">
                <a16:creationId xmlns:a16="http://schemas.microsoft.com/office/drawing/2014/main" id="{79D2D1B9-544F-22B0-0310-FAB8D5C0D141}"/>
              </a:ext>
            </a:extLst>
          </p:cNvPr>
          <p:cNvPicPr>
            <a:picLocks noChangeAspect="1"/>
          </p:cNvPicPr>
          <p:nvPr/>
        </p:nvPicPr>
        <p:blipFill>
          <a:blip r:embed="rId6"/>
          <a:stretch>
            <a:fillRect/>
          </a:stretch>
        </p:blipFill>
        <p:spPr>
          <a:xfrm>
            <a:off x="1677359" y="4063138"/>
            <a:ext cx="4279900" cy="304800"/>
          </a:xfrm>
          <a:prstGeom prst="rect">
            <a:avLst/>
          </a:prstGeom>
        </p:spPr>
      </p:pic>
      <p:pic>
        <p:nvPicPr>
          <p:cNvPr id="15" name="Picture 14">
            <a:extLst>
              <a:ext uri="{FF2B5EF4-FFF2-40B4-BE49-F238E27FC236}">
                <a16:creationId xmlns:a16="http://schemas.microsoft.com/office/drawing/2014/main" id="{1F76C495-18E0-6B38-CB7C-51BCE8001604}"/>
              </a:ext>
            </a:extLst>
          </p:cNvPr>
          <p:cNvPicPr>
            <a:picLocks noChangeAspect="1"/>
          </p:cNvPicPr>
          <p:nvPr/>
        </p:nvPicPr>
        <p:blipFill>
          <a:blip r:embed="rId7"/>
          <a:stretch>
            <a:fillRect/>
          </a:stretch>
        </p:blipFill>
        <p:spPr>
          <a:xfrm>
            <a:off x="5423859" y="5201147"/>
            <a:ext cx="1066800" cy="419100"/>
          </a:xfrm>
          <a:prstGeom prst="rect">
            <a:avLst/>
          </a:prstGeom>
        </p:spPr>
      </p:pic>
      <p:sp>
        <p:nvSpPr>
          <p:cNvPr id="16" name="TextBox 15">
            <a:extLst>
              <a:ext uri="{FF2B5EF4-FFF2-40B4-BE49-F238E27FC236}">
                <a16:creationId xmlns:a16="http://schemas.microsoft.com/office/drawing/2014/main" id="{B396E68F-80CF-382F-ADD9-030512C24450}"/>
              </a:ext>
            </a:extLst>
          </p:cNvPr>
          <p:cNvSpPr txBox="1"/>
          <p:nvPr/>
        </p:nvSpPr>
        <p:spPr>
          <a:xfrm>
            <a:off x="4794201" y="5650926"/>
            <a:ext cx="2603598" cy="369332"/>
          </a:xfrm>
          <a:prstGeom prst="rect">
            <a:avLst/>
          </a:prstGeom>
          <a:noFill/>
        </p:spPr>
        <p:txBody>
          <a:bodyPr wrap="none" rtlCol="0">
            <a:spAutoFit/>
          </a:bodyPr>
          <a:lstStyle/>
          <a:p>
            <a:r>
              <a:rPr lang="en-US" b="1" i="1" dirty="0">
                <a:solidFill>
                  <a:srgbClr val="FF0000"/>
                </a:solidFill>
              </a:rPr>
              <a:t>curse of dimensionality</a:t>
            </a:r>
          </a:p>
        </p:txBody>
      </p:sp>
    </p:spTree>
    <p:extLst>
      <p:ext uri="{BB962C8B-B14F-4D97-AF65-F5344CB8AC3E}">
        <p14:creationId xmlns:p14="http://schemas.microsoft.com/office/powerpoint/2010/main" val="21826022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Computing multi-dimensional integrals: Monte Carlo</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17" name="TextBox 16">
            <a:extLst>
              <a:ext uri="{FF2B5EF4-FFF2-40B4-BE49-F238E27FC236}">
                <a16:creationId xmlns:a16="http://schemas.microsoft.com/office/drawing/2014/main" id="{91F8DDE7-AA20-53D9-E69A-03D0397B6DA3}"/>
              </a:ext>
            </a:extLst>
          </p:cNvPr>
          <p:cNvSpPr txBox="1"/>
          <p:nvPr/>
        </p:nvSpPr>
        <p:spPr>
          <a:xfrm>
            <a:off x="714703" y="1165841"/>
            <a:ext cx="2775119" cy="369332"/>
          </a:xfrm>
          <a:prstGeom prst="rect">
            <a:avLst/>
          </a:prstGeom>
          <a:noFill/>
        </p:spPr>
        <p:txBody>
          <a:bodyPr wrap="none" rtlCol="0">
            <a:spAutoFit/>
          </a:bodyPr>
          <a:lstStyle/>
          <a:p>
            <a:r>
              <a:rPr lang="en-US" dirty="0"/>
              <a:t>Similar to 1D case, replace</a:t>
            </a:r>
          </a:p>
        </p:txBody>
      </p:sp>
      <p:sp>
        <p:nvSpPr>
          <p:cNvPr id="19" name="TextBox 18">
            <a:extLst>
              <a:ext uri="{FF2B5EF4-FFF2-40B4-BE49-F238E27FC236}">
                <a16:creationId xmlns:a16="http://schemas.microsoft.com/office/drawing/2014/main" id="{98246061-3AE5-0950-BDB0-BFDDCAB57C46}"/>
              </a:ext>
            </a:extLst>
          </p:cNvPr>
          <p:cNvSpPr txBox="1"/>
          <p:nvPr/>
        </p:nvSpPr>
        <p:spPr>
          <a:xfrm>
            <a:off x="714702" y="3446856"/>
            <a:ext cx="9262472" cy="369332"/>
          </a:xfrm>
          <a:prstGeom prst="rect">
            <a:avLst/>
          </a:prstGeom>
          <a:noFill/>
        </p:spPr>
        <p:txBody>
          <a:bodyPr wrap="none" rtlCol="0">
            <a:spAutoFit/>
          </a:bodyPr>
          <a:lstStyle/>
          <a:p>
            <a:r>
              <a:rPr lang="en-US" dirty="0"/>
              <a:t>Here x</a:t>
            </a:r>
            <a:r>
              <a:rPr lang="en-US" baseline="-25000" dirty="0"/>
              <a:t>1</a:t>
            </a:r>
            <a:r>
              <a:rPr lang="en-US" dirty="0"/>
              <a:t>,…,</a:t>
            </a:r>
            <a:r>
              <a:rPr lang="en-US" dirty="0" err="1"/>
              <a:t>x</a:t>
            </a:r>
            <a:r>
              <a:rPr lang="en-US" baseline="-25000" dirty="0" err="1"/>
              <a:t>D</a:t>
            </a:r>
            <a:r>
              <a:rPr lang="en-US" dirty="0"/>
              <a:t> are independent random variables distributed uniformly in intervals </a:t>
            </a:r>
            <a:r>
              <a:rPr lang="en-US" dirty="0" err="1"/>
              <a:t>x</a:t>
            </a:r>
            <a:r>
              <a:rPr lang="en-US" baseline="-25000" dirty="0" err="1"/>
              <a:t>k</a:t>
            </a:r>
            <a:r>
              <a:rPr lang="en-US" dirty="0"/>
              <a:t> in [</a:t>
            </a:r>
            <a:r>
              <a:rPr lang="en-US" dirty="0" err="1"/>
              <a:t>a</a:t>
            </a:r>
            <a:r>
              <a:rPr lang="en-US" baseline="-25000" dirty="0" err="1"/>
              <a:t>k</a:t>
            </a:r>
            <a:r>
              <a:rPr lang="en-US" dirty="0" err="1"/>
              <a:t>,b</a:t>
            </a:r>
            <a:r>
              <a:rPr lang="en-US" baseline="-25000" dirty="0" err="1"/>
              <a:t>k</a:t>
            </a:r>
            <a:r>
              <a:rPr lang="en-US" dirty="0"/>
              <a:t>].</a:t>
            </a:r>
          </a:p>
        </p:txBody>
      </p:sp>
      <p:pic>
        <p:nvPicPr>
          <p:cNvPr id="3" name="Picture 2">
            <a:extLst>
              <a:ext uri="{FF2B5EF4-FFF2-40B4-BE49-F238E27FC236}">
                <a16:creationId xmlns:a16="http://schemas.microsoft.com/office/drawing/2014/main" id="{B5900D98-EA18-A4CB-1ACC-52EAE1ADC9AE}"/>
              </a:ext>
            </a:extLst>
          </p:cNvPr>
          <p:cNvPicPr>
            <a:picLocks noChangeAspect="1"/>
          </p:cNvPicPr>
          <p:nvPr/>
        </p:nvPicPr>
        <p:blipFill>
          <a:blip r:embed="rId3"/>
          <a:stretch>
            <a:fillRect/>
          </a:stretch>
        </p:blipFill>
        <p:spPr>
          <a:xfrm>
            <a:off x="4469008" y="1581124"/>
            <a:ext cx="3253983" cy="566896"/>
          </a:xfrm>
          <a:prstGeom prst="rect">
            <a:avLst/>
          </a:prstGeom>
        </p:spPr>
      </p:pic>
      <p:sp>
        <p:nvSpPr>
          <p:cNvPr id="5" name="TextBox 4">
            <a:extLst>
              <a:ext uri="{FF2B5EF4-FFF2-40B4-BE49-F238E27FC236}">
                <a16:creationId xmlns:a16="http://schemas.microsoft.com/office/drawing/2014/main" id="{BC5638A5-A0C0-F426-9EB6-3D98DEBEC7B2}"/>
              </a:ext>
            </a:extLst>
          </p:cNvPr>
          <p:cNvSpPr txBox="1"/>
          <p:nvPr/>
        </p:nvSpPr>
        <p:spPr>
          <a:xfrm>
            <a:off x="714702" y="2200240"/>
            <a:ext cx="1382110" cy="369332"/>
          </a:xfrm>
          <a:prstGeom prst="rect">
            <a:avLst/>
          </a:prstGeom>
          <a:noFill/>
        </p:spPr>
        <p:txBody>
          <a:bodyPr wrap="none" rtlCol="0">
            <a:spAutoFit/>
          </a:bodyPr>
          <a:lstStyle/>
          <a:p>
            <a:r>
              <a:rPr lang="en-US" dirty="0"/>
              <a:t>by the mean</a:t>
            </a:r>
          </a:p>
        </p:txBody>
      </p:sp>
      <p:pic>
        <p:nvPicPr>
          <p:cNvPr id="8" name="Picture 7">
            <a:extLst>
              <a:ext uri="{FF2B5EF4-FFF2-40B4-BE49-F238E27FC236}">
                <a16:creationId xmlns:a16="http://schemas.microsoft.com/office/drawing/2014/main" id="{30BA0657-3903-A462-A32F-1815FADB6EEA}"/>
              </a:ext>
            </a:extLst>
          </p:cNvPr>
          <p:cNvPicPr>
            <a:picLocks noChangeAspect="1"/>
          </p:cNvPicPr>
          <p:nvPr/>
        </p:nvPicPr>
        <p:blipFill>
          <a:blip r:embed="rId4"/>
          <a:stretch>
            <a:fillRect/>
          </a:stretch>
        </p:blipFill>
        <p:spPr>
          <a:xfrm>
            <a:off x="4552949" y="2564722"/>
            <a:ext cx="3086100" cy="711200"/>
          </a:xfrm>
          <a:prstGeom prst="rect">
            <a:avLst/>
          </a:prstGeom>
        </p:spPr>
      </p:pic>
      <p:sp>
        <p:nvSpPr>
          <p:cNvPr id="12" name="TextBox 11">
            <a:extLst>
              <a:ext uri="{FF2B5EF4-FFF2-40B4-BE49-F238E27FC236}">
                <a16:creationId xmlns:a16="http://schemas.microsoft.com/office/drawing/2014/main" id="{CF2E0C77-3E99-1A57-FA63-4DA581E779E4}"/>
              </a:ext>
            </a:extLst>
          </p:cNvPr>
          <p:cNvSpPr txBox="1"/>
          <p:nvPr/>
        </p:nvSpPr>
        <p:spPr>
          <a:xfrm>
            <a:off x="714702" y="4793636"/>
            <a:ext cx="10310650" cy="369332"/>
          </a:xfrm>
          <a:prstGeom prst="rect">
            <a:avLst/>
          </a:prstGeom>
          <a:noFill/>
        </p:spPr>
        <p:txBody>
          <a:bodyPr wrap="square">
            <a:spAutoFit/>
          </a:bodyPr>
          <a:lstStyle/>
          <a:p>
            <a:r>
              <a:rPr lang="en-US" dirty="0"/>
              <a:t>Increasing the number of dimensions by one: sample one more number each iteration.</a:t>
            </a:r>
          </a:p>
        </p:txBody>
      </p:sp>
      <p:sp>
        <p:nvSpPr>
          <p:cNvPr id="13" name="TextBox 12">
            <a:extLst>
              <a:ext uri="{FF2B5EF4-FFF2-40B4-BE49-F238E27FC236}">
                <a16:creationId xmlns:a16="http://schemas.microsoft.com/office/drawing/2014/main" id="{9343EABB-2599-5CC1-154E-D8B8B29A8A9B}"/>
              </a:ext>
            </a:extLst>
          </p:cNvPr>
          <p:cNvSpPr txBox="1"/>
          <p:nvPr/>
        </p:nvSpPr>
        <p:spPr>
          <a:xfrm>
            <a:off x="721385" y="4080352"/>
            <a:ext cx="1622560" cy="369332"/>
          </a:xfrm>
          <a:prstGeom prst="rect">
            <a:avLst/>
          </a:prstGeom>
          <a:noFill/>
        </p:spPr>
        <p:txBody>
          <a:bodyPr wrap="none" rtlCol="0">
            <a:spAutoFit/>
          </a:bodyPr>
          <a:lstStyle/>
          <a:p>
            <a:r>
              <a:rPr lang="en-US" dirty="0"/>
              <a:t>Error estimate:</a:t>
            </a:r>
          </a:p>
        </p:txBody>
      </p:sp>
      <p:pic>
        <p:nvPicPr>
          <p:cNvPr id="14" name="Picture 13">
            <a:extLst>
              <a:ext uri="{FF2B5EF4-FFF2-40B4-BE49-F238E27FC236}">
                <a16:creationId xmlns:a16="http://schemas.microsoft.com/office/drawing/2014/main" id="{1E11EE91-84B6-54B7-828A-7BF25B1A6F74}"/>
              </a:ext>
            </a:extLst>
          </p:cNvPr>
          <p:cNvPicPr>
            <a:picLocks noChangeAspect="1"/>
          </p:cNvPicPr>
          <p:nvPr/>
        </p:nvPicPr>
        <p:blipFill>
          <a:blip r:embed="rId5"/>
          <a:stretch>
            <a:fillRect/>
          </a:stretch>
        </p:blipFill>
        <p:spPr>
          <a:xfrm>
            <a:off x="4538497" y="3929592"/>
            <a:ext cx="2775791" cy="763880"/>
          </a:xfrm>
          <a:prstGeom prst="rect">
            <a:avLst/>
          </a:prstGeom>
        </p:spPr>
      </p:pic>
      <p:sp>
        <p:nvSpPr>
          <p:cNvPr id="15" name="Down Arrow 14">
            <a:extLst>
              <a:ext uri="{FF2B5EF4-FFF2-40B4-BE49-F238E27FC236}">
                <a16:creationId xmlns:a16="http://schemas.microsoft.com/office/drawing/2014/main" id="{8ABB96CB-D04C-9F62-0DB5-8CA44B7BC314}"/>
              </a:ext>
            </a:extLst>
          </p:cNvPr>
          <p:cNvSpPr/>
          <p:nvPr/>
        </p:nvSpPr>
        <p:spPr>
          <a:xfrm>
            <a:off x="5875284" y="5307724"/>
            <a:ext cx="325820" cy="4688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E9EFF55-C939-C7A2-4CD2-41FE00F99148}"/>
              </a:ext>
            </a:extLst>
          </p:cNvPr>
          <p:cNvSpPr txBox="1"/>
          <p:nvPr/>
        </p:nvSpPr>
        <p:spPr>
          <a:xfrm>
            <a:off x="4945685" y="5921326"/>
            <a:ext cx="2517036" cy="369332"/>
          </a:xfrm>
          <a:prstGeom prst="rect">
            <a:avLst/>
          </a:prstGeom>
          <a:noFill/>
        </p:spPr>
        <p:txBody>
          <a:bodyPr wrap="none" rtlCol="0">
            <a:spAutoFit/>
          </a:bodyPr>
          <a:lstStyle/>
          <a:p>
            <a:r>
              <a:rPr lang="en-US" b="1" dirty="0">
                <a:solidFill>
                  <a:srgbClr val="00B050"/>
                </a:solidFill>
              </a:rPr>
              <a:t>linear complexity in D</a:t>
            </a:r>
          </a:p>
        </p:txBody>
      </p:sp>
    </p:spTree>
    <p:extLst>
      <p:ext uri="{BB962C8B-B14F-4D97-AF65-F5344CB8AC3E}">
        <p14:creationId xmlns:p14="http://schemas.microsoft.com/office/powerpoint/2010/main" val="33822223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Nonuniformly distributed random numbers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7D9C1FF-6029-93DC-F4D6-26F5CAEE829B}"/>
                  </a:ext>
                </a:extLst>
              </p:cNvPr>
              <p:cNvSpPr txBox="1"/>
              <p:nvPr/>
            </p:nvSpPr>
            <p:spPr>
              <a:xfrm>
                <a:off x="839548" y="1295242"/>
                <a:ext cx="9283588" cy="369332"/>
              </a:xfrm>
              <a:prstGeom prst="rect">
                <a:avLst/>
              </a:prstGeom>
              <a:noFill/>
            </p:spPr>
            <p:txBody>
              <a:bodyPr wrap="square">
                <a:spAutoFit/>
              </a:bodyPr>
              <a:lstStyle/>
              <a:p>
                <a:r>
                  <a:rPr lang="en-US" dirty="0"/>
                  <a:t>In many cases we deal with random numbers </a:t>
                </a:r>
                <a14:m>
                  <m:oMath xmlns:m="http://schemas.openxmlformats.org/officeDocument/2006/math">
                    <m:r>
                      <a:rPr lang="en-US" i="1" smtClean="0">
                        <a:latin typeface="Cambria Math" panose="02040503050406030204" pitchFamily="18" charset="0"/>
                        <a:ea typeface="Cambria Math" panose="02040503050406030204" pitchFamily="18" charset="0"/>
                      </a:rPr>
                      <m:t>𝜉</m:t>
                    </m:r>
                  </m:oMath>
                </a14:m>
                <a:r>
                  <a:rPr lang="en-US" dirty="0"/>
                  <a:t> that are distributed non-uniformly.</a:t>
                </a:r>
              </a:p>
            </p:txBody>
          </p:sp>
        </mc:Choice>
        <mc:Fallback xmlns="">
          <p:sp>
            <p:nvSpPr>
              <p:cNvPr id="7" name="TextBox 6">
                <a:extLst>
                  <a:ext uri="{FF2B5EF4-FFF2-40B4-BE49-F238E27FC236}">
                    <a16:creationId xmlns:a16="http://schemas.microsoft.com/office/drawing/2014/main" id="{17D9C1FF-6029-93DC-F4D6-26F5CAEE829B}"/>
                  </a:ext>
                </a:extLst>
              </p:cNvPr>
              <p:cNvSpPr txBox="1">
                <a:spLocks noRot="1" noChangeAspect="1" noMove="1" noResize="1" noEditPoints="1" noAdjustHandles="1" noChangeArrowheads="1" noChangeShapeType="1" noTextEdit="1"/>
              </p:cNvSpPr>
              <p:nvPr/>
            </p:nvSpPr>
            <p:spPr>
              <a:xfrm>
                <a:off x="839548" y="1295242"/>
                <a:ext cx="9283588" cy="369332"/>
              </a:xfrm>
              <a:prstGeom prst="rect">
                <a:avLst/>
              </a:prstGeom>
              <a:blipFill>
                <a:blip r:embed="rId3"/>
                <a:stretch>
                  <a:fillRect l="-683" t="-6452" b="-2258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2708E5D-8BD3-5267-46C3-7EC1EEB332EB}"/>
              </a:ext>
            </a:extLst>
          </p:cNvPr>
          <p:cNvSpPr txBox="1"/>
          <p:nvPr/>
        </p:nvSpPr>
        <p:spPr>
          <a:xfrm>
            <a:off x="839548" y="1885444"/>
            <a:ext cx="2422458" cy="646331"/>
          </a:xfrm>
          <a:prstGeom prst="rect">
            <a:avLst/>
          </a:prstGeom>
          <a:noFill/>
        </p:spPr>
        <p:txBody>
          <a:bodyPr wrap="none" rtlCol="0">
            <a:spAutoFit/>
          </a:bodyPr>
          <a:lstStyle/>
          <a:p>
            <a:r>
              <a:rPr lang="en-US" dirty="0"/>
              <a:t>Common examples are:</a:t>
            </a:r>
          </a:p>
          <a:p>
            <a:pPr marL="285750" indent="-285750">
              <a:buFont typeface="Arial" panose="020B0604020202020204" pitchFamily="34" charset="0"/>
              <a:buChar char="•"/>
            </a:pPr>
            <a:endParaRPr lang="en-US" dirty="0"/>
          </a:p>
        </p:txBody>
      </p:sp>
      <p:pic>
        <p:nvPicPr>
          <p:cNvPr id="9" name="Picture 8">
            <a:extLst>
              <a:ext uri="{FF2B5EF4-FFF2-40B4-BE49-F238E27FC236}">
                <a16:creationId xmlns:a16="http://schemas.microsoft.com/office/drawing/2014/main" id="{4DDE6CAB-2131-3FCA-922D-6A178F796F48}"/>
              </a:ext>
            </a:extLst>
          </p:cNvPr>
          <p:cNvPicPr>
            <a:picLocks noChangeAspect="1"/>
          </p:cNvPicPr>
          <p:nvPr/>
        </p:nvPicPr>
        <p:blipFill>
          <a:blip r:embed="rId4"/>
          <a:stretch>
            <a:fillRect/>
          </a:stretch>
        </p:blipFill>
        <p:spPr>
          <a:xfrm>
            <a:off x="1152777" y="2208609"/>
            <a:ext cx="3429000" cy="1371600"/>
          </a:xfrm>
          <a:prstGeom prst="rect">
            <a:avLst/>
          </a:prstGeom>
        </p:spPr>
      </p:pic>
      <p:sp>
        <p:nvSpPr>
          <p:cNvPr id="11" name="TextBox 10">
            <a:extLst>
              <a:ext uri="{FF2B5EF4-FFF2-40B4-BE49-F238E27FC236}">
                <a16:creationId xmlns:a16="http://schemas.microsoft.com/office/drawing/2014/main" id="{C099E3AC-0E04-BA9F-A699-A5A7B8F3AD73}"/>
              </a:ext>
            </a:extLst>
          </p:cNvPr>
          <p:cNvSpPr txBox="1"/>
          <p:nvPr/>
        </p:nvSpPr>
        <p:spPr>
          <a:xfrm>
            <a:off x="839547" y="4061783"/>
            <a:ext cx="7592353" cy="1477328"/>
          </a:xfrm>
          <a:prstGeom prst="rect">
            <a:avLst/>
          </a:prstGeom>
          <a:noFill/>
        </p:spPr>
        <p:txBody>
          <a:bodyPr wrap="square">
            <a:spAutoFit/>
          </a:bodyPr>
          <a:lstStyle/>
          <a:p>
            <a:r>
              <a:rPr lang="en-US" dirty="0"/>
              <a:t>There are two common methods for generating nonuniform random variates. They both make use of uniformly distributed variates.</a:t>
            </a:r>
          </a:p>
          <a:p>
            <a:endParaRPr lang="en-US" dirty="0"/>
          </a:p>
          <a:p>
            <a:pPr marL="285750" indent="-285750">
              <a:buFont typeface="Arial" panose="020B0604020202020204" pitchFamily="34" charset="0"/>
              <a:buChar char="•"/>
            </a:pPr>
            <a:r>
              <a:rPr lang="en-US" dirty="0"/>
              <a:t>Inverse transform sampling</a:t>
            </a:r>
          </a:p>
          <a:p>
            <a:pPr marL="285750" indent="-285750">
              <a:buFont typeface="Arial" panose="020B0604020202020204" pitchFamily="34" charset="0"/>
              <a:buChar char="•"/>
            </a:pPr>
            <a:r>
              <a:rPr lang="en-US" dirty="0"/>
              <a:t>Rejection sampling</a:t>
            </a:r>
          </a:p>
        </p:txBody>
      </p:sp>
    </p:spTree>
    <p:extLst>
      <p:ext uri="{BB962C8B-B14F-4D97-AF65-F5344CB8AC3E}">
        <p14:creationId xmlns:p14="http://schemas.microsoft.com/office/powerpoint/2010/main" val="1101267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Inverse transform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86A1E1FB-881D-5B06-3F50-7BA296A61C0D}"/>
              </a:ext>
            </a:extLst>
          </p:cNvPr>
          <p:cNvPicPr>
            <a:picLocks noChangeAspect="1"/>
          </p:cNvPicPr>
          <p:nvPr/>
        </p:nvPicPr>
        <p:blipFill>
          <a:blip r:embed="rId3"/>
          <a:stretch>
            <a:fillRect/>
          </a:stretch>
        </p:blipFill>
        <p:spPr>
          <a:xfrm>
            <a:off x="689450" y="1165086"/>
            <a:ext cx="10813100" cy="4955488"/>
          </a:xfrm>
          <a:prstGeom prst="rect">
            <a:avLst/>
          </a:prstGeom>
        </p:spPr>
      </p:pic>
      <p:pic>
        <p:nvPicPr>
          <p:cNvPr id="3" name="Picture 4" descr="Example of inverse transform sampling | Download Scientific Diagram">
            <a:extLst>
              <a:ext uri="{FF2B5EF4-FFF2-40B4-BE49-F238E27FC236}">
                <a16:creationId xmlns:a16="http://schemas.microsoft.com/office/drawing/2014/main" id="{82A85385-1166-625D-77BC-AD4C2A031C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2018" y="4263888"/>
            <a:ext cx="2689258" cy="1739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2015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FDBB2-A077-4BE1-E5B1-DE72E3EDC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A78A0-DC79-9FDF-C0CF-E22737D81346}"/>
              </a:ext>
            </a:extLst>
          </p:cNvPr>
          <p:cNvSpPr>
            <a:spLocks noGrp="1"/>
          </p:cNvSpPr>
          <p:nvPr>
            <p:ph type="title"/>
          </p:nvPr>
        </p:nvSpPr>
        <p:spPr/>
        <p:txBody>
          <a:bodyPr/>
          <a:lstStyle/>
          <a:p>
            <a:r>
              <a:rPr lang="en-US" dirty="0">
                <a:latin typeface="LM Sans 10" panose="00000500000000000000" pitchFamily="50" charset="0"/>
              </a:rPr>
              <a:t>Inverse transform sampling</a:t>
            </a:r>
            <a:endParaRPr lang="uk-UA" dirty="0"/>
          </a:p>
        </p:txBody>
      </p:sp>
      <p:sp>
        <p:nvSpPr>
          <p:cNvPr id="4" name="Text Placeholder 3">
            <a:extLst>
              <a:ext uri="{FF2B5EF4-FFF2-40B4-BE49-F238E27FC236}">
                <a16:creationId xmlns:a16="http://schemas.microsoft.com/office/drawing/2014/main" id="{8F4B7DC6-2230-7FBB-9513-D772AEE34AB2}"/>
              </a:ext>
            </a:extLst>
          </p:cNvPr>
          <p:cNvSpPr>
            <a:spLocks noGrp="1"/>
          </p:cNvSpPr>
          <p:nvPr>
            <p:ph type="body" sz="quarter" idx="12"/>
          </p:nvPr>
        </p:nvSpPr>
        <p:spPr/>
        <p:txBody>
          <a:bodyPr/>
          <a:lstStyle/>
          <a:p>
            <a:endParaRPr lang="en-US"/>
          </a:p>
        </p:txBody>
      </p:sp>
      <p:sp>
        <p:nvSpPr>
          <p:cNvPr id="5" name="TextBox 4">
            <a:extLst>
              <a:ext uri="{FF2B5EF4-FFF2-40B4-BE49-F238E27FC236}">
                <a16:creationId xmlns:a16="http://schemas.microsoft.com/office/drawing/2014/main" id="{8F772DDA-30A4-3ACC-250A-A48F7393980E}"/>
              </a:ext>
            </a:extLst>
          </p:cNvPr>
          <p:cNvSpPr txBox="1"/>
          <p:nvPr/>
        </p:nvSpPr>
        <p:spPr>
          <a:xfrm>
            <a:off x="857927" y="1408219"/>
            <a:ext cx="6097656" cy="369332"/>
          </a:xfrm>
          <a:prstGeom prst="rect">
            <a:avLst/>
          </a:prstGeom>
          <a:noFill/>
        </p:spPr>
        <p:txBody>
          <a:bodyPr wrap="square">
            <a:spAutoFit/>
          </a:bodyPr>
          <a:lstStyle/>
          <a:p>
            <a:r>
              <a:rPr lang="en-US" dirty="0"/>
              <a:t>The algorithm follows these steps:</a:t>
            </a:r>
          </a:p>
        </p:txBody>
      </p:sp>
      <p:sp>
        <p:nvSpPr>
          <p:cNvPr id="8" name="TextBox 7">
            <a:extLst>
              <a:ext uri="{FF2B5EF4-FFF2-40B4-BE49-F238E27FC236}">
                <a16:creationId xmlns:a16="http://schemas.microsoft.com/office/drawing/2014/main" id="{39706A7A-44E5-07C1-0FDC-C8132CEF3B56}"/>
              </a:ext>
            </a:extLst>
          </p:cNvPr>
          <p:cNvSpPr txBox="1"/>
          <p:nvPr/>
        </p:nvSpPr>
        <p:spPr>
          <a:xfrm>
            <a:off x="857927" y="1777551"/>
            <a:ext cx="6097656" cy="369332"/>
          </a:xfrm>
          <a:prstGeom prst="rect">
            <a:avLst/>
          </a:prstGeom>
          <a:noFill/>
        </p:spPr>
        <p:txBody>
          <a:bodyPr wrap="square">
            <a:spAutoFit/>
          </a:bodyPr>
          <a:lstStyle/>
          <a:p>
            <a:r>
              <a:rPr lang="en-US" dirty="0"/>
              <a:t>1. Calculate the cumulative distribution function (CDF)</a:t>
            </a:r>
          </a:p>
        </p:txBody>
      </p:sp>
      <p:pic>
        <p:nvPicPr>
          <p:cNvPr id="9" name="Picture 8">
            <a:extLst>
              <a:ext uri="{FF2B5EF4-FFF2-40B4-BE49-F238E27FC236}">
                <a16:creationId xmlns:a16="http://schemas.microsoft.com/office/drawing/2014/main" id="{16C84EE0-7E89-609D-C14A-382F9C92B599}"/>
              </a:ext>
            </a:extLst>
          </p:cNvPr>
          <p:cNvPicPr>
            <a:picLocks noChangeAspect="1"/>
          </p:cNvPicPr>
          <p:nvPr/>
        </p:nvPicPr>
        <p:blipFill>
          <a:blip r:embed="rId3"/>
          <a:stretch>
            <a:fillRect/>
          </a:stretch>
        </p:blipFill>
        <p:spPr>
          <a:xfrm>
            <a:off x="5240255" y="2148277"/>
            <a:ext cx="1683026" cy="614952"/>
          </a:xfrm>
          <a:prstGeom prst="rect">
            <a:avLst/>
          </a:prstGeom>
        </p:spPr>
      </p:pic>
      <p:sp>
        <p:nvSpPr>
          <p:cNvPr id="11" name="TextBox 10">
            <a:extLst>
              <a:ext uri="{FF2B5EF4-FFF2-40B4-BE49-F238E27FC236}">
                <a16:creationId xmlns:a16="http://schemas.microsoft.com/office/drawing/2014/main" id="{0ED23086-7CA5-FDAB-1C19-A0D11566AB7F}"/>
              </a:ext>
            </a:extLst>
          </p:cNvPr>
          <p:cNvSpPr txBox="1"/>
          <p:nvPr/>
        </p:nvSpPr>
        <p:spPr>
          <a:xfrm>
            <a:off x="857926" y="2809395"/>
            <a:ext cx="7635737" cy="369332"/>
          </a:xfrm>
          <a:prstGeom prst="rect">
            <a:avLst/>
          </a:prstGeom>
          <a:noFill/>
        </p:spPr>
        <p:txBody>
          <a:bodyPr wrap="square">
            <a:spAutoFit/>
          </a:bodyPr>
          <a:lstStyle/>
          <a:p>
            <a:r>
              <a:rPr lang="en-US" dirty="0"/>
              <a:t>2. Find the inverse function G</a:t>
            </a:r>
            <a:r>
              <a:rPr lang="en-US" baseline="30000" dirty="0"/>
              <a:t>-1</a:t>
            </a:r>
            <a:r>
              <a:rPr lang="en-US" dirty="0"/>
              <a:t>(y) as the solution to the equation</a:t>
            </a:r>
          </a:p>
        </p:txBody>
      </p:sp>
      <p:pic>
        <p:nvPicPr>
          <p:cNvPr id="12" name="Picture 11">
            <a:extLst>
              <a:ext uri="{FF2B5EF4-FFF2-40B4-BE49-F238E27FC236}">
                <a16:creationId xmlns:a16="http://schemas.microsoft.com/office/drawing/2014/main" id="{CCCCC1DB-B818-A25F-A6F7-F5F6A9A6A061}"/>
              </a:ext>
            </a:extLst>
          </p:cNvPr>
          <p:cNvPicPr>
            <a:picLocks noChangeAspect="1"/>
          </p:cNvPicPr>
          <p:nvPr/>
        </p:nvPicPr>
        <p:blipFill>
          <a:blip r:embed="rId4"/>
          <a:stretch>
            <a:fillRect/>
          </a:stretch>
        </p:blipFill>
        <p:spPr>
          <a:xfrm>
            <a:off x="5694155" y="3245049"/>
            <a:ext cx="803689" cy="281813"/>
          </a:xfrm>
          <a:prstGeom prst="rect">
            <a:avLst/>
          </a:prstGeom>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224A429-D817-D2D2-9364-89EACACE0761}"/>
                  </a:ext>
                </a:extLst>
              </p:cNvPr>
              <p:cNvSpPr txBox="1"/>
              <p:nvPr/>
            </p:nvSpPr>
            <p:spPr>
              <a:xfrm>
                <a:off x="857926" y="3593184"/>
                <a:ext cx="9623564" cy="646331"/>
              </a:xfrm>
              <a:prstGeom prst="rect">
                <a:avLst/>
              </a:prstGeom>
              <a:noFill/>
            </p:spPr>
            <p:txBody>
              <a:bodyPr wrap="square">
                <a:spAutoFit/>
              </a:bodyPr>
              <a:lstStyle/>
              <a:p>
                <a:r>
                  <a:rPr lang="en-US" dirty="0"/>
                  <a:t>3. Sample uniformly distributed random variables </a:t>
                </a:r>
                <a14:m>
                  <m:oMath xmlns:m="http://schemas.openxmlformats.org/officeDocument/2006/math">
                    <m:r>
                      <a:rPr lang="en-US" i="1" smtClean="0">
                        <a:latin typeface="Cambria Math" panose="02040503050406030204" pitchFamily="18" charset="0"/>
                        <a:ea typeface="Cambria Math" panose="02040503050406030204" pitchFamily="18" charset="0"/>
                      </a:rPr>
                      <m:t>𝜂</m:t>
                    </m:r>
                  </m:oMath>
                </a14:m>
                <a:r>
                  <a:rPr lang="en-US" dirty="0"/>
                  <a:t> and compute </a:t>
                </a:r>
                <a14:m>
                  <m:oMath xmlns:m="http://schemas.openxmlformats.org/officeDocument/2006/math">
                    <m:r>
                      <a:rPr lang="en-US" i="1" smtClean="0">
                        <a:latin typeface="Cambria Math" panose="02040503050406030204" pitchFamily="18" charset="0"/>
                        <a:ea typeface="Cambria Math" panose="02040503050406030204" pitchFamily="18" charset="0"/>
                      </a:rPr>
                      <m:t>𝜉</m:t>
                    </m:r>
                  </m:oMath>
                </a14:m>
                <a:r>
                  <a:rPr lang="en-US" dirty="0"/>
                  <a:t> using the inverse function:</a:t>
                </a:r>
              </a:p>
              <a:p>
                <a:endParaRPr lang="en-US" dirty="0"/>
              </a:p>
            </p:txBody>
          </p:sp>
        </mc:Choice>
        <mc:Fallback>
          <p:sp>
            <p:nvSpPr>
              <p:cNvPr id="14" name="TextBox 13">
                <a:extLst>
                  <a:ext uri="{FF2B5EF4-FFF2-40B4-BE49-F238E27FC236}">
                    <a16:creationId xmlns:a16="http://schemas.microsoft.com/office/drawing/2014/main" id="{2224A429-D817-D2D2-9364-89EACACE0761}"/>
                  </a:ext>
                </a:extLst>
              </p:cNvPr>
              <p:cNvSpPr txBox="1">
                <a:spLocks noRot="1" noChangeAspect="1" noMove="1" noResize="1" noEditPoints="1" noAdjustHandles="1" noChangeArrowheads="1" noChangeShapeType="1" noTextEdit="1"/>
              </p:cNvSpPr>
              <p:nvPr/>
            </p:nvSpPr>
            <p:spPr>
              <a:xfrm>
                <a:off x="857926" y="3593184"/>
                <a:ext cx="9623564" cy="646331"/>
              </a:xfrm>
              <a:prstGeom prst="rect">
                <a:avLst/>
              </a:prstGeom>
              <a:blipFill>
                <a:blip r:embed="rId5"/>
                <a:stretch>
                  <a:fillRect l="-527" t="-3846"/>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F15C937B-5D86-3B0A-11AD-C7399300699F}"/>
              </a:ext>
            </a:extLst>
          </p:cNvPr>
          <p:cNvSpPr txBox="1"/>
          <p:nvPr/>
        </p:nvSpPr>
        <p:spPr>
          <a:xfrm>
            <a:off x="857926" y="5646467"/>
            <a:ext cx="8391111" cy="646331"/>
          </a:xfrm>
          <a:prstGeom prst="rect">
            <a:avLst/>
          </a:prstGeom>
          <a:noFill/>
        </p:spPr>
        <p:txBody>
          <a:bodyPr wrap="square">
            <a:spAutoFit/>
          </a:bodyPr>
          <a:lstStyle/>
          <a:p>
            <a:r>
              <a:rPr lang="en-US" b="1" dirty="0"/>
              <a:t>Challenges: </a:t>
            </a:r>
            <a:r>
              <a:rPr lang="en-US" dirty="0"/>
              <a:t>Sometimes, evaluating G(x) and/or G</a:t>
            </a:r>
            <a:r>
              <a:rPr lang="en-US" baseline="30000" dirty="0"/>
              <a:t>-1</a:t>
            </a:r>
            <a:r>
              <a:rPr lang="en-US" dirty="0"/>
              <a:t>(y) explicitly is difficult. In such cases, numerical integration and/or non-linear equation solvers may be required.</a:t>
            </a:r>
          </a:p>
        </p:txBody>
      </p:sp>
      <p:pic>
        <p:nvPicPr>
          <p:cNvPr id="17" name="Picture 4" descr="Example of inverse transform sampling | Download Scientific Diagram">
            <a:extLst>
              <a:ext uri="{FF2B5EF4-FFF2-40B4-BE49-F238E27FC236}">
                <a16:creationId xmlns:a16="http://schemas.microsoft.com/office/drawing/2014/main" id="{C4C5CFAF-1A55-4C9B-6CD3-F0BCEC59BE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3111" y="1117431"/>
            <a:ext cx="3600159" cy="232894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7545EC8-4529-E8C0-1311-3319985B1FEC}"/>
              </a:ext>
            </a:extLst>
          </p:cNvPr>
          <p:cNvSpPr txBox="1"/>
          <p:nvPr/>
        </p:nvSpPr>
        <p:spPr>
          <a:xfrm>
            <a:off x="857926" y="4767518"/>
            <a:ext cx="8391111" cy="646331"/>
          </a:xfrm>
          <a:prstGeom prst="rect">
            <a:avLst/>
          </a:prstGeom>
          <a:noFill/>
        </p:spPr>
        <p:txBody>
          <a:bodyPr wrap="square">
            <a:spAutoFit/>
          </a:bodyPr>
          <a:lstStyle/>
          <a:p>
            <a:r>
              <a:rPr lang="en-US" b="1" dirty="0"/>
              <a:t>Main idea: </a:t>
            </a:r>
            <a:r>
              <a:rPr lang="en-US" dirty="0"/>
              <a:t>G(x) is monotonic and between 0 and 1, where it grows quicker is where more probability is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DE253F6-B286-B24A-A62C-38767C13DB24}"/>
                  </a:ext>
                </a:extLst>
              </p:cNvPr>
              <p:cNvSpPr txBox="1"/>
              <p:nvPr/>
            </p:nvSpPr>
            <p:spPr>
              <a:xfrm>
                <a:off x="4973363" y="4121171"/>
                <a:ext cx="139268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𝜉</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𝐺</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p:sp>
            <p:nvSpPr>
              <p:cNvPr id="6" name="TextBox 5">
                <a:extLst>
                  <a:ext uri="{FF2B5EF4-FFF2-40B4-BE49-F238E27FC236}">
                    <a16:creationId xmlns:a16="http://schemas.microsoft.com/office/drawing/2014/main" id="{FDE253F6-B286-B24A-A62C-38767C13DB24}"/>
                  </a:ext>
                </a:extLst>
              </p:cNvPr>
              <p:cNvSpPr txBox="1">
                <a:spLocks noRot="1" noChangeAspect="1" noMove="1" noResize="1" noEditPoints="1" noAdjustHandles="1" noChangeArrowheads="1" noChangeShapeType="1" noTextEdit="1"/>
              </p:cNvSpPr>
              <p:nvPr/>
            </p:nvSpPr>
            <p:spPr>
              <a:xfrm>
                <a:off x="4973363" y="4121171"/>
                <a:ext cx="1392689" cy="369332"/>
              </a:xfrm>
              <a:prstGeom prst="rect">
                <a:avLst/>
              </a:prstGeom>
              <a:blipFill>
                <a:blip r:embed="rId7"/>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13200412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571C-2B8E-E5E0-D0E2-ADE38E054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97113-95E4-6A4D-12AC-4F209B882FE6}"/>
              </a:ext>
            </a:extLst>
          </p:cNvPr>
          <p:cNvSpPr>
            <a:spLocks noGrp="1"/>
          </p:cNvSpPr>
          <p:nvPr>
            <p:ph type="title"/>
          </p:nvPr>
        </p:nvSpPr>
        <p:spPr/>
        <p:txBody>
          <a:bodyPr/>
          <a:lstStyle/>
          <a:p>
            <a:r>
              <a:rPr lang="en-US" dirty="0">
                <a:latin typeface="LM Sans 10" panose="00000500000000000000" pitchFamily="50" charset="0"/>
              </a:rPr>
              <a:t>Inverse transform sampling: Exponential distribution</a:t>
            </a:r>
            <a:endParaRPr lang="uk-UA" dirty="0"/>
          </a:p>
        </p:txBody>
      </p:sp>
      <p:sp>
        <p:nvSpPr>
          <p:cNvPr id="4" name="Text Placeholder 3">
            <a:extLst>
              <a:ext uri="{FF2B5EF4-FFF2-40B4-BE49-F238E27FC236}">
                <a16:creationId xmlns:a16="http://schemas.microsoft.com/office/drawing/2014/main" id="{A5EFBC26-6968-652B-0F45-758C565558FE}"/>
              </a:ext>
            </a:extLst>
          </p:cNvPr>
          <p:cNvSpPr>
            <a:spLocks noGrp="1"/>
          </p:cNvSpPr>
          <p:nvPr>
            <p:ph type="body" sz="quarter" idx="12"/>
          </p:nvPr>
        </p:nvSpPr>
        <p:spPr/>
        <p:txBody>
          <a:bodyPr/>
          <a:lstStyle/>
          <a:p>
            <a:endParaRPr lang="en-US"/>
          </a:p>
        </p:txBody>
      </p:sp>
      <p:sp>
        <p:nvSpPr>
          <p:cNvPr id="6" name="TextBox 5">
            <a:extLst>
              <a:ext uri="{FF2B5EF4-FFF2-40B4-BE49-F238E27FC236}">
                <a16:creationId xmlns:a16="http://schemas.microsoft.com/office/drawing/2014/main" id="{F7565407-5643-EAA0-23E2-BF07220FE429}"/>
              </a:ext>
            </a:extLst>
          </p:cNvPr>
          <p:cNvSpPr txBox="1"/>
          <p:nvPr/>
        </p:nvSpPr>
        <p:spPr>
          <a:xfrm>
            <a:off x="633619" y="1165086"/>
            <a:ext cx="6097656" cy="369332"/>
          </a:xfrm>
          <a:prstGeom prst="rect">
            <a:avLst/>
          </a:prstGeom>
          <a:noFill/>
        </p:spPr>
        <p:txBody>
          <a:bodyPr wrap="square">
            <a:spAutoFit/>
          </a:bodyPr>
          <a:lstStyle/>
          <a:p>
            <a:r>
              <a:rPr lang="en-US" b="1"/>
              <a:t>Example: Exponential Distribution</a:t>
            </a:r>
            <a:endParaRPr lang="en-US" dirty="0"/>
          </a:p>
        </p:txBody>
      </p:sp>
      <p:sp>
        <p:nvSpPr>
          <p:cNvPr id="10" name="TextBox 9">
            <a:extLst>
              <a:ext uri="{FF2B5EF4-FFF2-40B4-BE49-F238E27FC236}">
                <a16:creationId xmlns:a16="http://schemas.microsoft.com/office/drawing/2014/main" id="{1C53A22C-4A81-E59D-4FBA-57764DD9A92F}"/>
              </a:ext>
            </a:extLst>
          </p:cNvPr>
          <p:cNvSpPr txBox="1"/>
          <p:nvPr/>
        </p:nvSpPr>
        <p:spPr>
          <a:xfrm>
            <a:off x="633619" y="1683840"/>
            <a:ext cx="11293338" cy="646331"/>
          </a:xfrm>
          <a:prstGeom prst="rect">
            <a:avLst/>
          </a:prstGeom>
          <a:noFill/>
        </p:spPr>
        <p:txBody>
          <a:bodyPr wrap="square">
            <a:spAutoFit/>
          </a:bodyPr>
          <a:lstStyle/>
          <a:p>
            <a:r>
              <a:rPr lang="en-US" dirty="0"/>
              <a:t>1. Recall the radioactive decay process. The time of decay is distributed according to the probability density function:</a:t>
            </a:r>
          </a:p>
        </p:txBody>
      </p:sp>
      <p:pic>
        <p:nvPicPr>
          <p:cNvPr id="13" name="Picture 12">
            <a:extLst>
              <a:ext uri="{FF2B5EF4-FFF2-40B4-BE49-F238E27FC236}">
                <a16:creationId xmlns:a16="http://schemas.microsoft.com/office/drawing/2014/main" id="{7A883F76-AD51-C6C0-8A5E-50717479F2F8}"/>
              </a:ext>
            </a:extLst>
          </p:cNvPr>
          <p:cNvPicPr>
            <a:picLocks noChangeAspect="1"/>
          </p:cNvPicPr>
          <p:nvPr/>
        </p:nvPicPr>
        <p:blipFill>
          <a:blip r:embed="rId3"/>
          <a:stretch>
            <a:fillRect/>
          </a:stretch>
        </p:blipFill>
        <p:spPr>
          <a:xfrm>
            <a:off x="5690635" y="2132250"/>
            <a:ext cx="1179305" cy="513757"/>
          </a:xfrm>
          <a:prstGeom prst="rect">
            <a:avLst/>
          </a:prstGeom>
        </p:spPr>
      </p:pic>
      <p:sp>
        <p:nvSpPr>
          <p:cNvPr id="18" name="TextBox 17">
            <a:extLst>
              <a:ext uri="{FF2B5EF4-FFF2-40B4-BE49-F238E27FC236}">
                <a16:creationId xmlns:a16="http://schemas.microsoft.com/office/drawing/2014/main" id="{AD7CA89F-8DEF-AAAA-EE8F-F12B20EF1B00}"/>
              </a:ext>
            </a:extLst>
          </p:cNvPr>
          <p:cNvSpPr txBox="1"/>
          <p:nvPr/>
        </p:nvSpPr>
        <p:spPr>
          <a:xfrm>
            <a:off x="633619" y="2781277"/>
            <a:ext cx="6097656" cy="369332"/>
          </a:xfrm>
          <a:prstGeom prst="rect">
            <a:avLst/>
          </a:prstGeom>
          <a:noFill/>
        </p:spPr>
        <p:txBody>
          <a:bodyPr wrap="square">
            <a:spAutoFit/>
          </a:bodyPr>
          <a:lstStyle/>
          <a:p>
            <a:r>
              <a:rPr lang="en-US" dirty="0"/>
              <a:t>2. The cumulative distribution function is given by:</a:t>
            </a:r>
          </a:p>
        </p:txBody>
      </p:sp>
      <p:pic>
        <p:nvPicPr>
          <p:cNvPr id="19" name="Picture 18">
            <a:extLst>
              <a:ext uri="{FF2B5EF4-FFF2-40B4-BE49-F238E27FC236}">
                <a16:creationId xmlns:a16="http://schemas.microsoft.com/office/drawing/2014/main" id="{FC9F2638-2ABD-29C0-9747-12994B3828F8}"/>
              </a:ext>
            </a:extLst>
          </p:cNvPr>
          <p:cNvPicPr>
            <a:picLocks noChangeAspect="1"/>
          </p:cNvPicPr>
          <p:nvPr/>
        </p:nvPicPr>
        <p:blipFill>
          <a:blip r:embed="rId4"/>
          <a:stretch>
            <a:fillRect/>
          </a:stretch>
        </p:blipFill>
        <p:spPr>
          <a:xfrm>
            <a:off x="5190778" y="3199741"/>
            <a:ext cx="2581622" cy="577325"/>
          </a:xfrm>
          <a:prstGeom prst="rect">
            <a:avLst/>
          </a:prstGeom>
        </p:spPr>
      </p:pic>
      <p:sp>
        <p:nvSpPr>
          <p:cNvPr id="21" name="TextBox 20">
            <a:extLst>
              <a:ext uri="{FF2B5EF4-FFF2-40B4-BE49-F238E27FC236}">
                <a16:creationId xmlns:a16="http://schemas.microsoft.com/office/drawing/2014/main" id="{A5D56201-EC42-1B34-68B8-D9F371989DAE}"/>
              </a:ext>
            </a:extLst>
          </p:cNvPr>
          <p:cNvSpPr txBox="1"/>
          <p:nvPr/>
        </p:nvSpPr>
        <p:spPr>
          <a:xfrm>
            <a:off x="633619" y="3811127"/>
            <a:ext cx="7138781" cy="646331"/>
          </a:xfrm>
          <a:prstGeom prst="rect">
            <a:avLst/>
          </a:prstGeom>
          <a:noFill/>
        </p:spPr>
        <p:txBody>
          <a:bodyPr wrap="square">
            <a:spAutoFit/>
          </a:bodyPr>
          <a:lstStyle/>
          <a:p>
            <a:r>
              <a:rPr lang="en-US" dirty="0"/>
              <a:t>3. To apply inverse transform sampling, we need to invert F(x) by solving:</a:t>
            </a:r>
          </a:p>
        </p:txBody>
      </p:sp>
      <p:sp>
        <p:nvSpPr>
          <p:cNvPr id="24" name="TextBox 23">
            <a:extLst>
              <a:ext uri="{FF2B5EF4-FFF2-40B4-BE49-F238E27FC236}">
                <a16:creationId xmlns:a16="http://schemas.microsoft.com/office/drawing/2014/main" id="{675CF89E-FBBD-4FE2-F74E-DDCF680EF0BF}"/>
              </a:ext>
            </a:extLst>
          </p:cNvPr>
          <p:cNvSpPr txBox="1"/>
          <p:nvPr/>
        </p:nvSpPr>
        <p:spPr>
          <a:xfrm>
            <a:off x="633619" y="4907986"/>
            <a:ext cx="3421546" cy="369332"/>
          </a:xfrm>
          <a:prstGeom prst="rect">
            <a:avLst/>
          </a:prstGeom>
          <a:noFill/>
        </p:spPr>
        <p:txBody>
          <a:bodyPr wrap="square">
            <a:spAutoFit/>
          </a:bodyPr>
          <a:lstStyle/>
          <a:p>
            <a:r>
              <a:rPr lang="en-US" dirty="0"/>
              <a:t>4. Solving for </a:t>
            </a:r>
            <a:r>
              <a:rPr lang="en-US" i="1" dirty="0"/>
              <a:t>t</a:t>
            </a:r>
            <a:r>
              <a:rPr lang="en-US" dirty="0"/>
              <a:t>, we obtain:</a:t>
            </a:r>
          </a:p>
        </p:txBody>
      </p:sp>
      <p:pic>
        <p:nvPicPr>
          <p:cNvPr id="25" name="Picture 24">
            <a:extLst>
              <a:ext uri="{FF2B5EF4-FFF2-40B4-BE49-F238E27FC236}">
                <a16:creationId xmlns:a16="http://schemas.microsoft.com/office/drawing/2014/main" id="{3F13D1B6-8AAC-1CD4-9F7E-E4882CE5D042}"/>
              </a:ext>
            </a:extLst>
          </p:cNvPr>
          <p:cNvPicPr>
            <a:picLocks noChangeAspect="1"/>
          </p:cNvPicPr>
          <p:nvPr/>
        </p:nvPicPr>
        <p:blipFill>
          <a:blip r:embed="rId5"/>
          <a:stretch>
            <a:fillRect/>
          </a:stretch>
        </p:blipFill>
        <p:spPr>
          <a:xfrm>
            <a:off x="5261457" y="5375715"/>
            <a:ext cx="1879600" cy="393700"/>
          </a:xfrm>
          <a:prstGeom prst="rect">
            <a:avLst/>
          </a:prstGeom>
        </p:spPr>
      </p:pic>
      <p:sp>
        <p:nvSpPr>
          <p:cNvPr id="26" name="Rounded Rectangle 25">
            <a:extLst>
              <a:ext uri="{FF2B5EF4-FFF2-40B4-BE49-F238E27FC236}">
                <a16:creationId xmlns:a16="http://schemas.microsoft.com/office/drawing/2014/main" id="{C2CA899E-2356-E237-CA64-4A2FB25423CD}"/>
              </a:ext>
            </a:extLst>
          </p:cNvPr>
          <p:cNvSpPr/>
          <p:nvPr/>
        </p:nvSpPr>
        <p:spPr>
          <a:xfrm>
            <a:off x="5190778" y="5277318"/>
            <a:ext cx="2080591" cy="6350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E68D52E-DF4A-4B5D-CBF7-2FFE5FF88C21}"/>
              </a:ext>
            </a:extLst>
          </p:cNvPr>
          <p:cNvPicPr>
            <a:picLocks noChangeAspect="1"/>
          </p:cNvPicPr>
          <p:nvPr/>
        </p:nvPicPr>
        <p:blipFill>
          <a:blip r:embed="rId6"/>
          <a:stretch>
            <a:fillRect/>
          </a:stretch>
        </p:blipFill>
        <p:spPr>
          <a:xfrm>
            <a:off x="5638937" y="4441289"/>
            <a:ext cx="1282700" cy="368300"/>
          </a:xfrm>
          <a:prstGeom prst="rect">
            <a:avLst/>
          </a:prstGeom>
        </p:spPr>
      </p:pic>
    </p:spTree>
    <p:extLst>
      <p:ext uri="{BB962C8B-B14F-4D97-AF65-F5344CB8AC3E}">
        <p14:creationId xmlns:p14="http://schemas.microsoft.com/office/powerpoint/2010/main" val="40405519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radioactive decay time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15" name="Picture 14">
            <a:extLst>
              <a:ext uri="{FF2B5EF4-FFF2-40B4-BE49-F238E27FC236}">
                <a16:creationId xmlns:a16="http://schemas.microsoft.com/office/drawing/2014/main" id="{1B8FAD3B-1858-4F0E-F573-362AA87F88A7}"/>
              </a:ext>
            </a:extLst>
          </p:cNvPr>
          <p:cNvPicPr>
            <a:picLocks noChangeAspect="1"/>
          </p:cNvPicPr>
          <p:nvPr/>
        </p:nvPicPr>
        <p:blipFill>
          <a:blip r:embed="rId3"/>
          <a:stretch>
            <a:fillRect/>
          </a:stretch>
        </p:blipFill>
        <p:spPr>
          <a:xfrm>
            <a:off x="659107" y="2020649"/>
            <a:ext cx="6083300" cy="3124200"/>
          </a:xfrm>
          <a:prstGeom prst="rect">
            <a:avLst/>
          </a:prstGeom>
        </p:spPr>
      </p:pic>
      <p:pic>
        <p:nvPicPr>
          <p:cNvPr id="13314" name="Picture 2">
            <a:extLst>
              <a:ext uri="{FF2B5EF4-FFF2-40B4-BE49-F238E27FC236}">
                <a16:creationId xmlns:a16="http://schemas.microsoft.com/office/drawing/2014/main" id="{10B561AF-5B01-D76B-7C5E-3A17D8DFA6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4330" y="1826777"/>
            <a:ext cx="4847129" cy="3635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5964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points inside a circle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DCD10791-3BC8-EE6C-2154-9A852EAFD8C3}"/>
              </a:ext>
            </a:extLst>
          </p:cNvPr>
          <p:cNvPicPr>
            <a:picLocks noChangeAspect="1"/>
          </p:cNvPicPr>
          <p:nvPr/>
        </p:nvPicPr>
        <p:blipFill>
          <a:blip r:embed="rId3"/>
          <a:stretch>
            <a:fillRect/>
          </a:stretch>
        </p:blipFill>
        <p:spPr>
          <a:xfrm>
            <a:off x="1457883" y="3024368"/>
            <a:ext cx="3229482" cy="2466835"/>
          </a:xfrm>
          <a:prstGeom prst="rect">
            <a:avLst/>
          </a:prstGeom>
        </p:spPr>
      </p:pic>
      <p:sp>
        <p:nvSpPr>
          <p:cNvPr id="8" name="TextBox 7">
            <a:extLst>
              <a:ext uri="{FF2B5EF4-FFF2-40B4-BE49-F238E27FC236}">
                <a16:creationId xmlns:a16="http://schemas.microsoft.com/office/drawing/2014/main" id="{80B27860-E862-7F46-9831-A89EF69D45F2}"/>
              </a:ext>
            </a:extLst>
          </p:cNvPr>
          <p:cNvSpPr txBox="1"/>
          <p:nvPr/>
        </p:nvSpPr>
        <p:spPr>
          <a:xfrm>
            <a:off x="1090819" y="1165086"/>
            <a:ext cx="8311598" cy="369332"/>
          </a:xfrm>
          <a:prstGeom prst="rect">
            <a:avLst/>
          </a:prstGeom>
          <a:noFill/>
        </p:spPr>
        <p:txBody>
          <a:bodyPr wrap="square">
            <a:spAutoFit/>
          </a:bodyPr>
          <a:lstStyle/>
          <a:p>
            <a:r>
              <a:rPr lang="en-US" dirty="0"/>
              <a:t>One way to sample points inside a unit circle is by switching to </a:t>
            </a:r>
            <a:r>
              <a:rPr lang="en-US" b="1" dirty="0"/>
              <a:t>polar coordinates</a:t>
            </a:r>
            <a:r>
              <a:rPr lang="en-US" dirty="0"/>
              <a:t>:</a:t>
            </a:r>
          </a:p>
        </p:txBody>
      </p:sp>
      <p:pic>
        <p:nvPicPr>
          <p:cNvPr id="9" name="Picture 8">
            <a:extLst>
              <a:ext uri="{FF2B5EF4-FFF2-40B4-BE49-F238E27FC236}">
                <a16:creationId xmlns:a16="http://schemas.microsoft.com/office/drawing/2014/main" id="{3BB00874-3B91-85B6-386A-168EB2E6DDE2}"/>
              </a:ext>
            </a:extLst>
          </p:cNvPr>
          <p:cNvPicPr>
            <a:picLocks noChangeAspect="1"/>
          </p:cNvPicPr>
          <p:nvPr/>
        </p:nvPicPr>
        <p:blipFill>
          <a:blip r:embed="rId4"/>
          <a:stretch>
            <a:fillRect/>
          </a:stretch>
        </p:blipFill>
        <p:spPr>
          <a:xfrm>
            <a:off x="5120528" y="1559706"/>
            <a:ext cx="2711507" cy="30360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9AC2AD2-F02A-C032-55B2-E9657D0925D3}"/>
                  </a:ext>
                </a:extLst>
              </p:cNvPr>
              <p:cNvSpPr txBox="1"/>
              <p:nvPr/>
            </p:nvSpPr>
            <p:spPr>
              <a:xfrm>
                <a:off x="1090819" y="1775228"/>
                <a:ext cx="6097656" cy="369397"/>
              </a:xfrm>
              <a:prstGeom prst="rect">
                <a:avLst/>
              </a:prstGeom>
              <a:noFill/>
            </p:spPr>
            <p:txBody>
              <a:bodyPr wrap="square">
                <a:spAutoFit/>
              </a:bodyPr>
              <a:lstStyle/>
              <a:p>
                <a:r>
                  <a:rPr lang="en-US" dirty="0"/>
                  <a:t>where we sample r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[0,1)  and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r>
                      <m:rPr>
                        <m:nor/>
                      </m:rPr>
                      <a:rPr lang="en-US"/>
                      <m:t>[0, 2</m:t>
                    </m:r>
                    <m:r>
                      <m:rPr>
                        <m:sty m:val="p"/>
                      </m:rPr>
                      <a:rPr lang="el-GR" i="1" smtClean="0">
                        <a:latin typeface="Cambria Math" panose="02040503050406030204" pitchFamily="18" charset="0"/>
                        <a:ea typeface="Cambria Math" panose="02040503050406030204" pitchFamily="18" charset="0"/>
                      </a:rPr>
                      <m:t>π</m:t>
                    </m:r>
                    <m:r>
                      <m:rPr>
                        <m:nor/>
                      </m:rPr>
                      <a:rPr lang="en-US"/>
                      <m:t>)</m:t>
                    </m:r>
                    <m:r>
                      <a:rPr lang="en-US" b="0" i="1" dirty="0" smtClean="0">
                        <a:latin typeface="Cambria Math" panose="02040503050406030204" pitchFamily="18" charset="0"/>
                        <a:ea typeface="Cambria Math" panose="02040503050406030204" pitchFamily="18" charset="0"/>
                      </a:rPr>
                      <m:t>.</m:t>
                    </m:r>
                  </m:oMath>
                </a14:m>
                <a:endParaRPr lang="en-US" dirty="0"/>
              </a:p>
            </p:txBody>
          </p:sp>
        </mc:Choice>
        <mc:Fallback xmlns="">
          <p:sp>
            <p:nvSpPr>
              <p:cNvPr id="11" name="TextBox 10">
                <a:extLst>
                  <a:ext uri="{FF2B5EF4-FFF2-40B4-BE49-F238E27FC236}">
                    <a16:creationId xmlns:a16="http://schemas.microsoft.com/office/drawing/2014/main" id="{C9AC2AD2-F02A-C032-55B2-E9657D0925D3}"/>
                  </a:ext>
                </a:extLst>
              </p:cNvPr>
              <p:cNvSpPr txBox="1">
                <a:spLocks noRot="1" noChangeAspect="1" noMove="1" noResize="1" noEditPoints="1" noAdjustHandles="1" noChangeArrowheads="1" noChangeShapeType="1" noTextEdit="1"/>
              </p:cNvSpPr>
              <p:nvPr/>
            </p:nvSpPr>
            <p:spPr>
              <a:xfrm>
                <a:off x="1090819" y="1775228"/>
                <a:ext cx="6097656" cy="369397"/>
              </a:xfrm>
              <a:prstGeom prst="rect">
                <a:avLst/>
              </a:prstGeom>
              <a:blipFill>
                <a:blip r:embed="rId5"/>
                <a:stretch>
                  <a:fillRect l="-624" t="-1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E246EB-AA63-FC04-0D62-1D55E2E6C66F}"/>
                  </a:ext>
                </a:extLst>
              </p:cNvPr>
              <p:cNvSpPr txBox="1"/>
              <p:nvPr/>
            </p:nvSpPr>
            <p:spPr>
              <a:xfrm>
                <a:off x="1090819" y="2230883"/>
                <a:ext cx="10627416" cy="369332"/>
              </a:xfrm>
              <a:prstGeom prst="rect">
                <a:avLst/>
              </a:prstGeom>
              <a:noFill/>
            </p:spPr>
            <p:txBody>
              <a:bodyPr wrap="square">
                <a:spAutoFit/>
              </a:bodyPr>
              <a:lstStyle/>
              <a:p>
                <a:r>
                  <a:rPr lang="en-US" dirty="0"/>
                  <a:t>Naively, one could sample r and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oMath>
                </a14:m>
                <a:r>
                  <a:rPr lang="en-US" dirty="0"/>
                  <a:t> independently from two uniform distributions. Let’s see what happens!</a:t>
                </a:r>
              </a:p>
            </p:txBody>
          </p:sp>
        </mc:Choice>
        <mc:Fallback xmlns="">
          <p:sp>
            <p:nvSpPr>
              <p:cNvPr id="13" name="TextBox 12">
                <a:extLst>
                  <a:ext uri="{FF2B5EF4-FFF2-40B4-BE49-F238E27FC236}">
                    <a16:creationId xmlns:a16="http://schemas.microsoft.com/office/drawing/2014/main" id="{FAE246EB-AA63-FC04-0D62-1D55E2E6C66F}"/>
                  </a:ext>
                </a:extLst>
              </p:cNvPr>
              <p:cNvSpPr txBox="1">
                <a:spLocks noRot="1" noChangeAspect="1" noMove="1" noResize="1" noEditPoints="1" noAdjustHandles="1" noChangeArrowheads="1" noChangeShapeType="1" noTextEdit="1"/>
              </p:cNvSpPr>
              <p:nvPr/>
            </p:nvSpPr>
            <p:spPr>
              <a:xfrm>
                <a:off x="1090819" y="2230883"/>
                <a:ext cx="10627416" cy="369332"/>
              </a:xfrm>
              <a:prstGeom prst="rect">
                <a:avLst/>
              </a:prstGeom>
              <a:blipFill>
                <a:blip r:embed="rId6"/>
                <a:stretch>
                  <a:fillRect l="-35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31317541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62D7-A24F-5769-D6CD-A478ABB15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806B0-7FE1-49E7-D8EC-B9623F5810FC}"/>
              </a:ext>
            </a:extLst>
          </p:cNvPr>
          <p:cNvSpPr>
            <a:spLocks noGrp="1"/>
          </p:cNvSpPr>
          <p:nvPr>
            <p:ph type="title"/>
          </p:nvPr>
        </p:nvSpPr>
        <p:spPr/>
        <p:txBody>
          <a:bodyPr/>
          <a:lstStyle/>
          <a:p>
            <a:r>
              <a:rPr lang="en-US" dirty="0">
                <a:latin typeface="LM Sans 10" panose="00000500000000000000" pitchFamily="50" charset="0"/>
              </a:rPr>
              <a:t>Sampling points inside a circle</a:t>
            </a:r>
            <a:endParaRPr lang="uk-UA" dirty="0"/>
          </a:p>
        </p:txBody>
      </p:sp>
      <p:sp>
        <p:nvSpPr>
          <p:cNvPr id="4" name="Text Placeholder 3">
            <a:extLst>
              <a:ext uri="{FF2B5EF4-FFF2-40B4-BE49-F238E27FC236}">
                <a16:creationId xmlns:a16="http://schemas.microsoft.com/office/drawing/2014/main" id="{C86F7019-DFBF-2D11-2786-4847A2770547}"/>
              </a:ext>
            </a:extLst>
          </p:cNvPr>
          <p:cNvSpPr>
            <a:spLocks noGrp="1"/>
          </p:cNvSpPr>
          <p:nvPr>
            <p:ph type="body" sz="quarter" idx="12"/>
          </p:nvPr>
        </p:nvSpPr>
        <p:spPr/>
        <p:txBody>
          <a:bodyPr/>
          <a:lstStyle/>
          <a:p>
            <a:endParaRPr lang="en-US"/>
          </a:p>
        </p:txBody>
      </p:sp>
      <p:pic>
        <p:nvPicPr>
          <p:cNvPr id="6" name="Picture 5">
            <a:extLst>
              <a:ext uri="{FF2B5EF4-FFF2-40B4-BE49-F238E27FC236}">
                <a16:creationId xmlns:a16="http://schemas.microsoft.com/office/drawing/2014/main" id="{5F866EDB-878C-AD6A-AC7C-B403C43C229D}"/>
              </a:ext>
            </a:extLst>
          </p:cNvPr>
          <p:cNvPicPr>
            <a:picLocks noChangeAspect="1"/>
          </p:cNvPicPr>
          <p:nvPr/>
        </p:nvPicPr>
        <p:blipFill>
          <a:blip r:embed="rId3"/>
          <a:stretch>
            <a:fillRect/>
          </a:stretch>
        </p:blipFill>
        <p:spPr>
          <a:xfrm>
            <a:off x="1457883" y="3024368"/>
            <a:ext cx="3229482" cy="2466835"/>
          </a:xfrm>
          <a:prstGeom prst="rect">
            <a:avLst/>
          </a:prstGeom>
        </p:spPr>
      </p:pic>
      <p:pic>
        <p:nvPicPr>
          <p:cNvPr id="14338" name="Picture 2">
            <a:extLst>
              <a:ext uri="{FF2B5EF4-FFF2-40B4-BE49-F238E27FC236}">
                <a16:creationId xmlns:a16="http://schemas.microsoft.com/office/drawing/2014/main" id="{CA7B59C7-D406-ED22-4AE5-B557E2D9A5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580" y="2699503"/>
            <a:ext cx="4421815" cy="32151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EB40027-5A8C-5583-0CCE-87B69E305784}"/>
              </a:ext>
            </a:extLst>
          </p:cNvPr>
          <p:cNvSpPr txBox="1"/>
          <p:nvPr/>
        </p:nvSpPr>
        <p:spPr>
          <a:xfrm>
            <a:off x="1090819" y="6268195"/>
            <a:ext cx="3799438" cy="369332"/>
          </a:xfrm>
          <a:prstGeom prst="rect">
            <a:avLst/>
          </a:prstGeom>
          <a:noFill/>
        </p:spPr>
        <p:txBody>
          <a:bodyPr wrap="none" rtlCol="0">
            <a:spAutoFit/>
          </a:bodyPr>
          <a:lstStyle/>
          <a:p>
            <a:r>
              <a:rPr lang="en-US" dirty="0"/>
              <a:t>The points clump more in the center!</a:t>
            </a:r>
          </a:p>
        </p:txBody>
      </p:sp>
      <p:sp>
        <p:nvSpPr>
          <p:cNvPr id="8" name="TextBox 7">
            <a:extLst>
              <a:ext uri="{FF2B5EF4-FFF2-40B4-BE49-F238E27FC236}">
                <a16:creationId xmlns:a16="http://schemas.microsoft.com/office/drawing/2014/main" id="{46438013-482A-B7BF-B73D-FF28629F1AE1}"/>
              </a:ext>
            </a:extLst>
          </p:cNvPr>
          <p:cNvSpPr txBox="1"/>
          <p:nvPr/>
        </p:nvSpPr>
        <p:spPr>
          <a:xfrm>
            <a:off x="1090819" y="1165086"/>
            <a:ext cx="8311598" cy="369332"/>
          </a:xfrm>
          <a:prstGeom prst="rect">
            <a:avLst/>
          </a:prstGeom>
          <a:noFill/>
        </p:spPr>
        <p:txBody>
          <a:bodyPr wrap="square">
            <a:spAutoFit/>
          </a:bodyPr>
          <a:lstStyle/>
          <a:p>
            <a:r>
              <a:rPr lang="en-US" dirty="0"/>
              <a:t>One way to sample points inside a unit circle is by switching to </a:t>
            </a:r>
            <a:r>
              <a:rPr lang="en-US" b="1" dirty="0"/>
              <a:t>polar coordinates</a:t>
            </a:r>
            <a:r>
              <a:rPr lang="en-US" dirty="0"/>
              <a:t>:</a:t>
            </a:r>
          </a:p>
        </p:txBody>
      </p:sp>
      <p:pic>
        <p:nvPicPr>
          <p:cNvPr id="9" name="Picture 8">
            <a:extLst>
              <a:ext uri="{FF2B5EF4-FFF2-40B4-BE49-F238E27FC236}">
                <a16:creationId xmlns:a16="http://schemas.microsoft.com/office/drawing/2014/main" id="{FBAF12C5-DFD4-16F2-D34B-296C0309DC66}"/>
              </a:ext>
            </a:extLst>
          </p:cNvPr>
          <p:cNvPicPr>
            <a:picLocks noChangeAspect="1"/>
          </p:cNvPicPr>
          <p:nvPr/>
        </p:nvPicPr>
        <p:blipFill>
          <a:blip r:embed="rId5"/>
          <a:stretch>
            <a:fillRect/>
          </a:stretch>
        </p:blipFill>
        <p:spPr>
          <a:xfrm>
            <a:off x="5120528" y="1559706"/>
            <a:ext cx="2711507" cy="30360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EB5FE9D-A129-2E95-19FF-DEE7A17885C8}"/>
                  </a:ext>
                </a:extLst>
              </p:cNvPr>
              <p:cNvSpPr txBox="1"/>
              <p:nvPr/>
            </p:nvSpPr>
            <p:spPr>
              <a:xfrm>
                <a:off x="1090819" y="1775228"/>
                <a:ext cx="6097656" cy="369397"/>
              </a:xfrm>
              <a:prstGeom prst="rect">
                <a:avLst/>
              </a:prstGeom>
              <a:noFill/>
            </p:spPr>
            <p:txBody>
              <a:bodyPr wrap="square">
                <a:spAutoFit/>
              </a:bodyPr>
              <a:lstStyle/>
              <a:p>
                <a:r>
                  <a:rPr lang="en-US" dirty="0"/>
                  <a:t>where we sample r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[0,1)  and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r>
                      <m:rPr>
                        <m:nor/>
                      </m:rPr>
                      <a:rPr lang="en-US"/>
                      <m:t>[0, 2</m:t>
                    </m:r>
                    <m:r>
                      <m:rPr>
                        <m:sty m:val="p"/>
                      </m:rPr>
                      <a:rPr lang="el-GR" i="1" smtClean="0">
                        <a:latin typeface="Cambria Math" panose="02040503050406030204" pitchFamily="18" charset="0"/>
                        <a:ea typeface="Cambria Math" panose="02040503050406030204" pitchFamily="18" charset="0"/>
                      </a:rPr>
                      <m:t>π</m:t>
                    </m:r>
                    <m:r>
                      <m:rPr>
                        <m:nor/>
                      </m:rPr>
                      <a:rPr lang="en-US"/>
                      <m:t>)</m:t>
                    </m:r>
                    <m:r>
                      <a:rPr lang="en-US" b="0" i="1" dirty="0" smtClean="0">
                        <a:latin typeface="Cambria Math" panose="02040503050406030204" pitchFamily="18" charset="0"/>
                        <a:ea typeface="Cambria Math" panose="02040503050406030204" pitchFamily="18" charset="0"/>
                      </a:rPr>
                      <m:t>.</m:t>
                    </m:r>
                  </m:oMath>
                </a14:m>
                <a:endParaRPr lang="en-US" dirty="0"/>
              </a:p>
            </p:txBody>
          </p:sp>
        </mc:Choice>
        <mc:Fallback xmlns="">
          <p:sp>
            <p:nvSpPr>
              <p:cNvPr id="11" name="TextBox 10">
                <a:extLst>
                  <a:ext uri="{FF2B5EF4-FFF2-40B4-BE49-F238E27FC236}">
                    <a16:creationId xmlns:a16="http://schemas.microsoft.com/office/drawing/2014/main" id="{BEB5FE9D-A129-2E95-19FF-DEE7A17885C8}"/>
                  </a:ext>
                </a:extLst>
              </p:cNvPr>
              <p:cNvSpPr txBox="1">
                <a:spLocks noRot="1" noChangeAspect="1" noMove="1" noResize="1" noEditPoints="1" noAdjustHandles="1" noChangeArrowheads="1" noChangeShapeType="1" noTextEdit="1"/>
              </p:cNvSpPr>
              <p:nvPr/>
            </p:nvSpPr>
            <p:spPr>
              <a:xfrm>
                <a:off x="1090819" y="1775228"/>
                <a:ext cx="6097656" cy="369397"/>
              </a:xfrm>
              <a:prstGeom prst="rect">
                <a:avLst/>
              </a:prstGeom>
              <a:blipFill>
                <a:blip r:embed="rId6"/>
                <a:stretch>
                  <a:fillRect l="-624" t="-1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12956BF-1963-B7B9-3637-65F02C0459EE}"/>
                  </a:ext>
                </a:extLst>
              </p:cNvPr>
              <p:cNvSpPr txBox="1"/>
              <p:nvPr/>
            </p:nvSpPr>
            <p:spPr>
              <a:xfrm>
                <a:off x="1090819" y="2230883"/>
                <a:ext cx="10627416" cy="369332"/>
              </a:xfrm>
              <a:prstGeom prst="rect">
                <a:avLst/>
              </a:prstGeom>
              <a:noFill/>
            </p:spPr>
            <p:txBody>
              <a:bodyPr wrap="square">
                <a:spAutoFit/>
              </a:bodyPr>
              <a:lstStyle/>
              <a:p>
                <a:r>
                  <a:rPr lang="en-US" dirty="0"/>
                  <a:t>Naively, one could sample r and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oMath>
                </a14:m>
                <a:r>
                  <a:rPr lang="en-US" dirty="0"/>
                  <a:t> independently from two uniform distributions. Let’s see what happens!</a:t>
                </a:r>
              </a:p>
            </p:txBody>
          </p:sp>
        </mc:Choice>
        <mc:Fallback xmlns="">
          <p:sp>
            <p:nvSpPr>
              <p:cNvPr id="13" name="TextBox 12">
                <a:extLst>
                  <a:ext uri="{FF2B5EF4-FFF2-40B4-BE49-F238E27FC236}">
                    <a16:creationId xmlns:a16="http://schemas.microsoft.com/office/drawing/2014/main" id="{312956BF-1963-B7B9-3637-65F02C0459EE}"/>
                  </a:ext>
                </a:extLst>
              </p:cNvPr>
              <p:cNvSpPr txBox="1">
                <a:spLocks noRot="1" noChangeAspect="1" noMove="1" noResize="1" noEditPoints="1" noAdjustHandles="1" noChangeArrowheads="1" noChangeShapeType="1" noTextEdit="1"/>
              </p:cNvSpPr>
              <p:nvPr/>
            </p:nvSpPr>
            <p:spPr>
              <a:xfrm>
                <a:off x="1090819" y="2230883"/>
                <a:ext cx="10627416" cy="369332"/>
              </a:xfrm>
              <a:prstGeom prst="rect">
                <a:avLst/>
              </a:prstGeom>
              <a:blipFill>
                <a:blip r:embed="rId7"/>
                <a:stretch>
                  <a:fillRect l="-35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19456231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BE740-23FD-4145-0479-08F4BCAAE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CD8BE-90CF-493A-C915-6A8E8E7F6B60}"/>
              </a:ext>
            </a:extLst>
          </p:cNvPr>
          <p:cNvSpPr>
            <a:spLocks noGrp="1"/>
          </p:cNvSpPr>
          <p:nvPr>
            <p:ph type="title"/>
          </p:nvPr>
        </p:nvSpPr>
        <p:spPr/>
        <p:txBody>
          <a:bodyPr/>
          <a:lstStyle/>
          <a:p>
            <a:r>
              <a:rPr lang="en-US" dirty="0">
                <a:latin typeface="LM Sans 10" panose="00000500000000000000" pitchFamily="50" charset="0"/>
              </a:rPr>
              <a:t>Sampling points inside a circle</a:t>
            </a:r>
            <a:endParaRPr lang="uk-UA" dirty="0"/>
          </a:p>
        </p:txBody>
      </p:sp>
      <p:sp>
        <p:nvSpPr>
          <p:cNvPr id="4" name="Text Placeholder 3">
            <a:extLst>
              <a:ext uri="{FF2B5EF4-FFF2-40B4-BE49-F238E27FC236}">
                <a16:creationId xmlns:a16="http://schemas.microsoft.com/office/drawing/2014/main" id="{EB703274-5EC2-938F-FD22-AFFF6F29578E}"/>
              </a:ext>
            </a:extLst>
          </p:cNvPr>
          <p:cNvSpPr>
            <a:spLocks noGrp="1"/>
          </p:cNvSpPr>
          <p:nvPr>
            <p:ph type="body" sz="quarter" idx="12"/>
          </p:nvPr>
        </p:nvSpPr>
        <p:spPr/>
        <p:txBody>
          <a:bodyPr/>
          <a:lstStyle/>
          <a:p>
            <a:endParaRPr lang="en-US"/>
          </a:p>
        </p:txBody>
      </p:sp>
      <p:sp>
        <p:nvSpPr>
          <p:cNvPr id="6" name="TextBox 5">
            <a:extLst>
              <a:ext uri="{FF2B5EF4-FFF2-40B4-BE49-F238E27FC236}">
                <a16:creationId xmlns:a16="http://schemas.microsoft.com/office/drawing/2014/main" id="{7AAC5910-81E7-4154-4E7F-196C79C485F1}"/>
              </a:ext>
            </a:extLst>
          </p:cNvPr>
          <p:cNvSpPr txBox="1"/>
          <p:nvPr/>
        </p:nvSpPr>
        <p:spPr>
          <a:xfrm>
            <a:off x="718730" y="1172111"/>
            <a:ext cx="8653870" cy="369332"/>
          </a:xfrm>
          <a:prstGeom prst="rect">
            <a:avLst/>
          </a:prstGeom>
          <a:noFill/>
        </p:spPr>
        <p:txBody>
          <a:bodyPr wrap="square">
            <a:spAutoFit/>
          </a:bodyPr>
          <a:lstStyle/>
          <a:p>
            <a:pPr marL="285750" indent="-285750">
              <a:buFont typeface="Arial" panose="020B0604020202020204" pitchFamily="34" charset="0"/>
              <a:buChar char="•"/>
            </a:pPr>
            <a:r>
              <a:rPr lang="en-US" dirty="0"/>
              <a:t>The points </a:t>
            </a:r>
            <a:r>
              <a:rPr lang="en-US" b="1" dirty="0"/>
              <a:t>clump more in the center</a:t>
            </a:r>
            <a:r>
              <a:rPr lang="en-US" dirty="0"/>
              <a:t> because r is </a:t>
            </a:r>
            <a:r>
              <a:rPr lang="en-US" b="1" dirty="0"/>
              <a:t>not uniformly distributed</a:t>
            </a:r>
            <a:r>
              <a:rPr lang="en-US" dirty="0"/>
              <a:t>.</a:t>
            </a:r>
          </a:p>
        </p:txBody>
      </p:sp>
      <p:sp>
        <p:nvSpPr>
          <p:cNvPr id="9" name="TextBox 8">
            <a:extLst>
              <a:ext uri="{FF2B5EF4-FFF2-40B4-BE49-F238E27FC236}">
                <a16:creationId xmlns:a16="http://schemas.microsoft.com/office/drawing/2014/main" id="{54D33C2F-8334-D71E-0D3D-CD5191C2357B}"/>
              </a:ext>
            </a:extLst>
          </p:cNvPr>
          <p:cNvSpPr txBox="1"/>
          <p:nvPr/>
        </p:nvSpPr>
        <p:spPr>
          <a:xfrm>
            <a:off x="718730" y="1633473"/>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Recall the </a:t>
            </a:r>
            <a:r>
              <a:rPr lang="en-US" b="1" dirty="0"/>
              <a:t>differential area element</a:t>
            </a:r>
            <a:r>
              <a:rPr lang="en-US" dirty="0"/>
              <a:t> in polar coordinates:</a:t>
            </a:r>
          </a:p>
        </p:txBody>
      </p:sp>
      <p:pic>
        <p:nvPicPr>
          <p:cNvPr id="10" name="Picture 9">
            <a:extLst>
              <a:ext uri="{FF2B5EF4-FFF2-40B4-BE49-F238E27FC236}">
                <a16:creationId xmlns:a16="http://schemas.microsoft.com/office/drawing/2014/main" id="{225A3632-7D38-8A49-7738-7D42124B2F98}"/>
              </a:ext>
            </a:extLst>
          </p:cNvPr>
          <p:cNvPicPr>
            <a:picLocks noChangeAspect="1"/>
          </p:cNvPicPr>
          <p:nvPr/>
        </p:nvPicPr>
        <p:blipFill>
          <a:blip r:embed="rId3"/>
          <a:stretch>
            <a:fillRect/>
          </a:stretch>
        </p:blipFill>
        <p:spPr>
          <a:xfrm>
            <a:off x="6882941" y="1689681"/>
            <a:ext cx="1498600" cy="317500"/>
          </a:xfrm>
          <a:prstGeom prst="rect">
            <a:avLst/>
          </a:prstGeom>
        </p:spPr>
      </p:pic>
      <p:sp>
        <p:nvSpPr>
          <p:cNvPr id="12" name="TextBox 11">
            <a:extLst>
              <a:ext uri="{FF2B5EF4-FFF2-40B4-BE49-F238E27FC236}">
                <a16:creationId xmlns:a16="http://schemas.microsoft.com/office/drawing/2014/main" id="{63878467-0DEC-38FF-64C5-8D1B66AD9A20}"/>
              </a:ext>
            </a:extLst>
          </p:cNvPr>
          <p:cNvSpPr txBox="1"/>
          <p:nvPr/>
        </p:nvSpPr>
        <p:spPr>
          <a:xfrm>
            <a:off x="718730" y="2069195"/>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This leads to the probability density functions:</a:t>
            </a:r>
          </a:p>
        </p:txBody>
      </p:sp>
      <p:pic>
        <p:nvPicPr>
          <p:cNvPr id="13" name="Picture 12">
            <a:extLst>
              <a:ext uri="{FF2B5EF4-FFF2-40B4-BE49-F238E27FC236}">
                <a16:creationId xmlns:a16="http://schemas.microsoft.com/office/drawing/2014/main" id="{9108E806-2276-548D-3981-3DECFDFD0BB6}"/>
              </a:ext>
            </a:extLst>
          </p:cNvPr>
          <p:cNvPicPr>
            <a:picLocks noChangeAspect="1"/>
          </p:cNvPicPr>
          <p:nvPr/>
        </p:nvPicPr>
        <p:blipFill>
          <a:blip r:embed="rId4"/>
          <a:stretch>
            <a:fillRect/>
          </a:stretch>
        </p:blipFill>
        <p:spPr>
          <a:xfrm>
            <a:off x="5663741" y="1967782"/>
            <a:ext cx="2617304" cy="638367"/>
          </a:xfrm>
          <a:prstGeom prst="rect">
            <a:avLst/>
          </a:prstGeom>
        </p:spPr>
      </p:pic>
      <p:sp>
        <p:nvSpPr>
          <p:cNvPr id="15" name="TextBox 14">
            <a:extLst>
              <a:ext uri="{FF2B5EF4-FFF2-40B4-BE49-F238E27FC236}">
                <a16:creationId xmlns:a16="http://schemas.microsoft.com/office/drawing/2014/main" id="{A056A495-A5A5-03E6-0EA8-DCA536AFB3DE}"/>
              </a:ext>
            </a:extLst>
          </p:cNvPr>
          <p:cNvSpPr txBox="1"/>
          <p:nvPr/>
        </p:nvSpPr>
        <p:spPr>
          <a:xfrm>
            <a:off x="718730" y="2545599"/>
            <a:ext cx="6097656" cy="369332"/>
          </a:xfrm>
          <a:prstGeom prst="rect">
            <a:avLst/>
          </a:prstGeom>
          <a:noFill/>
        </p:spPr>
        <p:txBody>
          <a:bodyPr wrap="square">
            <a:spAutoFit/>
          </a:bodyPr>
          <a:lstStyle/>
          <a:p>
            <a:pPr marL="285750" indent="-285750">
              <a:buFont typeface="Arial" panose="020B0604020202020204" pitchFamily="34" charset="0"/>
              <a:buChar char="•"/>
            </a:pPr>
            <a:r>
              <a:rPr lang="en-US" b="1" dirty="0"/>
              <a:t>Cumulative Distribution Function (CDF)</a:t>
            </a:r>
            <a:endParaRPr lang="en-US" dirty="0"/>
          </a:p>
        </p:txBody>
      </p:sp>
      <p:pic>
        <p:nvPicPr>
          <p:cNvPr id="16" name="Picture 15">
            <a:extLst>
              <a:ext uri="{FF2B5EF4-FFF2-40B4-BE49-F238E27FC236}">
                <a16:creationId xmlns:a16="http://schemas.microsoft.com/office/drawing/2014/main" id="{24B5956B-C558-B31C-2657-CB8C822D3971}"/>
              </a:ext>
            </a:extLst>
          </p:cNvPr>
          <p:cNvPicPr>
            <a:picLocks noChangeAspect="1"/>
          </p:cNvPicPr>
          <p:nvPr/>
        </p:nvPicPr>
        <p:blipFill>
          <a:blip r:embed="rId5"/>
          <a:stretch>
            <a:fillRect/>
          </a:stretch>
        </p:blipFill>
        <p:spPr>
          <a:xfrm>
            <a:off x="5045665" y="2914931"/>
            <a:ext cx="2091541" cy="551934"/>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59960C5-2881-B51C-4BF8-975797E58F6A}"/>
                  </a:ext>
                </a:extLst>
              </p:cNvPr>
              <p:cNvSpPr txBox="1"/>
              <p:nvPr/>
            </p:nvSpPr>
            <p:spPr>
              <a:xfrm>
                <a:off x="718730" y="3466865"/>
                <a:ext cx="7053670" cy="369332"/>
              </a:xfrm>
              <a:prstGeom prst="rect">
                <a:avLst/>
              </a:prstGeom>
              <a:noFill/>
            </p:spPr>
            <p:txBody>
              <a:bodyPr wrap="square">
                <a:spAutoFit/>
              </a:bodyPr>
              <a:lstStyle/>
              <a:p>
                <a:pPr marL="285750" indent="-285750">
                  <a:buFont typeface="Arial" panose="020B0604020202020204" pitchFamily="34" charset="0"/>
                  <a:buChar char="•"/>
                </a:pPr>
                <a:r>
                  <a:rPr lang="en-US" dirty="0"/>
                  <a:t>To obtain a properly distributed r, we solve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𝑟</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𝜂</m:t>
                    </m:r>
                  </m:oMath>
                </a14:m>
                <a:r>
                  <a:rPr lang="en-US" dirty="0"/>
                  <a:t> which gives:</a:t>
                </a:r>
              </a:p>
            </p:txBody>
          </p:sp>
        </mc:Choice>
        <mc:Fallback xmlns="">
          <p:sp>
            <p:nvSpPr>
              <p:cNvPr id="18" name="TextBox 17">
                <a:extLst>
                  <a:ext uri="{FF2B5EF4-FFF2-40B4-BE49-F238E27FC236}">
                    <a16:creationId xmlns:a16="http://schemas.microsoft.com/office/drawing/2014/main" id="{359960C5-2881-B51C-4BF8-975797E58F6A}"/>
                  </a:ext>
                </a:extLst>
              </p:cNvPr>
              <p:cNvSpPr txBox="1">
                <a:spLocks noRot="1" noChangeAspect="1" noMove="1" noResize="1" noEditPoints="1" noAdjustHandles="1" noChangeArrowheads="1" noChangeShapeType="1" noTextEdit="1"/>
              </p:cNvSpPr>
              <p:nvPr/>
            </p:nvSpPr>
            <p:spPr>
              <a:xfrm>
                <a:off x="718730" y="3466865"/>
                <a:ext cx="7053670" cy="369332"/>
              </a:xfrm>
              <a:prstGeom prst="rect">
                <a:avLst/>
              </a:prstGeom>
              <a:blipFill>
                <a:blip r:embed="rId6"/>
                <a:stretch>
                  <a:fillRect l="-540" t="-10345"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A37C6-69C2-EB20-F395-2808D1B7A9BA}"/>
                  </a:ext>
                </a:extLst>
              </p:cNvPr>
              <p:cNvSpPr txBox="1"/>
              <p:nvPr/>
            </p:nvSpPr>
            <p:spPr>
              <a:xfrm>
                <a:off x="7772400" y="3445766"/>
                <a:ext cx="957185" cy="3704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m:t>
                      </m:r>
                      <m:rad>
                        <m:radPr>
                          <m:degHide m:val="on"/>
                          <m:ctrlPr>
                            <a:rPr lang="en-US" i="1" dirty="0" smtClean="0">
                              <a:latin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𝜂</m:t>
                          </m:r>
                        </m:e>
                      </m:rad>
                    </m:oMath>
                  </m:oMathPara>
                </a14:m>
                <a:endParaRPr lang="en-US" dirty="0"/>
              </a:p>
            </p:txBody>
          </p:sp>
        </mc:Choice>
        <mc:Fallback xmlns="">
          <p:sp>
            <p:nvSpPr>
              <p:cNvPr id="19" name="TextBox 18">
                <a:extLst>
                  <a:ext uri="{FF2B5EF4-FFF2-40B4-BE49-F238E27FC236}">
                    <a16:creationId xmlns:a16="http://schemas.microsoft.com/office/drawing/2014/main" id="{27EA37C6-69C2-EB20-F395-2808D1B7A9BA}"/>
                  </a:ext>
                </a:extLst>
              </p:cNvPr>
              <p:cNvSpPr txBox="1">
                <a:spLocks noRot="1" noChangeAspect="1" noMove="1" noResize="1" noEditPoints="1" noAdjustHandles="1" noChangeArrowheads="1" noChangeShapeType="1" noTextEdit="1"/>
              </p:cNvSpPr>
              <p:nvPr/>
            </p:nvSpPr>
            <p:spPr>
              <a:xfrm>
                <a:off x="7772400" y="3445766"/>
                <a:ext cx="957185" cy="370422"/>
              </a:xfrm>
              <a:prstGeom prst="rect">
                <a:avLst/>
              </a:prstGeom>
              <a:blipFill>
                <a:blip r:embed="rId7"/>
                <a:stretch>
                  <a:fillRect b="-6667"/>
                </a:stretch>
              </a:blipFill>
            </p:spPr>
            <p:txBody>
              <a:bodyPr/>
              <a:lstStyle/>
              <a:p>
                <a:r>
                  <a:rPr lang="en-US">
                    <a:noFill/>
                  </a:rPr>
                  <a:t> </a:t>
                </a:r>
              </a:p>
            </p:txBody>
          </p:sp>
        </mc:Fallback>
      </mc:AlternateContent>
      <p:sp>
        <p:nvSpPr>
          <p:cNvPr id="20" name="Rounded Rectangle 19">
            <a:extLst>
              <a:ext uri="{FF2B5EF4-FFF2-40B4-BE49-F238E27FC236}">
                <a16:creationId xmlns:a16="http://schemas.microsoft.com/office/drawing/2014/main" id="{732D3BAA-8F18-1B42-F51C-A6CF90F41B6F}"/>
              </a:ext>
            </a:extLst>
          </p:cNvPr>
          <p:cNvSpPr/>
          <p:nvPr/>
        </p:nvSpPr>
        <p:spPr>
          <a:xfrm>
            <a:off x="7772400" y="3391135"/>
            <a:ext cx="1073426" cy="5054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4150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points inside a circle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51AC4022-0390-F096-A789-6757A4183D37}"/>
              </a:ext>
            </a:extLst>
          </p:cNvPr>
          <p:cNvPicPr>
            <a:picLocks noChangeAspect="1"/>
          </p:cNvPicPr>
          <p:nvPr/>
        </p:nvPicPr>
        <p:blipFill>
          <a:blip r:embed="rId3"/>
          <a:stretch>
            <a:fillRect/>
          </a:stretch>
        </p:blipFill>
        <p:spPr>
          <a:xfrm>
            <a:off x="780713" y="3986662"/>
            <a:ext cx="3464852" cy="1001402"/>
          </a:xfrm>
          <a:prstGeom prst="rect">
            <a:avLst/>
          </a:prstGeom>
        </p:spPr>
      </p:pic>
      <p:pic>
        <p:nvPicPr>
          <p:cNvPr id="16386" name="Picture 2">
            <a:extLst>
              <a:ext uri="{FF2B5EF4-FFF2-40B4-BE49-F238E27FC236}">
                <a16:creationId xmlns:a16="http://schemas.microsoft.com/office/drawing/2014/main" id="{0337FB7E-E83F-2C3D-ABAB-5850105B3A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3472" y="3986662"/>
            <a:ext cx="3554948" cy="2584848"/>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FC6ED61D-B2E9-7831-25DC-046FDFD697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6312" y="3986662"/>
            <a:ext cx="3641415" cy="27310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57F5F0-3394-5938-9022-DDAA6E9D270B}"/>
              </a:ext>
            </a:extLst>
          </p:cNvPr>
          <p:cNvSpPr txBox="1"/>
          <p:nvPr/>
        </p:nvSpPr>
        <p:spPr>
          <a:xfrm>
            <a:off x="718730" y="1172111"/>
            <a:ext cx="8653870" cy="369332"/>
          </a:xfrm>
          <a:prstGeom prst="rect">
            <a:avLst/>
          </a:prstGeom>
          <a:noFill/>
        </p:spPr>
        <p:txBody>
          <a:bodyPr wrap="square">
            <a:spAutoFit/>
          </a:bodyPr>
          <a:lstStyle/>
          <a:p>
            <a:pPr marL="285750" indent="-285750">
              <a:buFont typeface="Arial" panose="020B0604020202020204" pitchFamily="34" charset="0"/>
              <a:buChar char="•"/>
            </a:pPr>
            <a:r>
              <a:rPr lang="en-US" dirty="0"/>
              <a:t>The points </a:t>
            </a:r>
            <a:r>
              <a:rPr lang="en-US" b="1" dirty="0"/>
              <a:t>clump more in the center</a:t>
            </a:r>
            <a:r>
              <a:rPr lang="en-US" dirty="0"/>
              <a:t> because r is </a:t>
            </a:r>
            <a:r>
              <a:rPr lang="en-US" b="1" dirty="0"/>
              <a:t>not uniformly distributed</a:t>
            </a:r>
            <a:r>
              <a:rPr lang="en-US" dirty="0"/>
              <a:t>.</a:t>
            </a:r>
          </a:p>
        </p:txBody>
      </p:sp>
      <p:sp>
        <p:nvSpPr>
          <p:cNvPr id="9" name="TextBox 8">
            <a:extLst>
              <a:ext uri="{FF2B5EF4-FFF2-40B4-BE49-F238E27FC236}">
                <a16:creationId xmlns:a16="http://schemas.microsoft.com/office/drawing/2014/main" id="{61F61525-3295-CFD6-AAD9-EE7676E16BCE}"/>
              </a:ext>
            </a:extLst>
          </p:cNvPr>
          <p:cNvSpPr txBox="1"/>
          <p:nvPr/>
        </p:nvSpPr>
        <p:spPr>
          <a:xfrm>
            <a:off x="718730" y="1633473"/>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Recall the </a:t>
            </a:r>
            <a:r>
              <a:rPr lang="en-US" b="1" dirty="0"/>
              <a:t>differential area element</a:t>
            </a:r>
            <a:r>
              <a:rPr lang="en-US" dirty="0"/>
              <a:t> in polar coordinates:</a:t>
            </a:r>
          </a:p>
        </p:txBody>
      </p:sp>
      <p:pic>
        <p:nvPicPr>
          <p:cNvPr id="10" name="Picture 9">
            <a:extLst>
              <a:ext uri="{FF2B5EF4-FFF2-40B4-BE49-F238E27FC236}">
                <a16:creationId xmlns:a16="http://schemas.microsoft.com/office/drawing/2014/main" id="{B1FB9DDA-0FC5-4D6C-BD76-01CDE663355A}"/>
              </a:ext>
            </a:extLst>
          </p:cNvPr>
          <p:cNvPicPr>
            <a:picLocks noChangeAspect="1"/>
          </p:cNvPicPr>
          <p:nvPr/>
        </p:nvPicPr>
        <p:blipFill>
          <a:blip r:embed="rId6"/>
          <a:stretch>
            <a:fillRect/>
          </a:stretch>
        </p:blipFill>
        <p:spPr>
          <a:xfrm>
            <a:off x="6882941" y="1689681"/>
            <a:ext cx="1498600" cy="317500"/>
          </a:xfrm>
          <a:prstGeom prst="rect">
            <a:avLst/>
          </a:prstGeom>
        </p:spPr>
      </p:pic>
      <p:sp>
        <p:nvSpPr>
          <p:cNvPr id="12" name="TextBox 11">
            <a:extLst>
              <a:ext uri="{FF2B5EF4-FFF2-40B4-BE49-F238E27FC236}">
                <a16:creationId xmlns:a16="http://schemas.microsoft.com/office/drawing/2014/main" id="{8E9A2983-C657-5F2C-2A56-037255975063}"/>
              </a:ext>
            </a:extLst>
          </p:cNvPr>
          <p:cNvSpPr txBox="1"/>
          <p:nvPr/>
        </p:nvSpPr>
        <p:spPr>
          <a:xfrm>
            <a:off x="718730" y="2069195"/>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This leads to the probability density functions:</a:t>
            </a:r>
          </a:p>
        </p:txBody>
      </p:sp>
      <p:pic>
        <p:nvPicPr>
          <p:cNvPr id="13" name="Picture 12">
            <a:extLst>
              <a:ext uri="{FF2B5EF4-FFF2-40B4-BE49-F238E27FC236}">
                <a16:creationId xmlns:a16="http://schemas.microsoft.com/office/drawing/2014/main" id="{2BBB67BA-F89A-F0B1-1C29-0B19A464E126}"/>
              </a:ext>
            </a:extLst>
          </p:cNvPr>
          <p:cNvPicPr>
            <a:picLocks noChangeAspect="1"/>
          </p:cNvPicPr>
          <p:nvPr/>
        </p:nvPicPr>
        <p:blipFill>
          <a:blip r:embed="rId7"/>
          <a:stretch>
            <a:fillRect/>
          </a:stretch>
        </p:blipFill>
        <p:spPr>
          <a:xfrm>
            <a:off x="5663741" y="1967782"/>
            <a:ext cx="2617304" cy="638367"/>
          </a:xfrm>
          <a:prstGeom prst="rect">
            <a:avLst/>
          </a:prstGeom>
        </p:spPr>
      </p:pic>
      <p:sp>
        <p:nvSpPr>
          <p:cNvPr id="15" name="TextBox 14">
            <a:extLst>
              <a:ext uri="{FF2B5EF4-FFF2-40B4-BE49-F238E27FC236}">
                <a16:creationId xmlns:a16="http://schemas.microsoft.com/office/drawing/2014/main" id="{BE6B38B5-E253-AED2-ECE5-F34E3B4094A7}"/>
              </a:ext>
            </a:extLst>
          </p:cNvPr>
          <p:cNvSpPr txBox="1"/>
          <p:nvPr/>
        </p:nvSpPr>
        <p:spPr>
          <a:xfrm>
            <a:off x="718730" y="2545599"/>
            <a:ext cx="6097656" cy="369332"/>
          </a:xfrm>
          <a:prstGeom prst="rect">
            <a:avLst/>
          </a:prstGeom>
          <a:noFill/>
        </p:spPr>
        <p:txBody>
          <a:bodyPr wrap="square">
            <a:spAutoFit/>
          </a:bodyPr>
          <a:lstStyle/>
          <a:p>
            <a:pPr marL="285750" indent="-285750">
              <a:buFont typeface="Arial" panose="020B0604020202020204" pitchFamily="34" charset="0"/>
              <a:buChar char="•"/>
            </a:pPr>
            <a:r>
              <a:rPr lang="en-US" b="1" dirty="0"/>
              <a:t>Cumulative Distribution Function (CDF)</a:t>
            </a:r>
            <a:endParaRPr lang="en-US" dirty="0"/>
          </a:p>
        </p:txBody>
      </p:sp>
      <p:pic>
        <p:nvPicPr>
          <p:cNvPr id="16" name="Picture 15">
            <a:extLst>
              <a:ext uri="{FF2B5EF4-FFF2-40B4-BE49-F238E27FC236}">
                <a16:creationId xmlns:a16="http://schemas.microsoft.com/office/drawing/2014/main" id="{2C6CC698-1495-F37D-0553-4D033B5E10CD}"/>
              </a:ext>
            </a:extLst>
          </p:cNvPr>
          <p:cNvPicPr>
            <a:picLocks noChangeAspect="1"/>
          </p:cNvPicPr>
          <p:nvPr/>
        </p:nvPicPr>
        <p:blipFill>
          <a:blip r:embed="rId8"/>
          <a:stretch>
            <a:fillRect/>
          </a:stretch>
        </p:blipFill>
        <p:spPr>
          <a:xfrm>
            <a:off x="5045665" y="2914931"/>
            <a:ext cx="2091541" cy="551934"/>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D14D70-8E21-226C-E5DD-4DA25D4F267F}"/>
                  </a:ext>
                </a:extLst>
              </p:cNvPr>
              <p:cNvSpPr txBox="1"/>
              <p:nvPr/>
            </p:nvSpPr>
            <p:spPr>
              <a:xfrm>
                <a:off x="718730" y="3466865"/>
                <a:ext cx="7053670" cy="369332"/>
              </a:xfrm>
              <a:prstGeom prst="rect">
                <a:avLst/>
              </a:prstGeom>
              <a:noFill/>
            </p:spPr>
            <p:txBody>
              <a:bodyPr wrap="square">
                <a:spAutoFit/>
              </a:bodyPr>
              <a:lstStyle/>
              <a:p>
                <a:pPr marL="285750" indent="-285750">
                  <a:buFont typeface="Arial" panose="020B0604020202020204" pitchFamily="34" charset="0"/>
                  <a:buChar char="•"/>
                </a:pPr>
                <a:r>
                  <a:rPr lang="en-US" dirty="0"/>
                  <a:t>To obtain a properly distributed r, we solve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𝑟</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𝜂</m:t>
                    </m:r>
                  </m:oMath>
                </a14:m>
                <a:r>
                  <a:rPr lang="en-US" dirty="0"/>
                  <a:t> which gives:</a:t>
                </a:r>
              </a:p>
            </p:txBody>
          </p:sp>
        </mc:Choice>
        <mc:Fallback xmlns="">
          <p:sp>
            <p:nvSpPr>
              <p:cNvPr id="18" name="TextBox 17">
                <a:extLst>
                  <a:ext uri="{FF2B5EF4-FFF2-40B4-BE49-F238E27FC236}">
                    <a16:creationId xmlns:a16="http://schemas.microsoft.com/office/drawing/2014/main" id="{5BD14D70-8E21-226C-E5DD-4DA25D4F267F}"/>
                  </a:ext>
                </a:extLst>
              </p:cNvPr>
              <p:cNvSpPr txBox="1">
                <a:spLocks noRot="1" noChangeAspect="1" noMove="1" noResize="1" noEditPoints="1" noAdjustHandles="1" noChangeArrowheads="1" noChangeShapeType="1" noTextEdit="1"/>
              </p:cNvSpPr>
              <p:nvPr/>
            </p:nvSpPr>
            <p:spPr>
              <a:xfrm>
                <a:off x="718730" y="3466865"/>
                <a:ext cx="7053670" cy="369332"/>
              </a:xfrm>
              <a:prstGeom prst="rect">
                <a:avLst/>
              </a:prstGeom>
              <a:blipFill>
                <a:blip r:embed="rId9"/>
                <a:stretch>
                  <a:fillRect l="-540" t="-10345"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A5D0E94-166D-DB47-A2AC-673D51C9FF42}"/>
                  </a:ext>
                </a:extLst>
              </p:cNvPr>
              <p:cNvSpPr txBox="1"/>
              <p:nvPr/>
            </p:nvSpPr>
            <p:spPr>
              <a:xfrm>
                <a:off x="7772400" y="3445766"/>
                <a:ext cx="957185" cy="3704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m:t>
                      </m:r>
                      <m:rad>
                        <m:radPr>
                          <m:degHide m:val="on"/>
                          <m:ctrlPr>
                            <a:rPr lang="en-US" i="1" dirty="0" smtClean="0">
                              <a:latin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𝜂</m:t>
                          </m:r>
                        </m:e>
                      </m:rad>
                    </m:oMath>
                  </m:oMathPara>
                </a14:m>
                <a:endParaRPr lang="en-US" dirty="0"/>
              </a:p>
            </p:txBody>
          </p:sp>
        </mc:Choice>
        <mc:Fallback xmlns="">
          <p:sp>
            <p:nvSpPr>
              <p:cNvPr id="19" name="TextBox 18">
                <a:extLst>
                  <a:ext uri="{FF2B5EF4-FFF2-40B4-BE49-F238E27FC236}">
                    <a16:creationId xmlns:a16="http://schemas.microsoft.com/office/drawing/2014/main" id="{CA5D0E94-166D-DB47-A2AC-673D51C9FF42}"/>
                  </a:ext>
                </a:extLst>
              </p:cNvPr>
              <p:cNvSpPr txBox="1">
                <a:spLocks noRot="1" noChangeAspect="1" noMove="1" noResize="1" noEditPoints="1" noAdjustHandles="1" noChangeArrowheads="1" noChangeShapeType="1" noTextEdit="1"/>
              </p:cNvSpPr>
              <p:nvPr/>
            </p:nvSpPr>
            <p:spPr>
              <a:xfrm>
                <a:off x="7772400" y="3445766"/>
                <a:ext cx="957185" cy="370422"/>
              </a:xfrm>
              <a:prstGeom prst="rect">
                <a:avLst/>
              </a:prstGeom>
              <a:blipFill>
                <a:blip r:embed="rId10"/>
                <a:stretch>
                  <a:fillRect b="-6667"/>
                </a:stretch>
              </a:blipFill>
            </p:spPr>
            <p:txBody>
              <a:bodyPr/>
              <a:lstStyle/>
              <a:p>
                <a:r>
                  <a:rPr lang="en-US">
                    <a:noFill/>
                  </a:rPr>
                  <a:t> </a:t>
                </a:r>
              </a:p>
            </p:txBody>
          </p:sp>
        </mc:Fallback>
      </mc:AlternateContent>
      <p:sp>
        <p:nvSpPr>
          <p:cNvPr id="20" name="Rounded Rectangle 19">
            <a:extLst>
              <a:ext uri="{FF2B5EF4-FFF2-40B4-BE49-F238E27FC236}">
                <a16:creationId xmlns:a16="http://schemas.microsoft.com/office/drawing/2014/main" id="{840FEDEF-46A7-72AC-5D87-161D17EB0816}"/>
              </a:ext>
            </a:extLst>
          </p:cNvPr>
          <p:cNvSpPr/>
          <p:nvPr/>
        </p:nvSpPr>
        <p:spPr>
          <a:xfrm>
            <a:off x="7772400" y="3391135"/>
            <a:ext cx="1073426" cy="5054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295F04-039B-80A0-7C05-0DC955AC1C5A}"/>
              </a:ext>
            </a:extLst>
          </p:cNvPr>
          <p:cNvSpPr txBox="1"/>
          <p:nvPr/>
        </p:nvSpPr>
        <p:spPr>
          <a:xfrm>
            <a:off x="702295" y="5352192"/>
            <a:ext cx="3379451" cy="923330"/>
          </a:xfrm>
          <a:prstGeom prst="rect">
            <a:avLst/>
          </a:prstGeom>
          <a:noFill/>
        </p:spPr>
        <p:txBody>
          <a:bodyPr wrap="none" rtlCol="0">
            <a:spAutoFit/>
          </a:bodyPr>
          <a:lstStyle/>
          <a:p>
            <a:r>
              <a:rPr lang="en-US" b="1" dirty="0"/>
              <a:t>Other examples (extra slides):</a:t>
            </a:r>
          </a:p>
          <a:p>
            <a:pPr marL="285750" indent="-285750">
              <a:buFont typeface="Arial" panose="020B0604020202020204" pitchFamily="34" charset="0"/>
              <a:buChar char="•"/>
            </a:pPr>
            <a:r>
              <a:rPr lang="en-US" dirty="0"/>
              <a:t>Isotropic direction (3D)</a:t>
            </a:r>
          </a:p>
          <a:p>
            <a:pPr marL="285750" indent="-285750">
              <a:buFont typeface="Arial" panose="020B0604020202020204" pitchFamily="34" charset="0"/>
              <a:buChar char="•"/>
            </a:pPr>
            <a:r>
              <a:rPr lang="en-US" dirty="0"/>
              <a:t>Gaussian distribution</a:t>
            </a:r>
            <a:endParaRPr lang="en-US" b="1" dirty="0"/>
          </a:p>
        </p:txBody>
      </p:sp>
    </p:spTree>
    <p:extLst>
      <p:ext uri="{BB962C8B-B14F-4D97-AF65-F5344CB8AC3E}">
        <p14:creationId xmlns:p14="http://schemas.microsoft.com/office/powerpoint/2010/main" val="490926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Rejection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24578" name="Picture 2">
            <a:extLst>
              <a:ext uri="{FF2B5EF4-FFF2-40B4-BE49-F238E27FC236}">
                <a16:creationId xmlns:a16="http://schemas.microsoft.com/office/drawing/2014/main" id="{14D3847F-CF55-AE1D-1F2E-1A9B9DCFC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2835" y="2423264"/>
            <a:ext cx="2907168" cy="22215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2B4529-5F76-400E-17FC-CEA97B5E7706}"/>
                  </a:ext>
                </a:extLst>
              </p:cNvPr>
              <p:cNvSpPr txBox="1"/>
              <p:nvPr/>
            </p:nvSpPr>
            <p:spPr>
              <a:xfrm>
                <a:off x="852279" y="1109309"/>
                <a:ext cx="9037155" cy="646331"/>
              </a:xfrm>
              <a:prstGeom prst="rect">
                <a:avLst/>
              </a:prstGeom>
              <a:noFill/>
            </p:spPr>
            <p:txBody>
              <a:bodyPr wrap="square">
                <a:spAutoFit/>
              </a:bodyPr>
              <a:lstStyle/>
              <a:p>
                <a:r>
                  <a:rPr lang="en-US" dirty="0"/>
                  <a:t>The </a:t>
                </a:r>
                <a:r>
                  <a:rPr lang="en-US" b="1" dirty="0"/>
                  <a:t>rejection sampling method</a:t>
                </a:r>
                <a:r>
                  <a:rPr lang="en-US" dirty="0"/>
                  <a:t> allows one to sample a variable </a:t>
                </a:r>
                <a14:m>
                  <m:oMath xmlns:m="http://schemas.openxmlformats.org/officeDocument/2006/math">
                    <m:r>
                      <a:rPr lang="en-US" i="1" dirty="0" smtClean="0">
                        <a:latin typeface="Cambria Math" panose="02040503050406030204" pitchFamily="18" charset="0"/>
                        <a:ea typeface="Cambria Math" panose="02040503050406030204" pitchFamily="18" charset="0"/>
                      </a:rPr>
                      <m:t>𝜉</m:t>
                    </m:r>
                    <m:r>
                      <a:rPr lang="en-US" b="0" i="1" dirty="0" smtClean="0">
                        <a:latin typeface="Cambria Math" panose="02040503050406030204" pitchFamily="18" charset="0"/>
                        <a:ea typeface="Cambria Math" panose="02040503050406030204" pitchFamily="18" charset="0"/>
                      </a:rPr>
                      <m:t> </m:t>
                    </m:r>
                  </m:oMath>
                </a14:m>
                <a:r>
                  <a:rPr lang="en-US" dirty="0"/>
                  <a:t>from an </a:t>
                </a:r>
                <a:r>
                  <a:rPr lang="en-US" b="1" dirty="0"/>
                  <a:t>envelope distribution</a:t>
                </a:r>
                <a:r>
                  <a:rPr lang="en-US" dirty="0"/>
                  <a:t> and accept or reject it with a certain probability.</a:t>
                </a:r>
              </a:p>
            </p:txBody>
          </p:sp>
        </mc:Choice>
        <mc:Fallback xmlns="">
          <p:sp>
            <p:nvSpPr>
              <p:cNvPr id="7" name="TextBox 6">
                <a:extLst>
                  <a:ext uri="{FF2B5EF4-FFF2-40B4-BE49-F238E27FC236}">
                    <a16:creationId xmlns:a16="http://schemas.microsoft.com/office/drawing/2014/main" id="{1C2B4529-5F76-400E-17FC-CEA97B5E7706}"/>
                  </a:ext>
                </a:extLst>
              </p:cNvPr>
              <p:cNvSpPr txBox="1">
                <a:spLocks noRot="1" noChangeAspect="1" noMove="1" noResize="1" noEditPoints="1" noAdjustHandles="1" noChangeArrowheads="1" noChangeShapeType="1" noTextEdit="1"/>
              </p:cNvSpPr>
              <p:nvPr/>
            </p:nvSpPr>
            <p:spPr>
              <a:xfrm>
                <a:off x="852279" y="1109309"/>
                <a:ext cx="9037155" cy="646331"/>
              </a:xfrm>
              <a:prstGeom prst="rect">
                <a:avLst/>
              </a:prstGeom>
              <a:blipFill>
                <a:blip r:embed="rId4"/>
                <a:stretch>
                  <a:fillRect l="-702" t="-3846" b="-1538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333724D-55ED-E45C-6343-3CC11D9DCCAA}"/>
              </a:ext>
            </a:extLst>
          </p:cNvPr>
          <p:cNvSpPr txBox="1"/>
          <p:nvPr/>
        </p:nvSpPr>
        <p:spPr>
          <a:xfrm>
            <a:off x="852278" y="1773918"/>
            <a:ext cx="6761096" cy="369332"/>
          </a:xfrm>
          <a:prstGeom prst="rect">
            <a:avLst/>
          </a:prstGeom>
          <a:noFill/>
        </p:spPr>
        <p:txBody>
          <a:bodyPr wrap="square">
            <a:spAutoFit/>
          </a:bodyPr>
          <a:lstStyle/>
          <a:p>
            <a:r>
              <a:rPr lang="en-US" dirty="0"/>
              <a:t>Consider again the probability density function for the polar angle: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F1EF8C0-44B6-B497-2DCF-B58447694BEA}"/>
                  </a:ext>
                </a:extLst>
              </p:cNvPr>
              <p:cNvSpPr txBox="1"/>
              <p:nvPr/>
            </p:nvSpPr>
            <p:spPr>
              <a:xfrm>
                <a:off x="852278" y="2680282"/>
                <a:ext cx="6097656" cy="369332"/>
              </a:xfrm>
              <a:prstGeom prst="rect">
                <a:avLst/>
              </a:prstGeom>
              <a:noFill/>
            </p:spPr>
            <p:txBody>
              <a:bodyPr wrap="square">
                <a:spAutoFit/>
              </a:bodyPr>
              <a:lstStyle/>
              <a:p>
                <a:r>
                  <a:rPr lang="en-US" dirty="0"/>
                  <a:t>Since </a:t>
                </a:r>
                <a14:m>
                  <m:oMath xmlns:m="http://schemas.openxmlformats.org/officeDocument/2006/math">
                    <m:sSub>
                      <m:sSubPr>
                        <m:ctrlPr>
                          <a:rPr lang="en-US" i="1" dirty="0" smtClean="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𝜌</m:t>
                        </m:r>
                      </m:e>
                      <m:sub>
                        <m:r>
                          <a:rPr lang="en-US" i="1" dirty="0" smtClean="0">
                            <a:latin typeface="Cambria Math" panose="02040503050406030204" pitchFamily="18" charset="0"/>
                            <a:ea typeface="Cambria Math" panose="02040503050406030204" pitchFamily="18" charset="0"/>
                          </a:rPr>
                          <m:t>𝜃</m:t>
                        </m:r>
                      </m:sub>
                    </m:sSub>
                  </m:oMath>
                </a14:m>
                <a:r>
                  <a:rPr lang="en-US" dirty="0"/>
                  <a:t> is bounded from above, we define:</a:t>
                </a:r>
              </a:p>
            </p:txBody>
          </p:sp>
        </mc:Choice>
        <mc:Fallback xmlns="">
          <p:sp>
            <p:nvSpPr>
              <p:cNvPr id="12" name="TextBox 11">
                <a:extLst>
                  <a:ext uri="{FF2B5EF4-FFF2-40B4-BE49-F238E27FC236}">
                    <a16:creationId xmlns:a16="http://schemas.microsoft.com/office/drawing/2014/main" id="{4F1EF8C0-44B6-B497-2DCF-B58447694BEA}"/>
                  </a:ext>
                </a:extLst>
              </p:cNvPr>
              <p:cNvSpPr txBox="1">
                <a:spLocks noRot="1" noChangeAspect="1" noMove="1" noResize="1" noEditPoints="1" noAdjustHandles="1" noChangeArrowheads="1" noChangeShapeType="1" noTextEdit="1"/>
              </p:cNvSpPr>
              <p:nvPr/>
            </p:nvSpPr>
            <p:spPr>
              <a:xfrm>
                <a:off x="852278" y="2680282"/>
                <a:ext cx="6097656" cy="369332"/>
              </a:xfrm>
              <a:prstGeom prst="rect">
                <a:avLst/>
              </a:prstGeom>
              <a:blipFill>
                <a:blip r:embed="rId5"/>
                <a:stretch>
                  <a:fillRect l="-1040" t="-10000" b="-23333"/>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F6557A6C-BBD4-BA98-3F0E-EB0474C866A1}"/>
              </a:ext>
            </a:extLst>
          </p:cNvPr>
          <p:cNvPicPr>
            <a:picLocks noChangeAspect="1"/>
          </p:cNvPicPr>
          <p:nvPr/>
        </p:nvPicPr>
        <p:blipFill>
          <a:blip r:embed="rId6"/>
          <a:stretch>
            <a:fillRect/>
          </a:stretch>
        </p:blipFill>
        <p:spPr>
          <a:xfrm>
            <a:off x="5125829" y="2654736"/>
            <a:ext cx="1181100" cy="3683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381CF1D-D938-27AD-F435-58F6FA59478A}"/>
                  </a:ext>
                </a:extLst>
              </p:cNvPr>
              <p:cNvSpPr txBox="1"/>
              <p:nvPr/>
            </p:nvSpPr>
            <p:spPr>
              <a:xfrm>
                <a:off x="849240" y="3185810"/>
                <a:ext cx="7430055" cy="369332"/>
              </a:xfrm>
              <a:prstGeom prst="rect">
                <a:avLst/>
              </a:prstGeom>
              <a:noFill/>
            </p:spPr>
            <p:txBody>
              <a:bodyPr wrap="square">
                <a:spAutoFit/>
              </a:bodyPr>
              <a:lstStyle/>
              <a:p>
                <a:r>
                  <a:rPr lang="en-US" dirty="0"/>
                  <a:t>1. Sample a candidate value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𝑐𝑎𝑛𝑑</m:t>
                        </m:r>
                      </m:sub>
                    </m:sSub>
                    <m:r>
                      <a:rPr lang="en-US" b="0" i="1" smtClean="0">
                        <a:latin typeface="Cambria Math" panose="02040503050406030204" pitchFamily="18" charset="0"/>
                      </a:rPr>
                      <m:t> </m:t>
                    </m:r>
                  </m:oMath>
                </a14:m>
                <a:r>
                  <a:rPr lang="en-US" dirty="0"/>
                  <a:t>from a uniform distribution over (0, </a:t>
                </a:r>
                <a14:m>
                  <m:oMath xmlns:m="http://schemas.openxmlformats.org/officeDocument/2006/math">
                    <m:r>
                      <a:rPr lang="en-US" b="0" i="1" dirty="0" smtClean="0">
                        <a:latin typeface="Cambria Math" panose="02040503050406030204" pitchFamily="18" charset="0"/>
                        <a:ea typeface="Cambria Math" panose="02040503050406030204" pitchFamily="18" charset="0"/>
                      </a:rPr>
                      <m:t>𝜋</m:t>
                    </m:r>
                  </m:oMath>
                </a14:m>
                <a:r>
                  <a:rPr lang="en-US" dirty="0"/>
                  <a:t>).</a:t>
                </a:r>
              </a:p>
            </p:txBody>
          </p:sp>
        </mc:Choice>
        <mc:Fallback xmlns="">
          <p:sp>
            <p:nvSpPr>
              <p:cNvPr id="15" name="TextBox 14">
                <a:extLst>
                  <a:ext uri="{FF2B5EF4-FFF2-40B4-BE49-F238E27FC236}">
                    <a16:creationId xmlns:a16="http://schemas.microsoft.com/office/drawing/2014/main" id="{5381CF1D-D938-27AD-F435-58F6FA59478A}"/>
                  </a:ext>
                </a:extLst>
              </p:cNvPr>
              <p:cNvSpPr txBox="1">
                <a:spLocks noRot="1" noChangeAspect="1" noMove="1" noResize="1" noEditPoints="1" noAdjustHandles="1" noChangeArrowheads="1" noChangeShapeType="1" noTextEdit="1"/>
              </p:cNvSpPr>
              <p:nvPr/>
            </p:nvSpPr>
            <p:spPr>
              <a:xfrm>
                <a:off x="849240" y="3185810"/>
                <a:ext cx="7430055" cy="369332"/>
              </a:xfrm>
              <a:prstGeom prst="rect">
                <a:avLst/>
              </a:prstGeom>
              <a:blipFill>
                <a:blip r:embed="rId7"/>
                <a:stretch>
                  <a:fillRect l="-683" t="-10345"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27C7C6-77B8-8C77-875E-8BE1C58D2675}"/>
                  </a:ext>
                </a:extLst>
              </p:cNvPr>
              <p:cNvSpPr txBox="1"/>
              <p:nvPr/>
            </p:nvSpPr>
            <p:spPr>
              <a:xfrm>
                <a:off x="847995" y="3591339"/>
                <a:ext cx="3694188" cy="369332"/>
              </a:xfrm>
              <a:prstGeom prst="rect">
                <a:avLst/>
              </a:prstGeom>
              <a:noFill/>
            </p:spPr>
            <p:txBody>
              <a:bodyPr wrap="square">
                <a:spAutoFit/>
              </a:bodyPr>
              <a:lstStyle/>
              <a:p>
                <a:r>
                  <a:rPr lang="en-US" dirty="0"/>
                  <a:t>2. Accept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𝑐𝑎𝑛𝑑</m:t>
                        </m:r>
                      </m:sub>
                    </m:sSub>
                    <m:r>
                      <a:rPr lang="en-US" b="0" i="1" smtClean="0">
                        <a:latin typeface="Cambria Math" panose="02040503050406030204" pitchFamily="18" charset="0"/>
                      </a:rPr>
                      <m:t> </m:t>
                    </m:r>
                  </m:oMath>
                </a14:m>
                <a:r>
                  <a:rPr lang="en-US" dirty="0"/>
                  <a:t>with probability:</a:t>
                </a:r>
              </a:p>
            </p:txBody>
          </p:sp>
        </mc:Choice>
        <mc:Fallback xmlns="">
          <p:sp>
            <p:nvSpPr>
              <p:cNvPr id="17" name="TextBox 16">
                <a:extLst>
                  <a:ext uri="{FF2B5EF4-FFF2-40B4-BE49-F238E27FC236}">
                    <a16:creationId xmlns:a16="http://schemas.microsoft.com/office/drawing/2014/main" id="{F427C7C6-77B8-8C77-875E-8BE1C58D2675}"/>
                  </a:ext>
                </a:extLst>
              </p:cNvPr>
              <p:cNvSpPr txBox="1">
                <a:spLocks noRot="1" noChangeAspect="1" noMove="1" noResize="1" noEditPoints="1" noAdjustHandles="1" noChangeArrowheads="1" noChangeShapeType="1" noTextEdit="1"/>
              </p:cNvSpPr>
              <p:nvPr/>
            </p:nvSpPr>
            <p:spPr>
              <a:xfrm>
                <a:off x="847995" y="3591339"/>
                <a:ext cx="3694188" cy="369332"/>
              </a:xfrm>
              <a:prstGeom prst="rect">
                <a:avLst/>
              </a:prstGeom>
              <a:blipFill>
                <a:blip r:embed="rId8"/>
                <a:stretch>
                  <a:fillRect l="-1370"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360FCC6-3E89-0971-302B-9A7743BAEFF7}"/>
                  </a:ext>
                </a:extLst>
              </p:cNvPr>
              <p:cNvSpPr txBox="1"/>
              <p:nvPr/>
            </p:nvSpPr>
            <p:spPr>
              <a:xfrm>
                <a:off x="847995" y="4018119"/>
                <a:ext cx="7659899" cy="648960"/>
              </a:xfrm>
              <a:prstGeom prst="rect">
                <a:avLst/>
              </a:prstGeom>
              <a:noFill/>
            </p:spPr>
            <p:txBody>
              <a:bodyPr wrap="square">
                <a:spAutoFit/>
              </a:bodyPr>
              <a:lstStyle/>
              <a:p>
                <a:pPr>
                  <a:buNone/>
                </a:pPr>
                <a:r>
                  <a:rPr lang="en-US" dirty="0"/>
                  <a:t>3. This step can be performed by sampling y </a:t>
                </a:r>
                <a:r>
                  <a:rPr lang="en-US" b="1" dirty="0"/>
                  <a:t>from a uniform distribution</a:t>
                </a:r>
                <a:r>
                  <a:rPr lang="en-US" dirty="0"/>
                  <a:t> over (0,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𝜌</m:t>
                        </m:r>
                      </m:e>
                      <m:sub>
                        <m:r>
                          <a:rPr lang="en-US" i="1" smtClean="0">
                            <a:latin typeface="Cambria Math" panose="02040503050406030204" pitchFamily="18" charset="0"/>
                            <a:ea typeface="Cambria Math" panose="02040503050406030204" pitchFamily="18" charset="0"/>
                          </a:rPr>
                          <m:t>𝜃</m:t>
                        </m:r>
                      </m:sub>
                      <m:sup>
                        <m:r>
                          <a:rPr lang="en-US" b="0" i="1" smtClean="0">
                            <a:latin typeface="Cambria Math" panose="02040503050406030204" pitchFamily="18" charset="0"/>
                          </a:rPr>
                          <m:t>𝑚𝑎𝑥</m:t>
                        </m:r>
                      </m:sup>
                    </m:sSubSup>
                  </m:oMath>
                </a14:m>
                <a:r>
                  <a:rPr lang="en-US" dirty="0"/>
                  <a:t>) and accepting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𝑐𝑎𝑛𝑑</m:t>
                        </m:r>
                      </m:sub>
                    </m:sSub>
                  </m:oMath>
                </a14:m>
                <a:r>
                  <a:rPr lang="en-US" dirty="0"/>
                  <a:t> if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&lt; </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𝜌</m:t>
                        </m:r>
                      </m:e>
                      <m:sub>
                        <m:r>
                          <a:rPr lang="en-US" i="1" dirty="0">
                            <a:latin typeface="Cambria Math" panose="02040503050406030204" pitchFamily="18" charset="0"/>
                            <a:ea typeface="Cambria Math" panose="02040503050406030204" pitchFamily="18" charset="0"/>
                          </a:rPr>
                          <m:t>𝜃</m:t>
                        </m:r>
                      </m:sub>
                    </m:sSub>
                    <m:r>
                      <a:rPr lang="en-US" b="0" i="1" dirty="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𝑐𝑎𝑛𝑑</m:t>
                        </m:r>
                      </m:sub>
                    </m:sSub>
                    <m:r>
                      <a:rPr lang="en-US" b="0" i="1" dirty="0" smtClean="0">
                        <a:latin typeface="Cambria Math" panose="02040503050406030204" pitchFamily="18" charset="0"/>
                        <a:ea typeface="Cambria Math" panose="02040503050406030204" pitchFamily="18" charset="0"/>
                      </a:rPr>
                      <m:t>)</m:t>
                    </m:r>
                  </m:oMath>
                </a14:m>
                <a:endParaRPr lang="en-US" dirty="0"/>
              </a:p>
            </p:txBody>
          </p:sp>
        </mc:Choice>
        <mc:Fallback xmlns="">
          <p:sp>
            <p:nvSpPr>
              <p:cNvPr id="19" name="TextBox 18">
                <a:extLst>
                  <a:ext uri="{FF2B5EF4-FFF2-40B4-BE49-F238E27FC236}">
                    <a16:creationId xmlns:a16="http://schemas.microsoft.com/office/drawing/2014/main" id="{C360FCC6-3E89-0971-302B-9A7743BAEFF7}"/>
                  </a:ext>
                </a:extLst>
              </p:cNvPr>
              <p:cNvSpPr txBox="1">
                <a:spLocks noRot="1" noChangeAspect="1" noMove="1" noResize="1" noEditPoints="1" noAdjustHandles="1" noChangeArrowheads="1" noChangeShapeType="1" noTextEdit="1"/>
              </p:cNvSpPr>
              <p:nvPr/>
            </p:nvSpPr>
            <p:spPr>
              <a:xfrm>
                <a:off x="847995" y="4018119"/>
                <a:ext cx="7659899" cy="648960"/>
              </a:xfrm>
              <a:prstGeom prst="rect">
                <a:avLst/>
              </a:prstGeom>
              <a:blipFill>
                <a:blip r:embed="rId9"/>
                <a:stretch>
                  <a:fillRect l="-661" t="-384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E2A91E5-8411-48C5-8E4B-81C9D325DD56}"/>
                  </a:ext>
                </a:extLst>
              </p:cNvPr>
              <p:cNvSpPr txBox="1"/>
              <p:nvPr/>
            </p:nvSpPr>
            <p:spPr>
              <a:xfrm>
                <a:off x="847995" y="4817396"/>
                <a:ext cx="10662007" cy="923330"/>
              </a:xfrm>
              <a:prstGeom prst="rect">
                <a:avLst/>
              </a:prstGeom>
              <a:noFill/>
            </p:spPr>
            <p:txBody>
              <a:bodyPr wrap="square">
                <a:spAutoFit/>
              </a:bodyPr>
              <a:lstStyle/>
              <a:p>
                <a:r>
                  <a:rPr lang="en-US" b="1" dirty="0"/>
                  <a:t>Geometric Interpretation: </a:t>
                </a:r>
                <a:r>
                  <a:rPr lang="en-US" dirty="0"/>
                  <a:t>If we consider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𝑐𝑎𝑛𝑑</m:t>
                        </m:r>
                      </m:sub>
                    </m:sSub>
                    <m:r>
                      <a:rPr lang="en-US" b="0" i="1" smtClean="0">
                        <a:latin typeface="Cambria Math" panose="02040503050406030204" pitchFamily="18" charset="0"/>
                      </a:rPr>
                      <m:t>=</m:t>
                    </m:r>
                    <m:r>
                      <a:rPr lang="en-US" b="0" i="1" smtClean="0">
                        <a:latin typeface="Cambria Math" panose="02040503050406030204" pitchFamily="18" charset="0"/>
                      </a:rPr>
                      <m:t>𝑥</m:t>
                    </m:r>
                  </m:oMath>
                </a14:m>
                <a:r>
                  <a:rPr lang="en-US" dirty="0"/>
                  <a:t> and </a:t>
                </a:r>
                <a:r>
                  <a:rPr lang="en-US" i="1" dirty="0"/>
                  <a:t>y</a:t>
                </a:r>
                <a:r>
                  <a:rPr lang="en-US" dirty="0"/>
                  <a:t> as the </a:t>
                </a:r>
                <a:r>
                  <a:rPr lang="en-US" b="1" dirty="0"/>
                  <a:t>coordinates of a point</a:t>
                </a:r>
                <a:r>
                  <a:rPr lang="en-US" dirty="0"/>
                  <a:t> in a plane, we accept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𝑐𝑎𝑛𝑑</m:t>
                        </m:r>
                      </m:sub>
                    </m:sSub>
                    <m:r>
                      <a:rPr lang="en-US" i="1">
                        <a:latin typeface="Cambria Math" panose="02040503050406030204" pitchFamily="18" charset="0"/>
                      </a:rPr>
                      <m:t> </m:t>
                    </m:r>
                  </m:oMath>
                </a14:m>
                <a:r>
                  <a:rPr lang="en-US" b="1" dirty="0"/>
                  <a:t>if it lies below the curve</a:t>
                </a:r>
                <a:r>
                  <a:rPr lang="en-US" dirty="0"/>
                  <a:t> defined by </a:t>
                </a:r>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𝜌</m:t>
                        </m:r>
                      </m:e>
                      <m:sub>
                        <m:r>
                          <a:rPr lang="en-US" i="1" dirty="0">
                            <a:latin typeface="Cambria Math" panose="02040503050406030204" pitchFamily="18" charset="0"/>
                            <a:ea typeface="Cambria Math" panose="02040503050406030204" pitchFamily="18" charset="0"/>
                          </a:rPr>
                          <m:t>𝜃</m:t>
                        </m:r>
                      </m:sub>
                    </m:sSub>
                    <m:d>
                      <m:dPr>
                        <m:ctrlPr>
                          <a:rPr lang="en-US" i="1" dirty="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ea typeface="Cambria Math" panose="02040503050406030204" pitchFamily="18" charset="0"/>
                          </a:rPr>
                          <m:t>𝜃</m:t>
                        </m:r>
                      </m:e>
                    </m:d>
                  </m:oMath>
                </a14:m>
                <a:r>
                  <a:rPr lang="en-US" dirty="0"/>
                  <a:t>. This ensures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𝑐𝑎𝑛𝑑</m:t>
                        </m:r>
                      </m:sub>
                    </m:sSub>
                    <m:r>
                      <a:rPr lang="en-US" i="1">
                        <a:latin typeface="Cambria Math" panose="02040503050406030204" pitchFamily="18" charset="0"/>
                      </a:rPr>
                      <m:t> </m:t>
                    </m:r>
                  </m:oMath>
                </a14:m>
                <a:r>
                  <a:rPr lang="en-US" dirty="0"/>
                  <a:t>values are accepted at a rate proportional to </a:t>
                </a:r>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𝜌</m:t>
                        </m:r>
                      </m:e>
                      <m:sub>
                        <m:r>
                          <a:rPr lang="en-US" i="1" dirty="0">
                            <a:latin typeface="Cambria Math" panose="02040503050406030204" pitchFamily="18" charset="0"/>
                            <a:ea typeface="Cambria Math" panose="02040503050406030204" pitchFamily="18" charset="0"/>
                          </a:rPr>
                          <m:t>𝜃</m:t>
                        </m:r>
                      </m:sub>
                    </m:sSub>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𝜃</m:t>
                        </m:r>
                      </m:e>
                    </m:d>
                  </m:oMath>
                </a14:m>
                <a:r>
                  <a:rPr lang="en-US" dirty="0"/>
                  <a:t>, as desired.</a:t>
                </a:r>
              </a:p>
            </p:txBody>
          </p:sp>
        </mc:Choice>
        <mc:Fallback xmlns="">
          <p:sp>
            <p:nvSpPr>
              <p:cNvPr id="21" name="TextBox 20">
                <a:extLst>
                  <a:ext uri="{FF2B5EF4-FFF2-40B4-BE49-F238E27FC236}">
                    <a16:creationId xmlns:a16="http://schemas.microsoft.com/office/drawing/2014/main" id="{7E2A91E5-8411-48C5-8E4B-81C9D325DD56}"/>
                  </a:ext>
                </a:extLst>
              </p:cNvPr>
              <p:cNvSpPr txBox="1">
                <a:spLocks noRot="1" noChangeAspect="1" noMove="1" noResize="1" noEditPoints="1" noAdjustHandles="1" noChangeArrowheads="1" noChangeShapeType="1" noTextEdit="1"/>
              </p:cNvSpPr>
              <p:nvPr/>
            </p:nvSpPr>
            <p:spPr>
              <a:xfrm>
                <a:off x="847995" y="4817396"/>
                <a:ext cx="10662007" cy="923330"/>
              </a:xfrm>
              <a:prstGeom prst="rect">
                <a:avLst/>
              </a:prstGeom>
              <a:blipFill>
                <a:blip r:embed="rId10"/>
                <a:stretch>
                  <a:fillRect l="-476" t="-2703" b="-9459"/>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4648CD65-7510-8996-4351-1D5AACCDF7E8}"/>
              </a:ext>
            </a:extLst>
          </p:cNvPr>
          <p:cNvPicPr>
            <a:picLocks noChangeAspect="1"/>
          </p:cNvPicPr>
          <p:nvPr/>
        </p:nvPicPr>
        <p:blipFill>
          <a:blip r:embed="rId11"/>
          <a:stretch>
            <a:fillRect/>
          </a:stretch>
        </p:blipFill>
        <p:spPr>
          <a:xfrm>
            <a:off x="4192379" y="3620851"/>
            <a:ext cx="1866900" cy="368300"/>
          </a:xfrm>
          <a:prstGeom prst="rect">
            <a:avLst/>
          </a:prstGeom>
        </p:spPr>
      </p:pic>
      <p:sp>
        <p:nvSpPr>
          <p:cNvPr id="24" name="TextBox 23">
            <a:extLst>
              <a:ext uri="{FF2B5EF4-FFF2-40B4-BE49-F238E27FC236}">
                <a16:creationId xmlns:a16="http://schemas.microsoft.com/office/drawing/2014/main" id="{73540869-CF19-3118-6F35-6229B7CA78B9}"/>
              </a:ext>
            </a:extLst>
          </p:cNvPr>
          <p:cNvSpPr txBox="1"/>
          <p:nvPr/>
        </p:nvSpPr>
        <p:spPr>
          <a:xfrm>
            <a:off x="847995" y="5882806"/>
            <a:ext cx="6097656" cy="369332"/>
          </a:xfrm>
          <a:prstGeom prst="rect">
            <a:avLst/>
          </a:prstGeom>
          <a:noFill/>
        </p:spPr>
        <p:txBody>
          <a:bodyPr wrap="square">
            <a:spAutoFit/>
          </a:bodyPr>
          <a:lstStyle/>
          <a:p>
            <a:r>
              <a:rPr lang="en-US" b="1" dirty="0"/>
              <a:t>Advantages of Rejection Sampling: </a:t>
            </a:r>
            <a:endParaRPr lang="en-US"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B56EE65-423B-7E73-9256-BEC6D42FDC8F}"/>
                  </a:ext>
                </a:extLst>
              </p:cNvPr>
              <p:cNvSpPr txBox="1"/>
              <p:nvPr/>
            </p:nvSpPr>
            <p:spPr>
              <a:xfrm>
                <a:off x="847995" y="6268195"/>
                <a:ext cx="10174501" cy="369332"/>
              </a:xfrm>
              <a:prstGeom prst="rect">
                <a:avLst/>
              </a:prstGeom>
              <a:noFill/>
            </p:spPr>
            <p:txBody>
              <a:bodyPr wrap="square">
                <a:spAutoFit/>
              </a:bodyPr>
              <a:lstStyle/>
              <a:p>
                <a14:m>
                  <m:oMath xmlns:m="http://schemas.openxmlformats.org/officeDocument/2006/math">
                    <m:sSub>
                      <m:sSubPr>
                        <m:ctrlPr>
                          <a:rPr lang="en-US" i="1" dirty="0" smtClean="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𝜌</m:t>
                        </m:r>
                      </m:e>
                      <m:sub>
                        <m:r>
                          <a:rPr lang="en-US" i="1" dirty="0">
                            <a:latin typeface="Cambria Math" panose="02040503050406030204" pitchFamily="18" charset="0"/>
                            <a:ea typeface="Cambria Math" panose="02040503050406030204" pitchFamily="18" charset="0"/>
                          </a:rPr>
                          <m:t>𝜃</m:t>
                        </m:r>
                      </m:sub>
                    </m:sSub>
                    <m:d>
                      <m:dPr>
                        <m:ctrlPr>
                          <a:rPr lang="en-US" i="1" dirty="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ea typeface="Cambria Math" panose="02040503050406030204" pitchFamily="18" charset="0"/>
                          </a:rPr>
                          <m:t>𝜃</m:t>
                        </m:r>
                      </m:e>
                    </m:d>
                    <m:r>
                      <a:rPr lang="en-US" i="1" dirty="0" smtClean="0">
                        <a:latin typeface="Cambria Math" panose="02040503050406030204" pitchFamily="18" charset="0"/>
                        <a:ea typeface="Cambria Math" panose="02040503050406030204" pitchFamily="18" charset="0"/>
                      </a:rPr>
                      <m:t> </m:t>
                    </m:r>
                  </m:oMath>
                </a14:m>
                <a:r>
                  <a:rPr lang="en-US" b="1" dirty="0"/>
                  <a:t>does not need to be a normalized distribution</a:t>
                </a:r>
                <a:r>
                  <a:rPr lang="en-US" dirty="0"/>
                  <a:t> for the method to work.</a:t>
                </a:r>
              </a:p>
            </p:txBody>
          </p:sp>
        </mc:Choice>
        <mc:Fallback xmlns="">
          <p:sp>
            <p:nvSpPr>
              <p:cNvPr id="26" name="TextBox 25">
                <a:extLst>
                  <a:ext uri="{FF2B5EF4-FFF2-40B4-BE49-F238E27FC236}">
                    <a16:creationId xmlns:a16="http://schemas.microsoft.com/office/drawing/2014/main" id="{DB56EE65-423B-7E73-9256-BEC6D42FDC8F}"/>
                  </a:ext>
                </a:extLst>
              </p:cNvPr>
              <p:cNvSpPr txBox="1">
                <a:spLocks noRot="1" noChangeAspect="1" noMove="1" noResize="1" noEditPoints="1" noAdjustHandles="1" noChangeArrowheads="1" noChangeShapeType="1" noTextEdit="1"/>
              </p:cNvSpPr>
              <p:nvPr/>
            </p:nvSpPr>
            <p:spPr>
              <a:xfrm>
                <a:off x="847995" y="6268195"/>
                <a:ext cx="10174501" cy="369332"/>
              </a:xfrm>
              <a:prstGeom prst="rect">
                <a:avLst/>
              </a:prstGeom>
              <a:blipFill>
                <a:blip r:embed="rId12"/>
                <a:stretch>
                  <a:fillRect t="-6667" b="-26667"/>
                </a:stretch>
              </a:blipFill>
            </p:spPr>
            <p:txBody>
              <a:bodyPr/>
              <a:lstStyle/>
              <a:p>
                <a:r>
                  <a:rPr lang="en-US">
                    <a:noFill/>
                  </a:rPr>
                  <a:t> </a:t>
                </a:r>
              </a:p>
            </p:txBody>
          </p:sp>
        </mc:Fallback>
      </mc:AlternateContent>
      <p:pic>
        <p:nvPicPr>
          <p:cNvPr id="27" name="Picture 26">
            <a:extLst>
              <a:ext uri="{FF2B5EF4-FFF2-40B4-BE49-F238E27FC236}">
                <a16:creationId xmlns:a16="http://schemas.microsoft.com/office/drawing/2014/main" id="{F03A5A67-14FD-9E53-98BD-4170F103C1C9}"/>
              </a:ext>
            </a:extLst>
          </p:cNvPr>
          <p:cNvPicPr>
            <a:picLocks noChangeAspect="1"/>
          </p:cNvPicPr>
          <p:nvPr/>
        </p:nvPicPr>
        <p:blipFill>
          <a:blip r:embed="rId13"/>
          <a:stretch>
            <a:fillRect/>
          </a:stretch>
        </p:blipFill>
        <p:spPr>
          <a:xfrm>
            <a:off x="5419999" y="2124629"/>
            <a:ext cx="1350617" cy="533712"/>
          </a:xfrm>
          <a:prstGeom prst="rect">
            <a:avLst/>
          </a:prstGeom>
        </p:spPr>
      </p:pic>
    </p:spTree>
    <p:extLst>
      <p:ext uri="{BB962C8B-B14F-4D97-AF65-F5344CB8AC3E}">
        <p14:creationId xmlns:p14="http://schemas.microsoft.com/office/powerpoint/2010/main" val="15184004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Rejection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DFD6288B-B4D2-34EA-1405-EE212FA42C38}"/>
              </a:ext>
            </a:extLst>
          </p:cNvPr>
          <p:cNvPicPr>
            <a:picLocks noChangeAspect="1"/>
          </p:cNvPicPr>
          <p:nvPr/>
        </p:nvPicPr>
        <p:blipFill>
          <a:blip r:embed="rId3"/>
          <a:stretch>
            <a:fillRect/>
          </a:stretch>
        </p:blipFill>
        <p:spPr>
          <a:xfrm>
            <a:off x="681997" y="1909439"/>
            <a:ext cx="6083300" cy="3670300"/>
          </a:xfrm>
          <a:prstGeom prst="rect">
            <a:avLst/>
          </a:prstGeom>
        </p:spPr>
      </p:pic>
      <p:pic>
        <p:nvPicPr>
          <p:cNvPr id="25602" name="Picture 2">
            <a:extLst>
              <a:ext uri="{FF2B5EF4-FFF2-40B4-BE49-F238E27FC236}">
                <a16:creationId xmlns:a16="http://schemas.microsoft.com/office/drawing/2014/main" id="{A027A538-D044-2165-037E-4453BB2948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1361" y="1909439"/>
            <a:ext cx="4714651" cy="3775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813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b="1" dirty="0"/>
              <a:t>Pros and Cons of Rejection Sampling</a:t>
            </a:r>
            <a:endParaRPr lang="en-US"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8C9C00-A61C-7E70-7165-2B4E98A1DB46}"/>
                  </a:ext>
                </a:extLst>
              </p:cNvPr>
              <p:cNvSpPr txBox="1"/>
              <p:nvPr/>
            </p:nvSpPr>
            <p:spPr>
              <a:xfrm>
                <a:off x="812521" y="1253948"/>
                <a:ext cx="8589893" cy="1708160"/>
              </a:xfrm>
              <a:prstGeom prst="rect">
                <a:avLst/>
              </a:prstGeom>
              <a:noFill/>
            </p:spPr>
            <p:txBody>
              <a:bodyPr wrap="square">
                <a:spAutoFit/>
              </a:bodyPr>
              <a:lstStyle/>
              <a:p>
                <a:pPr>
                  <a:spcAft>
                    <a:spcPts val="600"/>
                  </a:spcAft>
                  <a:buNone/>
                </a:pPr>
                <a:r>
                  <a:rPr lang="en-US" b="1" dirty="0"/>
                  <a:t>Pros:</a:t>
                </a:r>
                <a:endParaRPr lang="en-US" dirty="0"/>
              </a:p>
              <a:p>
                <a:pPr>
                  <a:spcAft>
                    <a:spcPts val="600"/>
                  </a:spcAft>
                  <a:buNone/>
                </a:pPr>
                <a:r>
                  <a:rPr lang="en-US" dirty="0"/>
                  <a:t>• Does not require the distribution to be normalized.</a:t>
                </a:r>
              </a:p>
              <a:p>
                <a:pPr>
                  <a:spcAft>
                    <a:spcPts val="600"/>
                  </a:spcAft>
                  <a:buNone/>
                </a:pPr>
                <a:r>
                  <a:rPr lang="en-US" dirty="0"/>
                  <a:t>• Works even if </a:t>
                </a:r>
                <a:r>
                  <a:rPr lang="en-US" dirty="0" err="1"/>
                  <a:t>y</a:t>
                </a:r>
                <a:r>
                  <a:rPr lang="en-US" baseline="-25000" dirty="0" err="1"/>
                  <a:t>max</a:t>
                </a:r>
                <a:r>
                  <a:rPr lang="en-US" dirty="0"/>
                  <a:t> is </a:t>
                </a:r>
                <a:r>
                  <a:rPr lang="en-US" b="1" dirty="0"/>
                  <a:t>larger than the true maximum</a:t>
                </a:r>
                <a:r>
                  <a:rPr lang="en-US" dirty="0"/>
                  <a:t> of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endParaRPr lang="en-US" dirty="0"/>
              </a:p>
              <a:p>
                <a:pPr>
                  <a:spcAft>
                    <a:spcPts val="600"/>
                  </a:spcAft>
                </a:pPr>
                <a:r>
                  <a:rPr lang="en-US" dirty="0"/>
                  <a:t>• Applicable to </a:t>
                </a:r>
                <a:r>
                  <a:rPr lang="en-US" b="1" dirty="0"/>
                  <a:t>generic distributions</a:t>
                </a:r>
                <a:r>
                  <a:rPr lang="en-US" dirty="0"/>
                  <a:t> and does not require the evaluation of the cumulative distribution function.</a:t>
                </a:r>
              </a:p>
            </p:txBody>
          </p:sp>
        </mc:Choice>
        <mc:Fallback xmlns="">
          <p:sp>
            <p:nvSpPr>
              <p:cNvPr id="7" name="TextBox 6">
                <a:extLst>
                  <a:ext uri="{FF2B5EF4-FFF2-40B4-BE49-F238E27FC236}">
                    <a16:creationId xmlns:a16="http://schemas.microsoft.com/office/drawing/2014/main" id="{F48C9C00-A61C-7E70-7165-2B4E98A1DB46}"/>
                  </a:ext>
                </a:extLst>
              </p:cNvPr>
              <p:cNvSpPr txBox="1">
                <a:spLocks noRot="1" noChangeAspect="1" noMove="1" noResize="1" noEditPoints="1" noAdjustHandles="1" noChangeArrowheads="1" noChangeShapeType="1" noTextEdit="1"/>
              </p:cNvSpPr>
              <p:nvPr/>
            </p:nvSpPr>
            <p:spPr>
              <a:xfrm>
                <a:off x="812521" y="1253948"/>
                <a:ext cx="8589893" cy="1708160"/>
              </a:xfrm>
              <a:prstGeom prst="rect">
                <a:avLst/>
              </a:prstGeom>
              <a:blipFill>
                <a:blip r:embed="rId3"/>
                <a:stretch>
                  <a:fillRect l="-442" t="-1471" b="-441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0C9B639-AB27-FB61-4676-6DFDFD846FA1}"/>
              </a:ext>
            </a:extLst>
          </p:cNvPr>
          <p:cNvSpPr txBox="1"/>
          <p:nvPr/>
        </p:nvSpPr>
        <p:spPr>
          <a:xfrm>
            <a:off x="812522" y="3040464"/>
            <a:ext cx="9225999" cy="1077218"/>
          </a:xfrm>
          <a:prstGeom prst="rect">
            <a:avLst/>
          </a:prstGeom>
          <a:noFill/>
        </p:spPr>
        <p:txBody>
          <a:bodyPr wrap="square">
            <a:spAutoFit/>
          </a:bodyPr>
          <a:lstStyle/>
          <a:p>
            <a:pPr>
              <a:spcAft>
                <a:spcPts val="600"/>
              </a:spcAft>
              <a:buNone/>
            </a:pPr>
            <a:r>
              <a:rPr lang="en-US" b="1" dirty="0"/>
              <a:t>Cons:</a:t>
            </a:r>
            <a:endParaRPr lang="en-US" dirty="0"/>
          </a:p>
          <a:p>
            <a:pPr>
              <a:spcAft>
                <a:spcPts val="600"/>
              </a:spcAft>
              <a:buNone/>
            </a:pPr>
            <a:r>
              <a:rPr lang="en-US" dirty="0"/>
              <a:t>• Can be </a:t>
            </a:r>
            <a:r>
              <a:rPr lang="en-US" b="1" dirty="0"/>
              <a:t>inefficient</a:t>
            </a:r>
            <a:r>
              <a:rPr lang="en-US" dirty="0"/>
              <a:t> if the rejection rate is high (e.g., for highly peaked distributions).</a:t>
            </a:r>
          </a:p>
          <a:p>
            <a:pPr>
              <a:spcAft>
                <a:spcPts val="600"/>
              </a:spcAft>
            </a:pPr>
            <a:r>
              <a:rPr lang="en-US" dirty="0"/>
              <a:t>• Not directly applicable to distributions </a:t>
            </a:r>
            <a:r>
              <a:rPr lang="en-US" b="1" dirty="0"/>
              <a:t>over infinite ranges</a:t>
            </a:r>
            <a:r>
              <a:rPr lang="en-US" dirty="0"/>
              <a:t>.</a:t>
            </a:r>
          </a:p>
        </p:txBody>
      </p:sp>
      <p:sp>
        <p:nvSpPr>
          <p:cNvPr id="11" name="TextBox 10">
            <a:extLst>
              <a:ext uri="{FF2B5EF4-FFF2-40B4-BE49-F238E27FC236}">
                <a16:creationId xmlns:a16="http://schemas.microsoft.com/office/drawing/2014/main" id="{71FA47CC-019A-9F3D-C4F1-0F7E84F07151}"/>
              </a:ext>
            </a:extLst>
          </p:cNvPr>
          <p:cNvSpPr txBox="1"/>
          <p:nvPr/>
        </p:nvSpPr>
        <p:spPr>
          <a:xfrm>
            <a:off x="812521" y="4283802"/>
            <a:ext cx="9444661" cy="1985159"/>
          </a:xfrm>
          <a:prstGeom prst="rect">
            <a:avLst/>
          </a:prstGeom>
          <a:noFill/>
        </p:spPr>
        <p:txBody>
          <a:bodyPr wrap="square">
            <a:spAutoFit/>
          </a:bodyPr>
          <a:lstStyle/>
          <a:p>
            <a:pPr>
              <a:buNone/>
            </a:pPr>
            <a:r>
              <a:rPr lang="en-US" b="1" dirty="0"/>
              <a:t>Generalizations of Rejection Sampling</a:t>
            </a:r>
            <a:endParaRPr lang="en-US" dirty="0"/>
          </a:p>
          <a:p>
            <a:pPr>
              <a:spcAft>
                <a:spcPts val="600"/>
              </a:spcAft>
              <a:buNone/>
            </a:pPr>
            <a:r>
              <a:rPr lang="en-US" dirty="0"/>
              <a:t>To address some of its limitations, several generalizations of rejection sampling can be used, including:</a:t>
            </a:r>
          </a:p>
          <a:p>
            <a:pPr>
              <a:spcAft>
                <a:spcPts val="600"/>
              </a:spcAft>
              <a:buNone/>
            </a:pPr>
            <a:r>
              <a:rPr lang="en-US" dirty="0"/>
              <a:t>• </a:t>
            </a:r>
            <a:r>
              <a:rPr lang="en-US" b="1" dirty="0"/>
              <a:t>Adaptive rejection sampling</a:t>
            </a:r>
            <a:r>
              <a:rPr lang="en-US" dirty="0"/>
              <a:t> by considering multiple </a:t>
            </a:r>
            <a:r>
              <a:rPr lang="en-US" b="1" dirty="0"/>
              <a:t>enveloping rectangles</a:t>
            </a:r>
            <a:r>
              <a:rPr lang="en-US" dirty="0"/>
              <a:t>.</a:t>
            </a:r>
          </a:p>
          <a:p>
            <a:pPr>
              <a:spcAft>
                <a:spcPts val="600"/>
              </a:spcAft>
              <a:buNone/>
            </a:pPr>
            <a:r>
              <a:rPr lang="en-US" dirty="0"/>
              <a:t>• </a:t>
            </a:r>
            <a:r>
              <a:rPr lang="en-US" b="1" dirty="0"/>
              <a:t>Variable transformation</a:t>
            </a:r>
            <a:r>
              <a:rPr lang="en-US" dirty="0"/>
              <a:t> to map an </a:t>
            </a:r>
            <a:r>
              <a:rPr lang="en-US" b="1" dirty="0"/>
              <a:t>infinite interval</a:t>
            </a:r>
            <a:r>
              <a:rPr lang="en-US" dirty="0"/>
              <a:t> into a finite one.</a:t>
            </a:r>
          </a:p>
          <a:p>
            <a:pPr>
              <a:spcAft>
                <a:spcPts val="600"/>
              </a:spcAft>
            </a:pPr>
            <a:r>
              <a:rPr lang="en-US" dirty="0"/>
              <a:t>• </a:t>
            </a:r>
            <a:r>
              <a:rPr lang="en-US" b="1" dirty="0"/>
              <a:t>Sampling from a non-uniform enveloping distribution</a:t>
            </a:r>
            <a:r>
              <a:rPr lang="en-US" dirty="0"/>
              <a:t> for better efficiency.</a:t>
            </a:r>
          </a:p>
        </p:txBody>
      </p:sp>
    </p:spTree>
    <p:extLst>
      <p:ext uri="{BB962C8B-B14F-4D97-AF65-F5344CB8AC3E}">
        <p14:creationId xmlns:p14="http://schemas.microsoft.com/office/powerpoint/2010/main" val="11484608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Importance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8" name="TextBox 7">
            <a:extLst>
              <a:ext uri="{FF2B5EF4-FFF2-40B4-BE49-F238E27FC236}">
                <a16:creationId xmlns:a16="http://schemas.microsoft.com/office/drawing/2014/main" id="{91843DB1-51BD-85AE-7566-4513B8984F92}"/>
              </a:ext>
            </a:extLst>
          </p:cNvPr>
          <p:cNvSpPr txBox="1"/>
          <p:nvPr/>
        </p:nvSpPr>
        <p:spPr>
          <a:xfrm>
            <a:off x="693683" y="1239485"/>
            <a:ext cx="6096000" cy="369332"/>
          </a:xfrm>
          <a:prstGeom prst="rect">
            <a:avLst/>
          </a:prstGeom>
          <a:noFill/>
        </p:spPr>
        <p:txBody>
          <a:bodyPr wrap="square">
            <a:spAutoFit/>
          </a:bodyPr>
          <a:lstStyle/>
          <a:p>
            <a:r>
              <a:rPr lang="en-US" dirty="0"/>
              <a:t>Recall the calculation of an integral as statistical average</a:t>
            </a:r>
          </a:p>
        </p:txBody>
      </p:sp>
      <p:pic>
        <p:nvPicPr>
          <p:cNvPr id="9" name="Picture 8">
            <a:extLst>
              <a:ext uri="{FF2B5EF4-FFF2-40B4-BE49-F238E27FC236}">
                <a16:creationId xmlns:a16="http://schemas.microsoft.com/office/drawing/2014/main" id="{5DE1FB47-C871-97C2-5B3E-47BABACDB967}"/>
              </a:ext>
            </a:extLst>
          </p:cNvPr>
          <p:cNvPicPr>
            <a:picLocks noChangeAspect="1"/>
          </p:cNvPicPr>
          <p:nvPr/>
        </p:nvPicPr>
        <p:blipFill>
          <a:blip r:embed="rId3"/>
          <a:stretch>
            <a:fillRect/>
          </a:stretch>
        </p:blipFill>
        <p:spPr>
          <a:xfrm>
            <a:off x="2021107" y="1683216"/>
            <a:ext cx="2474200" cy="618550"/>
          </a:xfrm>
          <a:prstGeom prst="rect">
            <a:avLst/>
          </a:prstGeom>
        </p:spPr>
      </p:pic>
      <p:sp>
        <p:nvSpPr>
          <p:cNvPr id="10" name="TextBox 9">
            <a:extLst>
              <a:ext uri="{FF2B5EF4-FFF2-40B4-BE49-F238E27FC236}">
                <a16:creationId xmlns:a16="http://schemas.microsoft.com/office/drawing/2014/main" id="{1414752B-5265-2CDF-368A-2E627E2AD6CE}"/>
              </a:ext>
            </a:extLst>
          </p:cNvPr>
          <p:cNvSpPr txBox="1"/>
          <p:nvPr/>
        </p:nvSpPr>
        <p:spPr>
          <a:xfrm>
            <a:off x="5044966" y="1807825"/>
            <a:ext cx="1114096" cy="369332"/>
          </a:xfrm>
          <a:prstGeom prst="rect">
            <a:avLst/>
          </a:prstGeom>
          <a:noFill/>
        </p:spPr>
        <p:txBody>
          <a:bodyPr wrap="square">
            <a:spAutoFit/>
          </a:bodyPr>
          <a:lstStyle/>
          <a:p>
            <a:r>
              <a:rPr lang="en-US" dirty="0"/>
              <a:t>where</a:t>
            </a:r>
          </a:p>
        </p:txBody>
      </p:sp>
      <p:pic>
        <p:nvPicPr>
          <p:cNvPr id="11" name="Picture 10">
            <a:extLst>
              <a:ext uri="{FF2B5EF4-FFF2-40B4-BE49-F238E27FC236}">
                <a16:creationId xmlns:a16="http://schemas.microsoft.com/office/drawing/2014/main" id="{EE2676C7-F36F-87D8-AA0C-9FF6F472C22C}"/>
              </a:ext>
            </a:extLst>
          </p:cNvPr>
          <p:cNvPicPr>
            <a:picLocks noChangeAspect="1"/>
          </p:cNvPicPr>
          <p:nvPr/>
        </p:nvPicPr>
        <p:blipFill>
          <a:blip r:embed="rId4"/>
          <a:stretch>
            <a:fillRect/>
          </a:stretch>
        </p:blipFill>
        <p:spPr>
          <a:xfrm>
            <a:off x="6708721" y="1733367"/>
            <a:ext cx="1623904" cy="638362"/>
          </a:xfrm>
          <a:prstGeom prst="rect">
            <a:avLst/>
          </a:prstGeom>
        </p:spPr>
      </p:pic>
      <p:pic>
        <p:nvPicPr>
          <p:cNvPr id="12" name="Picture 11">
            <a:extLst>
              <a:ext uri="{FF2B5EF4-FFF2-40B4-BE49-F238E27FC236}">
                <a16:creationId xmlns:a16="http://schemas.microsoft.com/office/drawing/2014/main" id="{08102192-A0C2-3B90-4ED3-7A62407F39B9}"/>
              </a:ext>
            </a:extLst>
          </p:cNvPr>
          <p:cNvPicPr>
            <a:picLocks noChangeAspect="1"/>
          </p:cNvPicPr>
          <p:nvPr/>
        </p:nvPicPr>
        <p:blipFill>
          <a:blip r:embed="rId5"/>
          <a:stretch>
            <a:fillRect/>
          </a:stretch>
        </p:blipFill>
        <p:spPr>
          <a:xfrm>
            <a:off x="8909652" y="1830298"/>
            <a:ext cx="1257300" cy="444500"/>
          </a:xfrm>
          <a:prstGeom prst="rect">
            <a:avLst/>
          </a:prstGeom>
        </p:spPr>
      </p:pic>
      <p:sp>
        <p:nvSpPr>
          <p:cNvPr id="13" name="TextBox 12">
            <a:extLst>
              <a:ext uri="{FF2B5EF4-FFF2-40B4-BE49-F238E27FC236}">
                <a16:creationId xmlns:a16="http://schemas.microsoft.com/office/drawing/2014/main" id="{589E1C73-272F-0A97-FE97-581C15E37FA5}"/>
              </a:ext>
            </a:extLst>
          </p:cNvPr>
          <p:cNvSpPr txBox="1"/>
          <p:nvPr/>
        </p:nvSpPr>
        <p:spPr>
          <a:xfrm>
            <a:off x="693683" y="2426316"/>
            <a:ext cx="6096000" cy="923330"/>
          </a:xfrm>
          <a:prstGeom prst="rect">
            <a:avLst/>
          </a:prstGeom>
          <a:noFill/>
        </p:spPr>
        <p:txBody>
          <a:bodyPr wrap="square">
            <a:spAutoFit/>
          </a:bodyPr>
          <a:lstStyle/>
          <a:p>
            <a:r>
              <a:rPr lang="en-US" dirty="0"/>
              <a:t>Some issues with the method:</a:t>
            </a:r>
          </a:p>
          <a:p>
            <a:pPr marL="285750" indent="-285750">
              <a:buFont typeface="Arial" panose="020B0604020202020204" pitchFamily="34" charset="0"/>
              <a:buChar char="•"/>
            </a:pPr>
            <a:r>
              <a:rPr lang="en-US" dirty="0"/>
              <a:t>Sample unimportant regions (e.g. f is highly peaked)</a:t>
            </a:r>
          </a:p>
          <a:p>
            <a:pPr marL="285750" indent="-285750">
              <a:buFont typeface="Arial" panose="020B0604020202020204" pitchFamily="34" charset="0"/>
              <a:buChar char="•"/>
            </a:pPr>
            <a:r>
              <a:rPr lang="en-US" dirty="0"/>
              <a:t>Integrable singularities</a:t>
            </a:r>
          </a:p>
        </p:txBody>
      </p:sp>
      <p:sp>
        <p:nvSpPr>
          <p:cNvPr id="14" name="TextBox 13">
            <a:extLst>
              <a:ext uri="{FF2B5EF4-FFF2-40B4-BE49-F238E27FC236}">
                <a16:creationId xmlns:a16="http://schemas.microsoft.com/office/drawing/2014/main" id="{07FE23F1-EFDA-8DB7-A24F-03ADA32524E2}"/>
              </a:ext>
            </a:extLst>
          </p:cNvPr>
          <p:cNvSpPr txBox="1"/>
          <p:nvPr/>
        </p:nvSpPr>
        <p:spPr>
          <a:xfrm>
            <a:off x="8252232" y="4410830"/>
            <a:ext cx="1859510" cy="369332"/>
          </a:xfrm>
          <a:prstGeom prst="rect">
            <a:avLst/>
          </a:prstGeom>
          <a:noFill/>
        </p:spPr>
        <p:txBody>
          <a:bodyPr wrap="square">
            <a:spAutoFit/>
          </a:bodyPr>
          <a:lstStyle/>
          <a:p>
            <a:r>
              <a:rPr lang="en-US" b="1" dirty="0"/>
              <a:t>Normalization: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C7F4191-001B-E8FE-7D7B-F93547CAE20F}"/>
                  </a:ext>
                </a:extLst>
              </p:cNvPr>
              <p:cNvSpPr txBox="1"/>
              <p:nvPr/>
            </p:nvSpPr>
            <p:spPr>
              <a:xfrm>
                <a:off x="693683" y="4043924"/>
                <a:ext cx="7020910" cy="369332"/>
              </a:xfrm>
              <a:prstGeom prst="rect">
                <a:avLst/>
              </a:prstGeom>
              <a:noFill/>
            </p:spPr>
            <p:txBody>
              <a:bodyPr wrap="square">
                <a:spAutoFit/>
              </a:bodyPr>
              <a:lstStyle/>
              <a:p>
                <a:r>
                  <a:rPr lang="en-US" dirty="0"/>
                  <a:t>Sample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from a </a:t>
                </a:r>
                <a:r>
                  <a:rPr lang="en-US" i="1" dirty="0"/>
                  <a:t>non-uniform </a:t>
                </a:r>
                <a:r>
                  <a:rPr lang="en-US" dirty="0"/>
                  <a:t>distribution w(x) that resembles f(x).</a:t>
                </a:r>
                <a:endParaRPr lang="en-US" i="1" dirty="0"/>
              </a:p>
            </p:txBody>
          </p:sp>
        </mc:Choice>
        <mc:Fallback xmlns="">
          <p:sp>
            <p:nvSpPr>
              <p:cNvPr id="15" name="TextBox 14">
                <a:extLst>
                  <a:ext uri="{FF2B5EF4-FFF2-40B4-BE49-F238E27FC236}">
                    <a16:creationId xmlns:a16="http://schemas.microsoft.com/office/drawing/2014/main" id="{2C7F4191-001B-E8FE-7D7B-F93547CAE20F}"/>
                  </a:ext>
                </a:extLst>
              </p:cNvPr>
              <p:cNvSpPr txBox="1">
                <a:spLocks noRot="1" noChangeAspect="1" noMove="1" noResize="1" noEditPoints="1" noAdjustHandles="1" noChangeArrowheads="1" noChangeShapeType="1" noTextEdit="1"/>
              </p:cNvSpPr>
              <p:nvPr/>
            </p:nvSpPr>
            <p:spPr>
              <a:xfrm>
                <a:off x="693683" y="4043924"/>
                <a:ext cx="7020910" cy="369332"/>
              </a:xfrm>
              <a:prstGeom prst="rect">
                <a:avLst/>
              </a:prstGeom>
              <a:blipFill>
                <a:blip r:embed="rId6"/>
                <a:stretch>
                  <a:fillRect l="-722" t="-6667" b="-26667"/>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62C24007-B835-2D37-0941-CD9BAD85C7C6}"/>
              </a:ext>
            </a:extLst>
          </p:cNvPr>
          <p:cNvSpPr txBox="1"/>
          <p:nvPr/>
        </p:nvSpPr>
        <p:spPr>
          <a:xfrm>
            <a:off x="693683" y="4477572"/>
            <a:ext cx="7020910" cy="369332"/>
          </a:xfrm>
          <a:prstGeom prst="rect">
            <a:avLst/>
          </a:prstGeom>
          <a:noFill/>
        </p:spPr>
        <p:txBody>
          <a:bodyPr wrap="square">
            <a:spAutoFit/>
          </a:bodyPr>
          <a:lstStyle/>
          <a:p>
            <a:r>
              <a:rPr lang="en-US" dirty="0"/>
              <a:t>The integrand is then calculated as</a:t>
            </a:r>
            <a:endParaRPr lang="en-US" i="1" dirty="0"/>
          </a:p>
        </p:txBody>
      </p:sp>
      <p:pic>
        <p:nvPicPr>
          <p:cNvPr id="18" name="Picture 17">
            <a:extLst>
              <a:ext uri="{FF2B5EF4-FFF2-40B4-BE49-F238E27FC236}">
                <a16:creationId xmlns:a16="http://schemas.microsoft.com/office/drawing/2014/main" id="{CDA2D88B-FF85-9D69-1658-5AA1EC365018}"/>
              </a:ext>
            </a:extLst>
          </p:cNvPr>
          <p:cNvPicPr>
            <a:picLocks noChangeAspect="1"/>
          </p:cNvPicPr>
          <p:nvPr/>
        </p:nvPicPr>
        <p:blipFill>
          <a:blip r:embed="rId7"/>
          <a:stretch>
            <a:fillRect/>
          </a:stretch>
        </p:blipFill>
        <p:spPr>
          <a:xfrm>
            <a:off x="4567401" y="4859100"/>
            <a:ext cx="3057197" cy="580630"/>
          </a:xfrm>
          <a:prstGeom prst="rect">
            <a:avLst/>
          </a:prstGeom>
        </p:spPr>
      </p:pic>
      <p:pic>
        <p:nvPicPr>
          <p:cNvPr id="19" name="Picture 18">
            <a:extLst>
              <a:ext uri="{FF2B5EF4-FFF2-40B4-BE49-F238E27FC236}">
                <a16:creationId xmlns:a16="http://schemas.microsoft.com/office/drawing/2014/main" id="{2E005CD4-F861-E7BE-D2AF-8E6BF274ECAB}"/>
              </a:ext>
            </a:extLst>
          </p:cNvPr>
          <p:cNvPicPr>
            <a:picLocks noChangeAspect="1"/>
          </p:cNvPicPr>
          <p:nvPr/>
        </p:nvPicPr>
        <p:blipFill>
          <a:blip r:embed="rId8"/>
          <a:stretch>
            <a:fillRect/>
          </a:stretch>
        </p:blipFill>
        <p:spPr>
          <a:xfrm>
            <a:off x="4716413" y="5618516"/>
            <a:ext cx="2624179" cy="991816"/>
          </a:xfrm>
          <a:prstGeom prst="rect">
            <a:avLst/>
          </a:prstGeom>
        </p:spPr>
      </p:pic>
      <p:sp>
        <p:nvSpPr>
          <p:cNvPr id="20" name="TextBox 19">
            <a:extLst>
              <a:ext uri="{FF2B5EF4-FFF2-40B4-BE49-F238E27FC236}">
                <a16:creationId xmlns:a16="http://schemas.microsoft.com/office/drawing/2014/main" id="{F9491845-C7C4-C0DC-70E7-B4AFF7727A27}"/>
              </a:ext>
            </a:extLst>
          </p:cNvPr>
          <p:cNvSpPr txBox="1"/>
          <p:nvPr/>
        </p:nvSpPr>
        <p:spPr>
          <a:xfrm>
            <a:off x="3490310" y="5955267"/>
            <a:ext cx="1077091" cy="369332"/>
          </a:xfrm>
          <a:prstGeom prst="rect">
            <a:avLst/>
          </a:prstGeom>
          <a:noFill/>
        </p:spPr>
        <p:txBody>
          <a:bodyPr wrap="square">
            <a:spAutoFit/>
          </a:bodyPr>
          <a:lstStyle/>
          <a:p>
            <a:r>
              <a:rPr lang="en-US" dirty="0"/>
              <a:t>Error:</a:t>
            </a:r>
            <a:endParaRPr lang="en-US" i="1" dirty="0"/>
          </a:p>
        </p:txBody>
      </p:sp>
      <p:pic>
        <p:nvPicPr>
          <p:cNvPr id="21" name="Picture 20">
            <a:extLst>
              <a:ext uri="{FF2B5EF4-FFF2-40B4-BE49-F238E27FC236}">
                <a16:creationId xmlns:a16="http://schemas.microsoft.com/office/drawing/2014/main" id="{AAFDF200-A826-146E-F66A-D8E0B12716F1}"/>
              </a:ext>
            </a:extLst>
          </p:cNvPr>
          <p:cNvPicPr>
            <a:picLocks noChangeAspect="1"/>
          </p:cNvPicPr>
          <p:nvPr/>
        </p:nvPicPr>
        <p:blipFill>
          <a:blip r:embed="rId9"/>
          <a:stretch>
            <a:fillRect/>
          </a:stretch>
        </p:blipFill>
        <p:spPr>
          <a:xfrm>
            <a:off x="9467552" y="4868492"/>
            <a:ext cx="1499500" cy="571238"/>
          </a:xfrm>
          <a:prstGeom prst="rect">
            <a:avLst/>
          </a:prstGeom>
        </p:spPr>
      </p:pic>
      <p:sp>
        <p:nvSpPr>
          <p:cNvPr id="22" name="TextBox 21">
            <a:extLst>
              <a:ext uri="{FF2B5EF4-FFF2-40B4-BE49-F238E27FC236}">
                <a16:creationId xmlns:a16="http://schemas.microsoft.com/office/drawing/2014/main" id="{E20D0DA7-673B-BEB0-19BC-AFED34F8E919}"/>
              </a:ext>
            </a:extLst>
          </p:cNvPr>
          <p:cNvSpPr txBox="1"/>
          <p:nvPr/>
        </p:nvSpPr>
        <p:spPr>
          <a:xfrm>
            <a:off x="693683" y="3719345"/>
            <a:ext cx="6096000" cy="369332"/>
          </a:xfrm>
          <a:prstGeom prst="rect">
            <a:avLst/>
          </a:prstGeom>
          <a:noFill/>
        </p:spPr>
        <p:txBody>
          <a:bodyPr wrap="square">
            <a:spAutoFit/>
          </a:bodyPr>
          <a:lstStyle/>
          <a:p>
            <a:r>
              <a:rPr lang="en-US" b="1" dirty="0"/>
              <a:t>Importance sampling:</a:t>
            </a:r>
          </a:p>
        </p:txBody>
      </p:sp>
    </p:spTree>
    <p:extLst>
      <p:ext uri="{BB962C8B-B14F-4D97-AF65-F5344CB8AC3E}">
        <p14:creationId xmlns:p14="http://schemas.microsoft.com/office/powerpoint/2010/main" val="9670489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Importance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3" name="TextBox 2">
            <a:extLst>
              <a:ext uri="{FF2B5EF4-FFF2-40B4-BE49-F238E27FC236}">
                <a16:creationId xmlns:a16="http://schemas.microsoft.com/office/drawing/2014/main" id="{C1DC61FE-0CDB-291F-7EE3-C3AEC911577C}"/>
              </a:ext>
            </a:extLst>
          </p:cNvPr>
          <p:cNvSpPr txBox="1"/>
          <p:nvPr/>
        </p:nvSpPr>
        <p:spPr>
          <a:xfrm>
            <a:off x="599089" y="2140770"/>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For w(x)=1/(b-a) we recover the mean value method</a:t>
            </a:r>
          </a:p>
        </p:txBody>
      </p:sp>
      <p:pic>
        <p:nvPicPr>
          <p:cNvPr id="5" name="Picture 4">
            <a:extLst>
              <a:ext uri="{FF2B5EF4-FFF2-40B4-BE49-F238E27FC236}">
                <a16:creationId xmlns:a16="http://schemas.microsoft.com/office/drawing/2014/main" id="{8B7F48C0-A0BE-8C21-3C04-713881A2348B}"/>
              </a:ext>
            </a:extLst>
          </p:cNvPr>
          <p:cNvPicPr>
            <a:picLocks noChangeAspect="1"/>
          </p:cNvPicPr>
          <p:nvPr/>
        </p:nvPicPr>
        <p:blipFill>
          <a:blip r:embed="rId3"/>
          <a:stretch>
            <a:fillRect/>
          </a:stretch>
        </p:blipFill>
        <p:spPr>
          <a:xfrm>
            <a:off x="1950325" y="1318502"/>
            <a:ext cx="3057197" cy="580630"/>
          </a:xfrm>
          <a:prstGeom prst="rect">
            <a:avLst/>
          </a:prstGeom>
        </p:spPr>
      </p:pic>
      <p:pic>
        <p:nvPicPr>
          <p:cNvPr id="6" name="Picture 5">
            <a:extLst>
              <a:ext uri="{FF2B5EF4-FFF2-40B4-BE49-F238E27FC236}">
                <a16:creationId xmlns:a16="http://schemas.microsoft.com/office/drawing/2014/main" id="{332BA9F2-DD48-2DBC-0D78-DCA5E6CBA170}"/>
              </a:ext>
            </a:extLst>
          </p:cNvPr>
          <p:cNvPicPr>
            <a:picLocks noChangeAspect="1"/>
          </p:cNvPicPr>
          <p:nvPr/>
        </p:nvPicPr>
        <p:blipFill>
          <a:blip r:embed="rId4"/>
          <a:stretch>
            <a:fillRect/>
          </a:stretch>
        </p:blipFill>
        <p:spPr>
          <a:xfrm>
            <a:off x="6313987" y="1072246"/>
            <a:ext cx="2421222" cy="915108"/>
          </a:xfrm>
          <a:prstGeom prst="rect">
            <a:avLst/>
          </a:prstGeom>
        </p:spPr>
      </p:pic>
      <p:pic>
        <p:nvPicPr>
          <p:cNvPr id="7" name="Picture 6">
            <a:extLst>
              <a:ext uri="{FF2B5EF4-FFF2-40B4-BE49-F238E27FC236}">
                <a16:creationId xmlns:a16="http://schemas.microsoft.com/office/drawing/2014/main" id="{0AFEA66B-07F3-7498-2AB2-3C6177BCF564}"/>
              </a:ext>
            </a:extLst>
          </p:cNvPr>
          <p:cNvPicPr>
            <a:picLocks noChangeAspect="1"/>
          </p:cNvPicPr>
          <p:nvPr/>
        </p:nvPicPr>
        <p:blipFill>
          <a:blip r:embed="rId5"/>
          <a:stretch>
            <a:fillRect/>
          </a:stretch>
        </p:blipFill>
        <p:spPr>
          <a:xfrm>
            <a:off x="4885389" y="2566453"/>
            <a:ext cx="2421222" cy="616726"/>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10E6FB1-40D2-5619-EFC2-5CF7A569FA17}"/>
                  </a:ext>
                </a:extLst>
              </p:cNvPr>
              <p:cNvSpPr txBox="1"/>
              <p:nvPr/>
            </p:nvSpPr>
            <p:spPr>
              <a:xfrm>
                <a:off x="599089" y="3318650"/>
                <a:ext cx="6096000" cy="572144"/>
              </a:xfrm>
              <a:prstGeom prst="rect">
                <a:avLst/>
              </a:prstGeom>
              <a:noFill/>
            </p:spPr>
            <p:txBody>
              <a:bodyPr wrap="square">
                <a:spAutoFit/>
              </a:bodyPr>
              <a:lstStyle/>
              <a:p>
                <a:pPr marL="285750" indent="-285750">
                  <a:buFont typeface="Arial" panose="020B0604020202020204" pitchFamily="34" charset="0"/>
                  <a:buChar char="•"/>
                </a:pPr>
                <a:r>
                  <a:rPr lang="en-US" dirty="0"/>
                  <a:t>For w(x)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f(x) one has </a:t>
                </a:r>
                <a14:m>
                  <m:oMath xmlns:m="http://schemas.openxmlformats.org/officeDocument/2006/math">
                    <m:d>
                      <m:dPr>
                        <m:begChr m:val="⟨"/>
                        <m:endChr m:val="⟩"/>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e>
                    </m:d>
                  </m:oMath>
                </a14:m>
                <a:r>
                  <a:rPr lang="en-US" dirty="0"/>
                  <a:t> = const = I and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23" name="TextBox 22">
                <a:extLst>
                  <a:ext uri="{FF2B5EF4-FFF2-40B4-BE49-F238E27FC236}">
                    <a16:creationId xmlns:a16="http://schemas.microsoft.com/office/drawing/2014/main" id="{B10E6FB1-40D2-5619-EFC2-5CF7A569FA17}"/>
                  </a:ext>
                </a:extLst>
              </p:cNvPr>
              <p:cNvSpPr txBox="1">
                <a:spLocks noRot="1" noChangeAspect="1" noMove="1" noResize="1" noEditPoints="1" noAdjustHandles="1" noChangeArrowheads="1" noChangeShapeType="1" noTextEdit="1"/>
              </p:cNvSpPr>
              <p:nvPr/>
            </p:nvSpPr>
            <p:spPr>
              <a:xfrm>
                <a:off x="599089" y="3318650"/>
                <a:ext cx="6096000" cy="572144"/>
              </a:xfrm>
              <a:prstGeom prst="rect">
                <a:avLst/>
              </a:prstGeom>
              <a:blipFill>
                <a:blip r:embed="rId6"/>
                <a:stretch>
                  <a:fillRect l="-624" b="-4348"/>
                </a:stretch>
              </a:blipFill>
            </p:spPr>
            <p:txBody>
              <a:bodyPr/>
              <a:lstStyle/>
              <a:p>
                <a:r>
                  <a:rPr lang="en-US">
                    <a:noFill/>
                  </a:rPr>
                  <a:t> </a:t>
                </a:r>
              </a:p>
            </p:txBody>
          </p:sp>
        </mc:Fallback>
      </mc:AlternateContent>
    </p:spTree>
    <p:extLst>
      <p:ext uri="{BB962C8B-B14F-4D97-AF65-F5344CB8AC3E}">
        <p14:creationId xmlns:p14="http://schemas.microsoft.com/office/powerpoint/2010/main" val="26630248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Importance sampling</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78C20033-1707-229A-15C3-BF7DDF58C67E}"/>
              </a:ext>
            </a:extLst>
          </p:cNvPr>
          <p:cNvPicPr>
            <a:picLocks noChangeAspect="1"/>
          </p:cNvPicPr>
          <p:nvPr/>
        </p:nvPicPr>
        <p:blipFill>
          <a:blip r:embed="rId3"/>
          <a:stretch>
            <a:fillRect/>
          </a:stretch>
        </p:blipFill>
        <p:spPr>
          <a:xfrm>
            <a:off x="2763977" y="1617060"/>
            <a:ext cx="6664046" cy="3623879"/>
          </a:xfrm>
          <a:prstGeom prst="rect">
            <a:avLst/>
          </a:prstGeom>
        </p:spPr>
      </p:pic>
    </p:spTree>
    <p:extLst>
      <p:ext uri="{BB962C8B-B14F-4D97-AF65-F5344CB8AC3E}">
        <p14:creationId xmlns:p14="http://schemas.microsoft.com/office/powerpoint/2010/main" val="858409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Importance sampling: Example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8CB559FB-CA29-F488-D789-5F41EF090680}"/>
              </a:ext>
            </a:extLst>
          </p:cNvPr>
          <p:cNvPicPr>
            <a:picLocks noChangeAspect="1"/>
          </p:cNvPicPr>
          <p:nvPr/>
        </p:nvPicPr>
        <p:blipFill>
          <a:blip r:embed="rId3"/>
          <a:stretch>
            <a:fillRect/>
          </a:stretch>
        </p:blipFill>
        <p:spPr>
          <a:xfrm>
            <a:off x="5346700" y="1248322"/>
            <a:ext cx="1498600" cy="850900"/>
          </a:xfrm>
          <a:prstGeom prst="rect">
            <a:avLst/>
          </a:prstGeom>
        </p:spPr>
      </p:pic>
      <p:sp>
        <p:nvSpPr>
          <p:cNvPr id="5" name="TextBox 4">
            <a:extLst>
              <a:ext uri="{FF2B5EF4-FFF2-40B4-BE49-F238E27FC236}">
                <a16:creationId xmlns:a16="http://schemas.microsoft.com/office/drawing/2014/main" id="{5B758406-419B-0D40-4AF8-5C6467C4FA6F}"/>
              </a:ext>
            </a:extLst>
          </p:cNvPr>
          <p:cNvSpPr txBox="1"/>
          <p:nvPr/>
        </p:nvSpPr>
        <p:spPr>
          <a:xfrm>
            <a:off x="4586611" y="6282625"/>
            <a:ext cx="3018775" cy="369332"/>
          </a:xfrm>
          <a:prstGeom prst="rect">
            <a:avLst/>
          </a:prstGeom>
          <a:noFill/>
        </p:spPr>
        <p:txBody>
          <a:bodyPr wrap="none" rtlCol="0">
            <a:spAutoFit/>
          </a:bodyPr>
          <a:lstStyle/>
          <a:p>
            <a:r>
              <a:rPr lang="en-US" dirty="0"/>
              <a:t>Integrable singularity at x=0 </a:t>
            </a:r>
          </a:p>
        </p:txBody>
      </p:sp>
      <p:pic>
        <p:nvPicPr>
          <p:cNvPr id="40962" name="Picture 2">
            <a:extLst>
              <a:ext uri="{FF2B5EF4-FFF2-40B4-BE49-F238E27FC236}">
                <a16:creationId xmlns:a16="http://schemas.microsoft.com/office/drawing/2014/main" id="{667F5CD6-68D4-F70B-A33C-F7D54D9A1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9001" y="2099222"/>
            <a:ext cx="5393996" cy="4087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6100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Importance sampling: Example</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8CB559FB-CA29-F488-D789-5F41EF090680}"/>
              </a:ext>
            </a:extLst>
          </p:cNvPr>
          <p:cNvPicPr>
            <a:picLocks noChangeAspect="1"/>
          </p:cNvPicPr>
          <p:nvPr/>
        </p:nvPicPr>
        <p:blipFill>
          <a:blip r:embed="rId3"/>
          <a:stretch>
            <a:fillRect/>
          </a:stretch>
        </p:blipFill>
        <p:spPr>
          <a:xfrm>
            <a:off x="5346700" y="1248322"/>
            <a:ext cx="1498600" cy="850900"/>
          </a:xfrm>
          <a:prstGeom prst="rect">
            <a:avLst/>
          </a:prstGeom>
        </p:spPr>
      </p:pic>
      <p:sp>
        <p:nvSpPr>
          <p:cNvPr id="5" name="TextBox 4">
            <a:extLst>
              <a:ext uri="{FF2B5EF4-FFF2-40B4-BE49-F238E27FC236}">
                <a16:creationId xmlns:a16="http://schemas.microsoft.com/office/drawing/2014/main" id="{5B758406-419B-0D40-4AF8-5C6467C4FA6F}"/>
              </a:ext>
            </a:extLst>
          </p:cNvPr>
          <p:cNvSpPr txBox="1"/>
          <p:nvPr/>
        </p:nvSpPr>
        <p:spPr>
          <a:xfrm>
            <a:off x="582169" y="2291449"/>
            <a:ext cx="2294218" cy="369332"/>
          </a:xfrm>
          <a:prstGeom prst="rect">
            <a:avLst/>
          </a:prstGeom>
          <a:noFill/>
        </p:spPr>
        <p:txBody>
          <a:bodyPr wrap="none" rtlCol="0">
            <a:spAutoFit/>
          </a:bodyPr>
          <a:lstStyle/>
          <a:p>
            <a:r>
              <a:rPr lang="en-US" b="1" dirty="0"/>
              <a:t>Mean value method</a:t>
            </a:r>
          </a:p>
        </p:txBody>
      </p:sp>
      <p:pic>
        <p:nvPicPr>
          <p:cNvPr id="6" name="Picture 5">
            <a:extLst>
              <a:ext uri="{FF2B5EF4-FFF2-40B4-BE49-F238E27FC236}">
                <a16:creationId xmlns:a16="http://schemas.microsoft.com/office/drawing/2014/main" id="{A0A51A28-2A9F-BB7F-E759-24BAE7286E1A}"/>
              </a:ext>
            </a:extLst>
          </p:cNvPr>
          <p:cNvPicPr>
            <a:picLocks noChangeAspect="1"/>
          </p:cNvPicPr>
          <p:nvPr/>
        </p:nvPicPr>
        <p:blipFill>
          <a:blip r:embed="rId4"/>
          <a:stretch>
            <a:fillRect/>
          </a:stretch>
        </p:blipFill>
        <p:spPr>
          <a:xfrm>
            <a:off x="687603" y="3429000"/>
            <a:ext cx="4659097" cy="2191958"/>
          </a:xfrm>
          <a:prstGeom prst="rect">
            <a:avLst/>
          </a:prstGeom>
        </p:spPr>
      </p:pic>
      <p:sp>
        <p:nvSpPr>
          <p:cNvPr id="7" name="TextBox 6">
            <a:extLst>
              <a:ext uri="{FF2B5EF4-FFF2-40B4-BE49-F238E27FC236}">
                <a16:creationId xmlns:a16="http://schemas.microsoft.com/office/drawing/2014/main" id="{51939DE7-1A32-1B10-E2CE-67FF8A10390C}"/>
              </a:ext>
            </a:extLst>
          </p:cNvPr>
          <p:cNvSpPr txBox="1"/>
          <p:nvPr/>
        </p:nvSpPr>
        <p:spPr>
          <a:xfrm>
            <a:off x="7093327" y="2291449"/>
            <a:ext cx="2390398" cy="369332"/>
          </a:xfrm>
          <a:prstGeom prst="rect">
            <a:avLst/>
          </a:prstGeom>
          <a:noFill/>
        </p:spPr>
        <p:txBody>
          <a:bodyPr wrap="none" rtlCol="0">
            <a:spAutoFit/>
          </a:bodyPr>
          <a:lstStyle/>
          <a:p>
            <a:r>
              <a:rPr lang="en-US" b="1" dirty="0"/>
              <a:t>Importance sampling</a:t>
            </a:r>
          </a:p>
        </p:txBody>
      </p:sp>
      <p:pic>
        <p:nvPicPr>
          <p:cNvPr id="8" name="Picture 7">
            <a:extLst>
              <a:ext uri="{FF2B5EF4-FFF2-40B4-BE49-F238E27FC236}">
                <a16:creationId xmlns:a16="http://schemas.microsoft.com/office/drawing/2014/main" id="{87698A20-A174-5884-D9C3-B03A734F5297}"/>
              </a:ext>
            </a:extLst>
          </p:cNvPr>
          <p:cNvPicPr>
            <a:picLocks noChangeAspect="1"/>
          </p:cNvPicPr>
          <p:nvPr/>
        </p:nvPicPr>
        <p:blipFill>
          <a:blip r:embed="rId5"/>
          <a:stretch>
            <a:fillRect/>
          </a:stretch>
        </p:blipFill>
        <p:spPr>
          <a:xfrm>
            <a:off x="2471051" y="2822640"/>
            <a:ext cx="1092200" cy="444500"/>
          </a:xfrm>
          <a:prstGeom prst="rect">
            <a:avLst/>
          </a:prstGeom>
        </p:spPr>
      </p:pic>
      <p:pic>
        <p:nvPicPr>
          <p:cNvPr id="9" name="Picture 8">
            <a:extLst>
              <a:ext uri="{FF2B5EF4-FFF2-40B4-BE49-F238E27FC236}">
                <a16:creationId xmlns:a16="http://schemas.microsoft.com/office/drawing/2014/main" id="{141703A7-DF70-17C7-4AEC-C9A4B816C8E5}"/>
              </a:ext>
            </a:extLst>
          </p:cNvPr>
          <p:cNvPicPr>
            <a:picLocks noChangeAspect="1"/>
          </p:cNvPicPr>
          <p:nvPr/>
        </p:nvPicPr>
        <p:blipFill>
          <a:blip r:embed="rId6"/>
          <a:stretch>
            <a:fillRect/>
          </a:stretch>
        </p:blipFill>
        <p:spPr>
          <a:xfrm>
            <a:off x="6400362" y="2822640"/>
            <a:ext cx="1092200" cy="504885"/>
          </a:xfrm>
          <a:prstGeom prst="rect">
            <a:avLst/>
          </a:prstGeom>
        </p:spPr>
      </p:pic>
      <p:pic>
        <p:nvPicPr>
          <p:cNvPr id="10" name="Picture 9">
            <a:extLst>
              <a:ext uri="{FF2B5EF4-FFF2-40B4-BE49-F238E27FC236}">
                <a16:creationId xmlns:a16="http://schemas.microsoft.com/office/drawing/2014/main" id="{F151E851-5715-8EDE-5119-947E2CF89B26}"/>
              </a:ext>
            </a:extLst>
          </p:cNvPr>
          <p:cNvPicPr>
            <a:picLocks noChangeAspect="1"/>
          </p:cNvPicPr>
          <p:nvPr/>
        </p:nvPicPr>
        <p:blipFill>
          <a:blip r:embed="rId7"/>
          <a:stretch>
            <a:fillRect/>
          </a:stretch>
        </p:blipFill>
        <p:spPr>
          <a:xfrm>
            <a:off x="7993351" y="2712242"/>
            <a:ext cx="1270800" cy="670422"/>
          </a:xfrm>
          <a:prstGeom prst="rect">
            <a:avLst/>
          </a:prstGeom>
        </p:spPr>
      </p:pic>
      <p:pic>
        <p:nvPicPr>
          <p:cNvPr id="11" name="Picture 10">
            <a:extLst>
              <a:ext uri="{FF2B5EF4-FFF2-40B4-BE49-F238E27FC236}">
                <a16:creationId xmlns:a16="http://schemas.microsoft.com/office/drawing/2014/main" id="{B6494EDD-3782-84F0-7268-C9B3AA2CAE0A}"/>
              </a:ext>
            </a:extLst>
          </p:cNvPr>
          <p:cNvPicPr>
            <a:picLocks noChangeAspect="1"/>
          </p:cNvPicPr>
          <p:nvPr/>
        </p:nvPicPr>
        <p:blipFill>
          <a:blip r:embed="rId8"/>
          <a:stretch>
            <a:fillRect/>
          </a:stretch>
        </p:blipFill>
        <p:spPr>
          <a:xfrm>
            <a:off x="9764940" y="2811130"/>
            <a:ext cx="673100" cy="419100"/>
          </a:xfrm>
          <a:prstGeom prst="rect">
            <a:avLst/>
          </a:prstGeom>
        </p:spPr>
      </p:pic>
      <p:pic>
        <p:nvPicPr>
          <p:cNvPr id="12" name="Picture 11">
            <a:extLst>
              <a:ext uri="{FF2B5EF4-FFF2-40B4-BE49-F238E27FC236}">
                <a16:creationId xmlns:a16="http://schemas.microsoft.com/office/drawing/2014/main" id="{629B7B71-02DC-3E83-1299-A1C64CB9F6E6}"/>
              </a:ext>
            </a:extLst>
          </p:cNvPr>
          <p:cNvPicPr>
            <a:picLocks noChangeAspect="1"/>
          </p:cNvPicPr>
          <p:nvPr/>
        </p:nvPicPr>
        <p:blipFill>
          <a:blip r:embed="rId9"/>
          <a:stretch>
            <a:fillRect/>
          </a:stretch>
        </p:blipFill>
        <p:spPr>
          <a:xfrm>
            <a:off x="6171286" y="3429000"/>
            <a:ext cx="2673050" cy="1028803"/>
          </a:xfrm>
          <a:prstGeom prst="rect">
            <a:avLst/>
          </a:prstGeom>
        </p:spPr>
      </p:pic>
      <p:pic>
        <p:nvPicPr>
          <p:cNvPr id="13" name="Picture 12">
            <a:extLst>
              <a:ext uri="{FF2B5EF4-FFF2-40B4-BE49-F238E27FC236}">
                <a16:creationId xmlns:a16="http://schemas.microsoft.com/office/drawing/2014/main" id="{598E708F-2507-A42B-498E-671A87F9882E}"/>
              </a:ext>
            </a:extLst>
          </p:cNvPr>
          <p:cNvPicPr>
            <a:picLocks noChangeAspect="1"/>
          </p:cNvPicPr>
          <p:nvPr/>
        </p:nvPicPr>
        <p:blipFill>
          <a:blip r:embed="rId10"/>
          <a:stretch>
            <a:fillRect/>
          </a:stretch>
        </p:blipFill>
        <p:spPr>
          <a:xfrm>
            <a:off x="6171286" y="4614242"/>
            <a:ext cx="4501012" cy="1028803"/>
          </a:xfrm>
          <a:prstGeom prst="rect">
            <a:avLst/>
          </a:prstGeom>
        </p:spPr>
      </p:pic>
      <p:cxnSp>
        <p:nvCxnSpPr>
          <p:cNvPr id="15" name="Straight Connector 14">
            <a:extLst>
              <a:ext uri="{FF2B5EF4-FFF2-40B4-BE49-F238E27FC236}">
                <a16:creationId xmlns:a16="http://schemas.microsoft.com/office/drawing/2014/main" id="{A224514F-5671-F05C-EDA5-40B3818499A8}"/>
              </a:ext>
            </a:extLst>
          </p:cNvPr>
          <p:cNvCxnSpPr/>
          <p:nvPr/>
        </p:nvCxnSpPr>
        <p:spPr>
          <a:xfrm>
            <a:off x="8628751" y="5538952"/>
            <a:ext cx="85497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D04E5E-3DC7-A702-8887-B6157738A44E}"/>
              </a:ext>
            </a:extLst>
          </p:cNvPr>
          <p:cNvCxnSpPr/>
          <p:nvPr/>
        </p:nvCxnSpPr>
        <p:spPr>
          <a:xfrm>
            <a:off x="3017151" y="5565228"/>
            <a:ext cx="85497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50E47B1-DEF1-7E28-0E4B-F6E580B9B99B}"/>
              </a:ext>
            </a:extLst>
          </p:cNvPr>
          <p:cNvSpPr txBox="1"/>
          <p:nvPr/>
        </p:nvSpPr>
        <p:spPr>
          <a:xfrm>
            <a:off x="582169" y="5908490"/>
            <a:ext cx="8125652" cy="923330"/>
          </a:xfrm>
          <a:prstGeom prst="rect">
            <a:avLst/>
          </a:prstGeom>
          <a:noFill/>
        </p:spPr>
        <p:txBody>
          <a:bodyPr wrap="square">
            <a:spAutoFit/>
          </a:bodyPr>
          <a:lstStyle/>
          <a:p>
            <a:r>
              <a:rPr lang="en-US" dirty="0"/>
              <a:t>Statistical error is more than x10 smaller than in the mean value method.</a:t>
            </a:r>
          </a:p>
          <a:p>
            <a:r>
              <a:rPr lang="en-US" dirty="0"/>
              <a:t>We would need more than x100 samples in the mean value method to reach the same accuracy as importance sampling in this case.</a:t>
            </a:r>
          </a:p>
        </p:txBody>
      </p:sp>
      <p:pic>
        <p:nvPicPr>
          <p:cNvPr id="21" name="Picture 20">
            <a:extLst>
              <a:ext uri="{FF2B5EF4-FFF2-40B4-BE49-F238E27FC236}">
                <a16:creationId xmlns:a16="http://schemas.microsoft.com/office/drawing/2014/main" id="{619EC727-DFCE-CAF8-98FB-0E82DD56A311}"/>
              </a:ext>
            </a:extLst>
          </p:cNvPr>
          <p:cNvPicPr>
            <a:picLocks noChangeAspect="1"/>
          </p:cNvPicPr>
          <p:nvPr/>
        </p:nvPicPr>
        <p:blipFill>
          <a:blip r:embed="rId11"/>
          <a:stretch>
            <a:fillRect/>
          </a:stretch>
        </p:blipFill>
        <p:spPr>
          <a:xfrm>
            <a:off x="9483725" y="3301857"/>
            <a:ext cx="1645919" cy="1234440"/>
          </a:xfrm>
          <a:prstGeom prst="rect">
            <a:avLst/>
          </a:prstGeom>
        </p:spPr>
      </p:pic>
      <p:sp>
        <p:nvSpPr>
          <p:cNvPr id="22" name="TextBox 21">
            <a:extLst>
              <a:ext uri="{FF2B5EF4-FFF2-40B4-BE49-F238E27FC236}">
                <a16:creationId xmlns:a16="http://schemas.microsoft.com/office/drawing/2014/main" id="{A75CB24F-3333-C4C6-19B7-F251BBC2AF52}"/>
              </a:ext>
            </a:extLst>
          </p:cNvPr>
          <p:cNvSpPr txBox="1"/>
          <p:nvPr/>
        </p:nvSpPr>
        <p:spPr>
          <a:xfrm>
            <a:off x="9856881" y="3943401"/>
            <a:ext cx="899605" cy="307777"/>
          </a:xfrm>
          <a:prstGeom prst="rect">
            <a:avLst/>
          </a:prstGeom>
          <a:noFill/>
        </p:spPr>
        <p:txBody>
          <a:bodyPr wrap="none" rtlCol="0">
            <a:spAutoFit/>
          </a:bodyPr>
          <a:lstStyle/>
          <a:p>
            <a:r>
              <a:rPr lang="en-US" sz="1400" dirty="0"/>
              <a:t>f(x)/w(x)</a:t>
            </a:r>
          </a:p>
        </p:txBody>
      </p:sp>
    </p:spTree>
    <p:extLst>
      <p:ext uri="{BB962C8B-B14F-4D97-AF65-F5344CB8AC3E}">
        <p14:creationId xmlns:p14="http://schemas.microsoft.com/office/powerpoint/2010/main" val="23202927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D769315-FB38-4E43-931B-7B25AE190E83}"/>
              </a:ext>
            </a:extLst>
          </p:cNvPr>
          <p:cNvSpPr txBox="1"/>
          <p:nvPr/>
        </p:nvSpPr>
        <p:spPr>
          <a:xfrm>
            <a:off x="2126055" y="1309871"/>
            <a:ext cx="7939889" cy="707886"/>
          </a:xfrm>
          <a:prstGeom prst="rect">
            <a:avLst/>
          </a:prstGeom>
          <a:noFill/>
        </p:spPr>
        <p:txBody>
          <a:bodyPr wrap="square" rtlCol="0">
            <a:spAutoFit/>
          </a:bodyPr>
          <a:lstStyle/>
          <a:p>
            <a:pPr algn="ctr">
              <a:spcAft>
                <a:spcPts val="600"/>
              </a:spcAft>
            </a:pPr>
            <a:r>
              <a:rPr lang="en-US" sz="4000" dirty="0">
                <a:latin typeface="+mj-lt"/>
              </a:rPr>
              <a:t>Extra slides</a:t>
            </a:r>
            <a:endParaRPr lang="uk-UA" sz="4000" dirty="0">
              <a:solidFill>
                <a:schemeClr val="bg1">
                  <a:lumMod val="50000"/>
                </a:schemeClr>
              </a:solidFill>
              <a:latin typeface="+mj-lt"/>
            </a:endParaRPr>
          </a:p>
        </p:txBody>
      </p:sp>
    </p:spTree>
    <p:extLst>
      <p:ext uri="{BB962C8B-B14F-4D97-AF65-F5344CB8AC3E}">
        <p14:creationId xmlns:p14="http://schemas.microsoft.com/office/powerpoint/2010/main" val="14670825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Relaxation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DC2512-C397-B11C-7C44-EDEA4A4446EA}"/>
                  </a:ext>
                </a:extLst>
              </p:cNvPr>
              <p:cNvSpPr txBox="1"/>
              <p:nvPr/>
            </p:nvSpPr>
            <p:spPr>
              <a:xfrm>
                <a:off x="686869" y="1215598"/>
                <a:ext cx="10863686" cy="2462213"/>
              </a:xfrm>
              <a:prstGeom prst="rect">
                <a:avLst/>
              </a:prstGeom>
              <a:noFill/>
            </p:spPr>
            <p:txBody>
              <a:bodyPr wrap="square">
                <a:spAutoFit/>
              </a:bodyPr>
              <a:lstStyle/>
              <a:p>
                <a:r>
                  <a:rPr lang="en-US" sz="2200" b="1" kern="150" dirty="0">
                    <a:effectLst/>
                    <a:latin typeface="+mj-lt"/>
                    <a:ea typeface="Times New Roman" panose="02020603050405020304" pitchFamily="18" charset="0"/>
                    <a:cs typeface="Times New Roman" panose="02020603050405020304" pitchFamily="18" charset="0"/>
                  </a:rPr>
                  <a:t>Relaxation method: </a:t>
                </a:r>
              </a:p>
              <a:p>
                <a:pPr marL="342900" indent="-342900">
                  <a:buFont typeface="Arial" panose="020B0604020202020204" pitchFamily="34" charset="0"/>
                  <a:buChar char="•"/>
                </a:pPr>
                <a:r>
                  <a:rPr lang="en-US" sz="2200" kern="150" dirty="0">
                    <a:latin typeface="+mj-lt"/>
                    <a:ea typeface="Times New Roman" panose="02020603050405020304" pitchFamily="18" charset="0"/>
                    <a:cs typeface="Times New Roman" panose="02020603050405020304" pitchFamily="18" charset="0"/>
                  </a:rPr>
                  <a:t>Cast the equation f(x) = 0 in a form</a:t>
                </a:r>
              </a:p>
              <a:p>
                <a:pPr marL="342900" indent="-342900">
                  <a:buFont typeface="Arial" panose="020B0604020202020204" pitchFamily="34" charset="0"/>
                  <a:buChar char="•"/>
                </a:pPr>
                <a:endParaRPr lang="en-US" sz="2200" kern="150" dirty="0">
                  <a:latin typeface="+mj-lt"/>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200" kern="150" dirty="0">
                  <a:latin typeface="+mj-lt"/>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kern="150" dirty="0">
                    <a:latin typeface="+mj-lt"/>
                    <a:ea typeface="Times New Roman" panose="02020603050405020304" pitchFamily="18" charset="0"/>
                    <a:cs typeface="Times New Roman" panose="02020603050405020304" pitchFamily="18" charset="0"/>
                  </a:rPr>
                  <a:t>For example </a:t>
                </a:r>
                <a14:m>
                  <m:oMath xmlns:m="http://schemas.openxmlformats.org/officeDocument/2006/math">
                    <m:r>
                      <a:rPr lang="en-US" sz="2200" i="1" kern="150" smtClean="0">
                        <a:latin typeface="Cambria Math" panose="02040503050406030204" pitchFamily="18" charset="0"/>
                        <a:ea typeface="Cambria Math" panose="02040503050406030204" pitchFamily="18" charset="0"/>
                        <a:cs typeface="Times New Roman" panose="02020603050405020304" pitchFamily="18" charset="0"/>
                      </a:rPr>
                      <m:t>𝜑</m:t>
                    </m:r>
                    <m:d>
                      <m:dPr>
                        <m:ctrlP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m:t>
                    </m:r>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𝑓</m:t>
                    </m:r>
                    <m:d>
                      <m:dPr>
                        <m:ctrlP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m:t>
                    </m:r>
                    <m:r>
                      <a:rPr lang="en-US" sz="2200" b="0" i="1" kern="150" smtClean="0">
                        <a:latin typeface="Cambria Math" panose="02040503050406030204" pitchFamily="18" charset="0"/>
                        <a:ea typeface="Cambria Math" panose="02040503050406030204" pitchFamily="18" charset="0"/>
                        <a:cs typeface="Times New Roman" panose="02020603050405020304" pitchFamily="18" charset="0"/>
                      </a:rPr>
                      <m:t>𝑥</m:t>
                    </m:r>
                  </m:oMath>
                </a14:m>
                <a:r>
                  <a:rPr lang="en-US" sz="2200" kern="150" dirty="0">
                    <a:latin typeface="+mj-lt"/>
                    <a:ea typeface="Times New Roman" panose="02020603050405020304" pitchFamily="18" charset="0"/>
                    <a:cs typeface="Times New Roman" panose="02020603050405020304" pitchFamily="18" charset="0"/>
                  </a:rPr>
                  <a:t> but this choice is not unique</a:t>
                </a:r>
              </a:p>
              <a:p>
                <a:pPr marL="342900" indent="-342900">
                  <a:buFont typeface="Arial" panose="020B0604020202020204" pitchFamily="34" charset="0"/>
                  <a:buChar char="•"/>
                </a:pPr>
                <a:endParaRPr lang="en-US" sz="2200" kern="150" dirty="0">
                  <a:latin typeface="+mj-lt"/>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kern="150" dirty="0">
                    <a:latin typeface="+mj-lt"/>
                    <a:ea typeface="Times New Roman" panose="02020603050405020304" pitchFamily="18" charset="0"/>
                    <a:cs typeface="Times New Roman" panose="02020603050405020304" pitchFamily="18" charset="0"/>
                  </a:rPr>
                  <a:t>The root is approximated by an iterative procedure</a:t>
                </a:r>
              </a:p>
            </p:txBody>
          </p:sp>
        </mc:Choice>
        <mc:Fallback xmlns="">
          <p:sp>
            <p:nvSpPr>
              <p:cNvPr id="8" name="TextBox 7">
                <a:extLst>
                  <a:ext uri="{FF2B5EF4-FFF2-40B4-BE49-F238E27FC236}">
                    <a16:creationId xmlns:a16="http://schemas.microsoft.com/office/drawing/2014/main" id="{AEDC2512-C397-B11C-7C44-EDEA4A4446EA}"/>
                  </a:ext>
                </a:extLst>
              </p:cNvPr>
              <p:cNvSpPr txBox="1">
                <a:spLocks noRot="1" noChangeAspect="1" noMove="1" noResize="1" noEditPoints="1" noAdjustHandles="1" noChangeArrowheads="1" noChangeShapeType="1" noTextEdit="1"/>
              </p:cNvSpPr>
              <p:nvPr/>
            </p:nvSpPr>
            <p:spPr>
              <a:xfrm>
                <a:off x="686869" y="1215598"/>
                <a:ext cx="10863686" cy="2462213"/>
              </a:xfrm>
              <a:prstGeom prst="rect">
                <a:avLst/>
              </a:prstGeom>
              <a:blipFill>
                <a:blip r:embed="rId2"/>
                <a:stretch>
                  <a:fillRect l="-701" t="-1538" b="-410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FF21B09-C53F-5B48-E4E3-0B26C61091A0}"/>
              </a:ext>
            </a:extLst>
          </p:cNvPr>
          <p:cNvSpPr txBox="1"/>
          <p:nvPr/>
        </p:nvSpPr>
        <p:spPr>
          <a:xfrm>
            <a:off x="686869" y="4341514"/>
            <a:ext cx="11039055" cy="430887"/>
          </a:xfrm>
          <a:prstGeom prst="rect">
            <a:avLst/>
          </a:prstGeom>
          <a:noFill/>
        </p:spPr>
        <p:txBody>
          <a:bodyPr wrap="square">
            <a:spAutoFit/>
          </a:bodyPr>
          <a:lstStyle/>
          <a:p>
            <a:r>
              <a:rPr lang="en-US" sz="2200" b="1" kern="150" dirty="0">
                <a:latin typeface="+mj-lt"/>
                <a:ea typeface="Times New Roman" panose="02020603050405020304" pitchFamily="18" charset="0"/>
                <a:cs typeface="Times New Roman" panose="02020603050405020304" pitchFamily="18" charset="0"/>
              </a:rPr>
              <a:t>Convergence criterion:</a:t>
            </a:r>
            <a:endParaRPr lang="en-US" sz="2200" kern="150" dirty="0">
              <a:latin typeface="+mj-lt"/>
              <a:ea typeface="Times New Roman" panose="02020603050405020304" pitchFamily="18" charset="0"/>
              <a:cs typeface="Times New Roman" panose="02020603050405020304" pitchFamily="18" charset="0"/>
            </a:endParaRPr>
          </a:p>
        </p:txBody>
      </p:sp>
      <p:pic>
        <p:nvPicPr>
          <p:cNvPr id="18" name="Graphic 17">
            <a:extLst>
              <a:ext uri="{FF2B5EF4-FFF2-40B4-BE49-F238E27FC236}">
                <a16:creationId xmlns:a16="http://schemas.microsoft.com/office/drawing/2014/main" id="{268DF691-4EC6-5267-6E23-3037C6C115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6218" y="3820064"/>
            <a:ext cx="1399561" cy="265180"/>
          </a:xfrm>
          <a:prstGeom prst="rect">
            <a:avLst/>
          </a:prstGeom>
        </p:spPr>
      </p:pic>
      <p:pic>
        <p:nvPicPr>
          <p:cNvPr id="20" name="Graphic 19">
            <a:extLst>
              <a:ext uri="{FF2B5EF4-FFF2-40B4-BE49-F238E27FC236}">
                <a16:creationId xmlns:a16="http://schemas.microsoft.com/office/drawing/2014/main" id="{374D132A-09FA-F057-FE86-10E96B172B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15732" y="2043326"/>
            <a:ext cx="960532" cy="258053"/>
          </a:xfrm>
          <a:prstGeom prst="rect">
            <a:avLst/>
          </a:prstGeom>
        </p:spPr>
      </p:pic>
      <p:pic>
        <p:nvPicPr>
          <p:cNvPr id="24" name="Graphic 23">
            <a:extLst>
              <a:ext uri="{FF2B5EF4-FFF2-40B4-BE49-F238E27FC236}">
                <a16:creationId xmlns:a16="http://schemas.microsoft.com/office/drawing/2014/main" id="{6FDE1257-7B21-B5DC-3652-45A24F31E3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5533" y="4939188"/>
            <a:ext cx="2660934" cy="260607"/>
          </a:xfrm>
          <a:prstGeom prst="rect">
            <a:avLst/>
          </a:prstGeom>
        </p:spPr>
      </p:pic>
    </p:spTree>
    <p:extLst>
      <p:ext uri="{BB962C8B-B14F-4D97-AF65-F5344CB8AC3E}">
        <p14:creationId xmlns:p14="http://schemas.microsoft.com/office/powerpoint/2010/main" val="30717364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Relaxation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4" name="Picture 3">
            <a:extLst>
              <a:ext uri="{FF2B5EF4-FFF2-40B4-BE49-F238E27FC236}">
                <a16:creationId xmlns:a16="http://schemas.microsoft.com/office/drawing/2014/main" id="{ACC0A8C3-1225-C273-74B9-A3418228925F}"/>
              </a:ext>
            </a:extLst>
          </p:cNvPr>
          <p:cNvPicPr>
            <a:picLocks noChangeAspect="1"/>
          </p:cNvPicPr>
          <p:nvPr/>
        </p:nvPicPr>
        <p:blipFill>
          <a:blip r:embed="rId2"/>
          <a:stretch>
            <a:fillRect/>
          </a:stretch>
        </p:blipFill>
        <p:spPr>
          <a:xfrm>
            <a:off x="1651236" y="1472022"/>
            <a:ext cx="8889527" cy="4305530"/>
          </a:xfrm>
          <a:prstGeom prst="rect">
            <a:avLst/>
          </a:prstGeom>
        </p:spPr>
      </p:pic>
    </p:spTree>
    <p:extLst>
      <p:ext uri="{BB962C8B-B14F-4D97-AF65-F5344CB8AC3E}">
        <p14:creationId xmlns:p14="http://schemas.microsoft.com/office/powerpoint/2010/main" val="11790549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Relaxation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pic>
        <p:nvPicPr>
          <p:cNvPr id="3" name="Graphic 2">
            <a:extLst>
              <a:ext uri="{FF2B5EF4-FFF2-40B4-BE49-F238E27FC236}">
                <a16:creationId xmlns:a16="http://schemas.microsoft.com/office/drawing/2014/main" id="{3977E9C3-1B46-67FD-7DC9-FE12B863A3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185" y="1528930"/>
            <a:ext cx="1945415" cy="225090"/>
          </a:xfrm>
          <a:prstGeom prst="rect">
            <a:avLst/>
          </a:prstGeom>
        </p:spPr>
      </p:pic>
      <p:sp>
        <p:nvSpPr>
          <p:cNvPr id="5" name="TextBox 4">
            <a:extLst>
              <a:ext uri="{FF2B5EF4-FFF2-40B4-BE49-F238E27FC236}">
                <a16:creationId xmlns:a16="http://schemas.microsoft.com/office/drawing/2014/main" id="{C3F20B0F-20CA-8607-BF4A-E4A2E9BAD311}"/>
              </a:ext>
            </a:extLst>
          </p:cNvPr>
          <p:cNvSpPr txBox="1"/>
          <p:nvPr/>
        </p:nvSpPr>
        <p:spPr>
          <a:xfrm>
            <a:off x="3687170" y="1426031"/>
            <a:ext cx="561833" cy="430887"/>
          </a:xfrm>
          <a:prstGeom prst="rect">
            <a:avLst/>
          </a:prstGeom>
          <a:noFill/>
        </p:spPr>
        <p:txBody>
          <a:bodyPr wrap="square" rtlCol="0">
            <a:spAutoFit/>
          </a:bodyPr>
          <a:lstStyle/>
          <a:p>
            <a:r>
              <a:rPr lang="en-US" sz="2200" dirty="0"/>
              <a:t>as</a:t>
            </a:r>
          </a:p>
        </p:txBody>
      </p:sp>
      <p:pic>
        <p:nvPicPr>
          <p:cNvPr id="8" name="Graphic 7">
            <a:extLst>
              <a:ext uri="{FF2B5EF4-FFF2-40B4-BE49-F238E27FC236}">
                <a16:creationId xmlns:a16="http://schemas.microsoft.com/office/drawing/2014/main" id="{C4AB3F05-89FA-9F4C-8178-968F3AE50F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18573" y="1528930"/>
            <a:ext cx="1570154" cy="226800"/>
          </a:xfrm>
          <a:prstGeom prst="rect">
            <a:avLst/>
          </a:prstGeom>
        </p:spPr>
      </p:pic>
      <p:sp>
        <p:nvSpPr>
          <p:cNvPr id="9" name="TextBox 8">
            <a:extLst>
              <a:ext uri="{FF2B5EF4-FFF2-40B4-BE49-F238E27FC236}">
                <a16:creationId xmlns:a16="http://schemas.microsoft.com/office/drawing/2014/main" id="{9A0EE669-EC66-0B61-F0FF-00233130B068}"/>
              </a:ext>
            </a:extLst>
          </p:cNvPr>
          <p:cNvSpPr txBox="1"/>
          <p:nvPr/>
        </p:nvSpPr>
        <p:spPr>
          <a:xfrm>
            <a:off x="7662082" y="1426031"/>
            <a:ext cx="561833" cy="430887"/>
          </a:xfrm>
          <a:prstGeom prst="rect">
            <a:avLst/>
          </a:prstGeom>
          <a:noFill/>
        </p:spPr>
        <p:txBody>
          <a:bodyPr wrap="square" rtlCol="0">
            <a:spAutoFit/>
          </a:bodyPr>
          <a:lstStyle/>
          <a:p>
            <a:r>
              <a:rPr lang="en-US" sz="2200" dirty="0"/>
              <a:t>i.e.</a:t>
            </a:r>
          </a:p>
        </p:txBody>
      </p:sp>
      <p:pic>
        <p:nvPicPr>
          <p:cNvPr id="11" name="Graphic 10">
            <a:extLst>
              <a:ext uri="{FF2B5EF4-FFF2-40B4-BE49-F238E27FC236}">
                <a16:creationId xmlns:a16="http://schemas.microsoft.com/office/drawing/2014/main" id="{84C4BF84-89C8-65EF-D81A-22B32B5225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64483" y="1528930"/>
            <a:ext cx="1614848" cy="254976"/>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F7F8AD-375C-0C40-21B8-0A236A333796}"/>
                  </a:ext>
                </a:extLst>
              </p:cNvPr>
              <p:cNvSpPr txBox="1"/>
              <p:nvPr/>
            </p:nvSpPr>
            <p:spPr>
              <a:xfrm>
                <a:off x="439003" y="2212544"/>
                <a:ext cx="3810000" cy="430887"/>
              </a:xfrm>
              <a:prstGeom prst="rect">
                <a:avLst/>
              </a:prstGeom>
              <a:noFill/>
            </p:spPr>
            <p:txBody>
              <a:bodyPr wrap="square" rtlCol="0">
                <a:spAutoFit/>
              </a:bodyPr>
              <a:lstStyle/>
              <a:p>
                <a:r>
                  <a:rPr lang="en-US" sz="2200" dirty="0"/>
                  <a:t>Starting with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0</m:t>
                        </m:r>
                      </m:sub>
                    </m:sSub>
                  </m:oMath>
                </a14:m>
                <a:r>
                  <a:rPr lang="en-US" sz="2200" dirty="0"/>
                  <a:t>=0.5 we have</a:t>
                </a:r>
              </a:p>
            </p:txBody>
          </p:sp>
        </mc:Choice>
        <mc:Fallback xmlns="">
          <p:sp>
            <p:nvSpPr>
              <p:cNvPr id="12" name="TextBox 11">
                <a:extLst>
                  <a:ext uri="{FF2B5EF4-FFF2-40B4-BE49-F238E27FC236}">
                    <a16:creationId xmlns:a16="http://schemas.microsoft.com/office/drawing/2014/main" id="{83F7F8AD-375C-0C40-21B8-0A236A333796}"/>
                  </a:ext>
                </a:extLst>
              </p:cNvPr>
              <p:cNvSpPr txBox="1">
                <a:spLocks noRot="1" noChangeAspect="1" noMove="1" noResize="1" noEditPoints="1" noAdjustHandles="1" noChangeArrowheads="1" noChangeShapeType="1" noTextEdit="1"/>
              </p:cNvSpPr>
              <p:nvPr/>
            </p:nvSpPr>
            <p:spPr>
              <a:xfrm>
                <a:off x="439003" y="2212544"/>
                <a:ext cx="3810000" cy="430887"/>
              </a:xfrm>
              <a:prstGeom prst="rect">
                <a:avLst/>
              </a:prstGeom>
              <a:blipFill>
                <a:blip r:embed="rId8"/>
                <a:stretch>
                  <a:fillRect l="-2080" t="-11268" b="-25352"/>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CD10CCCE-CA55-7FD3-AE23-2F084AFAA9C2}"/>
              </a:ext>
            </a:extLst>
          </p:cNvPr>
          <p:cNvPicPr>
            <a:picLocks noChangeAspect="1"/>
          </p:cNvPicPr>
          <p:nvPr/>
        </p:nvPicPr>
        <p:blipFill>
          <a:blip r:embed="rId9"/>
          <a:stretch>
            <a:fillRect/>
          </a:stretch>
        </p:blipFill>
        <p:spPr>
          <a:xfrm>
            <a:off x="3210351" y="2916193"/>
            <a:ext cx="6756752" cy="3100157"/>
          </a:xfrm>
          <a:prstGeom prst="rect">
            <a:avLst/>
          </a:prstGeom>
        </p:spPr>
      </p:pic>
      <p:sp>
        <p:nvSpPr>
          <p:cNvPr id="14" name="TextBox 13">
            <a:extLst>
              <a:ext uri="{FF2B5EF4-FFF2-40B4-BE49-F238E27FC236}">
                <a16:creationId xmlns:a16="http://schemas.microsoft.com/office/drawing/2014/main" id="{77AF7EC8-18BC-AD3B-620C-617754CDCE17}"/>
              </a:ext>
            </a:extLst>
          </p:cNvPr>
          <p:cNvSpPr txBox="1"/>
          <p:nvPr/>
        </p:nvSpPr>
        <p:spPr>
          <a:xfrm>
            <a:off x="439003" y="6251847"/>
            <a:ext cx="9633045" cy="430887"/>
          </a:xfrm>
          <a:prstGeom prst="rect">
            <a:avLst/>
          </a:prstGeom>
          <a:noFill/>
        </p:spPr>
        <p:txBody>
          <a:bodyPr wrap="square" rtlCol="0">
            <a:spAutoFit/>
          </a:bodyPr>
          <a:lstStyle/>
          <a:p>
            <a:r>
              <a:rPr lang="en-US" sz="2200" dirty="0"/>
              <a:t>Not as fast as Newton-Raphson but does not require evaluation of the derivative</a:t>
            </a:r>
          </a:p>
        </p:txBody>
      </p:sp>
    </p:spTree>
    <p:extLst>
      <p:ext uri="{BB962C8B-B14F-4D97-AF65-F5344CB8AC3E}">
        <p14:creationId xmlns:p14="http://schemas.microsoft.com/office/powerpoint/2010/main" val="22750365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t>Relaxation method</a:t>
            </a:r>
            <a:endParaRPr lang="uk-UA" dirty="0"/>
          </a:p>
        </p:txBody>
      </p:sp>
      <p:sp>
        <p:nvSpPr>
          <p:cNvPr id="7" name="Text Placeholder 6">
            <a:extLst>
              <a:ext uri="{FF2B5EF4-FFF2-40B4-BE49-F238E27FC236}">
                <a16:creationId xmlns:a16="http://schemas.microsoft.com/office/drawing/2014/main" id="{90F7CEDE-7B21-7BBD-878D-4DD53818F0B1}"/>
              </a:ext>
            </a:extLst>
          </p:cNvPr>
          <p:cNvSpPr>
            <a:spLocks noGrp="1"/>
          </p:cNvSpPr>
          <p:nvPr>
            <p:ph type="body" sz="quarter" idx="12"/>
          </p:nvPr>
        </p:nvSpPr>
        <p:spPr/>
        <p:txBody>
          <a:bodyPr/>
          <a:lstStyle/>
          <a:p>
            <a:endParaRPr lang="en-US"/>
          </a:p>
        </p:txBody>
      </p:sp>
      <p:sp>
        <p:nvSpPr>
          <p:cNvPr id="5" name="TextBox 4">
            <a:extLst>
              <a:ext uri="{FF2B5EF4-FFF2-40B4-BE49-F238E27FC236}">
                <a16:creationId xmlns:a16="http://schemas.microsoft.com/office/drawing/2014/main" id="{C3F20B0F-20CA-8607-BF4A-E4A2E9BAD311}"/>
              </a:ext>
            </a:extLst>
          </p:cNvPr>
          <p:cNvSpPr txBox="1"/>
          <p:nvPr/>
        </p:nvSpPr>
        <p:spPr>
          <a:xfrm>
            <a:off x="3687170" y="1426031"/>
            <a:ext cx="561833" cy="430887"/>
          </a:xfrm>
          <a:prstGeom prst="rect">
            <a:avLst/>
          </a:prstGeom>
          <a:noFill/>
        </p:spPr>
        <p:txBody>
          <a:bodyPr wrap="square" rtlCol="0">
            <a:spAutoFit/>
          </a:bodyPr>
          <a:lstStyle/>
          <a:p>
            <a:r>
              <a:rPr lang="en-US" sz="2200" dirty="0"/>
              <a:t>as</a:t>
            </a:r>
          </a:p>
        </p:txBody>
      </p:sp>
      <p:sp>
        <p:nvSpPr>
          <p:cNvPr id="9" name="TextBox 8">
            <a:extLst>
              <a:ext uri="{FF2B5EF4-FFF2-40B4-BE49-F238E27FC236}">
                <a16:creationId xmlns:a16="http://schemas.microsoft.com/office/drawing/2014/main" id="{9A0EE669-EC66-0B61-F0FF-00233130B068}"/>
              </a:ext>
            </a:extLst>
          </p:cNvPr>
          <p:cNvSpPr txBox="1"/>
          <p:nvPr/>
        </p:nvSpPr>
        <p:spPr>
          <a:xfrm>
            <a:off x="7662082" y="1426031"/>
            <a:ext cx="561833" cy="430887"/>
          </a:xfrm>
          <a:prstGeom prst="rect">
            <a:avLst/>
          </a:prstGeom>
          <a:noFill/>
        </p:spPr>
        <p:txBody>
          <a:bodyPr wrap="square" rtlCol="0">
            <a:spAutoFit/>
          </a:bodyPr>
          <a:lstStyle/>
          <a:p>
            <a:r>
              <a:rPr lang="en-US" sz="2200" dirty="0"/>
              <a:t>i.e.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F7F8AD-375C-0C40-21B8-0A236A333796}"/>
                  </a:ext>
                </a:extLst>
              </p:cNvPr>
              <p:cNvSpPr txBox="1"/>
              <p:nvPr/>
            </p:nvSpPr>
            <p:spPr>
              <a:xfrm>
                <a:off x="893928" y="2236647"/>
                <a:ext cx="3810000" cy="430887"/>
              </a:xfrm>
              <a:prstGeom prst="rect">
                <a:avLst/>
              </a:prstGeom>
              <a:noFill/>
            </p:spPr>
            <p:txBody>
              <a:bodyPr wrap="square" rtlCol="0">
                <a:spAutoFit/>
              </a:bodyPr>
              <a:lstStyle/>
              <a:p>
                <a:r>
                  <a:rPr lang="en-US" sz="2200" dirty="0"/>
                  <a:t>Starting with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0</m:t>
                        </m:r>
                      </m:sub>
                    </m:sSub>
                  </m:oMath>
                </a14:m>
                <a:r>
                  <a:rPr lang="en-US" sz="2200" dirty="0"/>
                  <a:t>=0.5 we have</a:t>
                </a:r>
              </a:p>
            </p:txBody>
          </p:sp>
        </mc:Choice>
        <mc:Fallback xmlns="">
          <p:sp>
            <p:nvSpPr>
              <p:cNvPr id="12" name="TextBox 11">
                <a:extLst>
                  <a:ext uri="{FF2B5EF4-FFF2-40B4-BE49-F238E27FC236}">
                    <a16:creationId xmlns:a16="http://schemas.microsoft.com/office/drawing/2014/main" id="{83F7F8AD-375C-0C40-21B8-0A236A333796}"/>
                  </a:ext>
                </a:extLst>
              </p:cNvPr>
              <p:cNvSpPr txBox="1">
                <a:spLocks noRot="1" noChangeAspect="1" noMove="1" noResize="1" noEditPoints="1" noAdjustHandles="1" noChangeArrowheads="1" noChangeShapeType="1" noTextEdit="1"/>
              </p:cNvSpPr>
              <p:nvPr/>
            </p:nvSpPr>
            <p:spPr>
              <a:xfrm>
                <a:off x="893928" y="2236647"/>
                <a:ext cx="3810000" cy="430887"/>
              </a:xfrm>
              <a:prstGeom prst="rect">
                <a:avLst/>
              </a:prstGeom>
              <a:blipFill>
                <a:blip r:embed="rId2"/>
                <a:stretch>
                  <a:fillRect l="-2080" t="-11268" b="-25352"/>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77AF7EC8-18BC-AD3B-620C-617754CDCE17}"/>
              </a:ext>
            </a:extLst>
          </p:cNvPr>
          <p:cNvSpPr txBox="1"/>
          <p:nvPr/>
        </p:nvSpPr>
        <p:spPr>
          <a:xfrm>
            <a:off x="825467" y="5483453"/>
            <a:ext cx="9633045" cy="430887"/>
          </a:xfrm>
          <a:prstGeom prst="rect">
            <a:avLst/>
          </a:prstGeom>
          <a:noFill/>
        </p:spPr>
        <p:txBody>
          <a:bodyPr wrap="square" rtlCol="0">
            <a:spAutoFit/>
          </a:bodyPr>
          <a:lstStyle/>
          <a:p>
            <a:r>
              <a:rPr lang="en-US" sz="2200" dirty="0"/>
              <a:t>Divergent!</a:t>
            </a:r>
          </a:p>
        </p:txBody>
      </p:sp>
      <p:pic>
        <p:nvPicPr>
          <p:cNvPr id="4" name="Graphic 3">
            <a:extLst>
              <a:ext uri="{FF2B5EF4-FFF2-40B4-BE49-F238E27FC236}">
                <a16:creationId xmlns:a16="http://schemas.microsoft.com/office/drawing/2014/main" id="{C0B8D012-063E-B5E8-4818-92ED2A487B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116" y="1513439"/>
            <a:ext cx="1776486" cy="256070"/>
          </a:xfrm>
          <a:prstGeom prst="rect">
            <a:avLst/>
          </a:prstGeom>
        </p:spPr>
      </p:pic>
      <p:pic>
        <p:nvPicPr>
          <p:cNvPr id="10" name="Graphic 9">
            <a:extLst>
              <a:ext uri="{FF2B5EF4-FFF2-40B4-BE49-F238E27FC236}">
                <a16:creationId xmlns:a16="http://schemas.microsoft.com/office/drawing/2014/main" id="{9479DEED-1754-FCE0-BE90-EF444E8B23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32612" y="1497474"/>
            <a:ext cx="1440000" cy="288000"/>
          </a:xfrm>
          <a:prstGeom prst="rect">
            <a:avLst/>
          </a:prstGeom>
        </p:spPr>
      </p:pic>
      <p:pic>
        <p:nvPicPr>
          <p:cNvPr id="16" name="Graphic 15">
            <a:extLst>
              <a:ext uri="{FF2B5EF4-FFF2-40B4-BE49-F238E27FC236}">
                <a16:creationId xmlns:a16="http://schemas.microsoft.com/office/drawing/2014/main" id="{280B67A5-F2D9-D0DF-62EF-906A0302EF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29691" y="1544815"/>
            <a:ext cx="1512000" cy="288000"/>
          </a:xfrm>
          <a:prstGeom prst="rect">
            <a:avLst/>
          </a:prstGeom>
        </p:spPr>
      </p:pic>
      <p:pic>
        <p:nvPicPr>
          <p:cNvPr id="17" name="Picture 16">
            <a:extLst>
              <a:ext uri="{FF2B5EF4-FFF2-40B4-BE49-F238E27FC236}">
                <a16:creationId xmlns:a16="http://schemas.microsoft.com/office/drawing/2014/main" id="{4F76A1C7-0439-AD3C-A1FA-9CE81F323A9C}"/>
              </a:ext>
            </a:extLst>
          </p:cNvPr>
          <p:cNvPicPr>
            <a:picLocks noChangeAspect="1"/>
          </p:cNvPicPr>
          <p:nvPr/>
        </p:nvPicPr>
        <p:blipFill>
          <a:blip r:embed="rId9"/>
          <a:stretch>
            <a:fillRect/>
          </a:stretch>
        </p:blipFill>
        <p:spPr>
          <a:xfrm>
            <a:off x="1025571" y="2967681"/>
            <a:ext cx="10140858" cy="2345504"/>
          </a:xfrm>
          <a:prstGeom prst="rect">
            <a:avLst/>
          </a:prstGeom>
        </p:spPr>
      </p:pic>
      <p:sp>
        <p:nvSpPr>
          <p:cNvPr id="18" name="TextBox 17">
            <a:extLst>
              <a:ext uri="{FF2B5EF4-FFF2-40B4-BE49-F238E27FC236}">
                <a16:creationId xmlns:a16="http://schemas.microsoft.com/office/drawing/2014/main" id="{493437B9-F640-B6A4-C0CF-3FC929B745E8}"/>
              </a:ext>
            </a:extLst>
          </p:cNvPr>
          <p:cNvSpPr txBox="1"/>
          <p:nvPr/>
        </p:nvSpPr>
        <p:spPr>
          <a:xfrm>
            <a:off x="825467" y="5959841"/>
            <a:ext cx="9633045" cy="430887"/>
          </a:xfrm>
          <a:prstGeom prst="rect">
            <a:avLst/>
          </a:prstGeom>
          <a:noFill/>
        </p:spPr>
        <p:txBody>
          <a:bodyPr wrap="square" rtlCol="0">
            <a:spAutoFit/>
          </a:bodyPr>
          <a:lstStyle/>
          <a:p>
            <a:r>
              <a:rPr lang="en-US" sz="2200" dirty="0"/>
              <a:t>Reason: </a:t>
            </a:r>
          </a:p>
        </p:txBody>
      </p:sp>
      <p:pic>
        <p:nvPicPr>
          <p:cNvPr id="21" name="Graphic 20">
            <a:extLst>
              <a:ext uri="{FF2B5EF4-FFF2-40B4-BE49-F238E27FC236}">
                <a16:creationId xmlns:a16="http://schemas.microsoft.com/office/drawing/2014/main" id="{4B79EE34-3C85-24FC-4D03-474A3E606C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048982" y="6048216"/>
            <a:ext cx="1252404" cy="276694"/>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B65575-3459-76ED-6DAC-A7B72A0464B3}"/>
                  </a:ext>
                </a:extLst>
              </p:cNvPr>
              <p:cNvSpPr txBox="1"/>
              <p:nvPr/>
            </p:nvSpPr>
            <p:spPr>
              <a:xfrm>
                <a:off x="3407392" y="5959840"/>
                <a:ext cx="9633045" cy="430887"/>
              </a:xfrm>
              <a:prstGeom prst="rect">
                <a:avLst/>
              </a:prstGeom>
              <a:noFill/>
            </p:spPr>
            <p:txBody>
              <a:bodyPr wrap="square" rtlCol="0">
                <a:spAutoFit/>
              </a:bodyPr>
              <a:lstStyle/>
              <a:p>
                <a:r>
                  <a:rPr lang="en-US" sz="2200" dirty="0"/>
                  <a:t>violated [try to come up with a better form of </a:t>
                </a:r>
                <a14:m>
                  <m:oMath xmlns:m="http://schemas.openxmlformats.org/officeDocument/2006/math">
                    <m:r>
                      <a:rPr lang="en-US" sz="2200" i="1" smtClean="0">
                        <a:latin typeface="Cambria Math" panose="02040503050406030204" pitchFamily="18" charset="0"/>
                        <a:ea typeface="Cambria Math" panose="02040503050406030204" pitchFamily="18" charset="0"/>
                      </a:rPr>
                      <m:t>𝜑</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oMath>
                </a14:m>
                <a:r>
                  <a:rPr lang="en-US" sz="2200" dirty="0"/>
                  <a:t>?]</a:t>
                </a:r>
              </a:p>
            </p:txBody>
          </p:sp>
        </mc:Choice>
        <mc:Fallback xmlns="">
          <p:sp>
            <p:nvSpPr>
              <p:cNvPr id="22" name="TextBox 21">
                <a:extLst>
                  <a:ext uri="{FF2B5EF4-FFF2-40B4-BE49-F238E27FC236}">
                    <a16:creationId xmlns:a16="http://schemas.microsoft.com/office/drawing/2014/main" id="{48B65575-3459-76ED-6DAC-A7B72A0464B3}"/>
                  </a:ext>
                </a:extLst>
              </p:cNvPr>
              <p:cNvSpPr txBox="1">
                <a:spLocks noRot="1" noChangeAspect="1" noMove="1" noResize="1" noEditPoints="1" noAdjustHandles="1" noChangeArrowheads="1" noChangeShapeType="1" noTextEdit="1"/>
              </p:cNvSpPr>
              <p:nvPr/>
            </p:nvSpPr>
            <p:spPr>
              <a:xfrm>
                <a:off x="3407392" y="5959840"/>
                <a:ext cx="9633045" cy="430887"/>
              </a:xfrm>
              <a:prstGeom prst="rect">
                <a:avLst/>
              </a:prstGeom>
              <a:blipFill>
                <a:blip r:embed="rId12"/>
                <a:stretch>
                  <a:fillRect l="-791" t="-8571" b="-28571"/>
                </a:stretch>
              </a:blipFill>
            </p:spPr>
            <p:txBody>
              <a:bodyPr/>
              <a:lstStyle/>
              <a:p>
                <a:r>
                  <a:rPr lang="en-US">
                    <a:noFill/>
                  </a:rPr>
                  <a:t> </a:t>
                </a:r>
              </a:p>
            </p:txBody>
          </p:sp>
        </mc:Fallback>
      </mc:AlternateContent>
    </p:spTree>
    <p:extLst>
      <p:ext uri="{BB962C8B-B14F-4D97-AF65-F5344CB8AC3E}">
        <p14:creationId xmlns:p14="http://schemas.microsoft.com/office/powerpoint/2010/main" val="5724437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b="1" dirty="0"/>
              <a:t>Sampling of an Isotropic Direction in 3D</a:t>
            </a:r>
            <a:endParaRPr lang="en-US"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6" name="TextBox 5">
            <a:extLst>
              <a:ext uri="{FF2B5EF4-FFF2-40B4-BE49-F238E27FC236}">
                <a16:creationId xmlns:a16="http://schemas.microsoft.com/office/drawing/2014/main" id="{2B90E922-78DE-6288-826F-79A67A6F726E}"/>
              </a:ext>
            </a:extLst>
          </p:cNvPr>
          <p:cNvSpPr txBox="1"/>
          <p:nvPr/>
        </p:nvSpPr>
        <p:spPr>
          <a:xfrm>
            <a:off x="911914" y="1165086"/>
            <a:ext cx="8579955" cy="646331"/>
          </a:xfrm>
          <a:prstGeom prst="rect">
            <a:avLst/>
          </a:prstGeom>
          <a:noFill/>
        </p:spPr>
        <p:txBody>
          <a:bodyPr wrap="square">
            <a:spAutoFit/>
          </a:bodyPr>
          <a:lstStyle/>
          <a:p>
            <a:r>
              <a:rPr lang="en-US" dirty="0"/>
              <a:t>One common problem in </a:t>
            </a:r>
            <a:r>
              <a:rPr lang="en-US" b="1" dirty="0"/>
              <a:t>Monte Carlo simulations</a:t>
            </a:r>
            <a:r>
              <a:rPr lang="en-US" dirty="0"/>
              <a:t> is the </a:t>
            </a:r>
            <a:r>
              <a:rPr lang="en-US" b="1" dirty="0"/>
              <a:t>random sampling of an isotropic direction in 3D space</a:t>
            </a:r>
            <a:r>
              <a:rPr lang="en-US" dirty="0"/>
              <a:t>. This issue arises in various contexts, such as:</a:t>
            </a:r>
          </a:p>
        </p:txBody>
      </p:sp>
      <p:sp>
        <p:nvSpPr>
          <p:cNvPr id="8" name="TextBox 7">
            <a:extLst>
              <a:ext uri="{FF2B5EF4-FFF2-40B4-BE49-F238E27FC236}">
                <a16:creationId xmlns:a16="http://schemas.microsoft.com/office/drawing/2014/main" id="{ED1572E4-57C5-AD63-9D60-319B6F43AEDB}"/>
              </a:ext>
            </a:extLst>
          </p:cNvPr>
          <p:cNvSpPr txBox="1"/>
          <p:nvPr/>
        </p:nvSpPr>
        <p:spPr>
          <a:xfrm>
            <a:off x="911914" y="1909988"/>
            <a:ext cx="8073060" cy="923330"/>
          </a:xfrm>
          <a:prstGeom prst="rect">
            <a:avLst/>
          </a:prstGeom>
          <a:noFill/>
        </p:spPr>
        <p:txBody>
          <a:bodyPr wrap="square">
            <a:spAutoFit/>
          </a:bodyPr>
          <a:lstStyle/>
          <a:p>
            <a:pPr>
              <a:buNone/>
            </a:pPr>
            <a:r>
              <a:rPr lang="en-US" dirty="0"/>
              <a:t>• Sampling a random orientation of an </a:t>
            </a:r>
            <a:r>
              <a:rPr lang="en-US" b="1" dirty="0"/>
              <a:t>axially symmetric object</a:t>
            </a:r>
            <a:r>
              <a:rPr lang="en-US" dirty="0"/>
              <a:t> (e.g., a rod).</a:t>
            </a:r>
          </a:p>
          <a:p>
            <a:pPr>
              <a:buNone/>
            </a:pPr>
            <a:endParaRPr lang="en-US" dirty="0"/>
          </a:p>
          <a:p>
            <a:r>
              <a:rPr lang="en-US" dirty="0"/>
              <a:t>• Sampling the </a:t>
            </a:r>
            <a:r>
              <a:rPr lang="en-US" b="1" dirty="0"/>
              <a:t>momentum direction</a:t>
            </a:r>
            <a:r>
              <a:rPr lang="en-US" dirty="0"/>
              <a:t> of a particle.</a:t>
            </a:r>
          </a:p>
        </p:txBody>
      </p:sp>
      <p:sp>
        <p:nvSpPr>
          <p:cNvPr id="10" name="TextBox 9">
            <a:extLst>
              <a:ext uri="{FF2B5EF4-FFF2-40B4-BE49-F238E27FC236}">
                <a16:creationId xmlns:a16="http://schemas.microsoft.com/office/drawing/2014/main" id="{E3A09EA4-967E-516B-679E-75937CC5B03F}"/>
              </a:ext>
            </a:extLst>
          </p:cNvPr>
          <p:cNvSpPr txBox="1"/>
          <p:nvPr/>
        </p:nvSpPr>
        <p:spPr>
          <a:xfrm>
            <a:off x="911913" y="3030516"/>
            <a:ext cx="8878129" cy="646331"/>
          </a:xfrm>
          <a:prstGeom prst="rect">
            <a:avLst/>
          </a:prstGeom>
          <a:noFill/>
        </p:spPr>
        <p:txBody>
          <a:bodyPr wrap="square">
            <a:spAutoFit/>
          </a:bodyPr>
          <a:lstStyle/>
          <a:p>
            <a:r>
              <a:rPr lang="en-US" dirty="0"/>
              <a:t>This problem is equivalent to </a:t>
            </a:r>
            <a:r>
              <a:rPr lang="en-US" b="1" dirty="0"/>
              <a:t>choosing a random point on a unit sphere</a:t>
            </a:r>
            <a:r>
              <a:rPr lang="en-US" dirty="0"/>
              <a:t>. The coordinates x, y, z on the sphere can be parametrized using </a:t>
            </a:r>
            <a:r>
              <a:rPr lang="en-US" b="1" dirty="0"/>
              <a:t>azimuthal</a:t>
            </a:r>
            <a:r>
              <a:rPr lang="en-US" dirty="0"/>
              <a:t> and </a:t>
            </a:r>
            <a:r>
              <a:rPr lang="en-US" b="1" dirty="0"/>
              <a:t>polar angles</a:t>
            </a:r>
            <a:r>
              <a:rPr lang="en-US" dirty="0"/>
              <a: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D859ED7-CA42-C607-371D-32D832BC6408}"/>
                  </a:ext>
                </a:extLst>
              </p:cNvPr>
              <p:cNvSpPr txBox="1"/>
              <p:nvPr/>
            </p:nvSpPr>
            <p:spPr>
              <a:xfrm>
                <a:off x="911913" y="3729251"/>
                <a:ext cx="3491122" cy="646331"/>
              </a:xfrm>
              <a:prstGeom prst="rect">
                <a:avLst/>
              </a:prstGeom>
              <a:noFill/>
            </p:spPr>
            <p:txBody>
              <a:bodyPr wrap="square">
                <a:spAutoFit/>
              </a:bodyPr>
              <a:lstStyle/>
              <a:p>
                <a:pPr>
                  <a:buNone/>
                </a:pP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r>
                      <a:rPr lang="en-US" i="1" dirty="0" smtClean="0">
                        <a:latin typeface="Cambria Math" panose="02040503050406030204" pitchFamily="18" charset="0"/>
                        <a:ea typeface="Cambria Math" panose="02040503050406030204" pitchFamily="18" charset="0"/>
                      </a:rPr>
                      <m:t>∈[0, 2</m:t>
                    </m:r>
                    <m:r>
                      <a:rPr lang="en-US" i="1" dirty="0" smtClean="0">
                        <a:latin typeface="Cambria Math" panose="02040503050406030204" pitchFamily="18" charset="0"/>
                        <a:ea typeface="Cambria Math" panose="02040503050406030204" pitchFamily="18" charset="0"/>
                      </a:rPr>
                      <m:t>𝜋</m:t>
                    </m:r>
                    <m:r>
                      <a:rPr lang="en-US" i="1" dirty="0" smtClean="0">
                        <a:latin typeface="Cambria Math" panose="02040503050406030204" pitchFamily="18" charset="0"/>
                      </a:rPr>
                      <m:t>)</m:t>
                    </m:r>
                  </m:oMath>
                </a14:m>
                <a:r>
                  <a:rPr lang="en-US" dirty="0"/>
                  <a:t> (azimuthal angle)</a:t>
                </a:r>
              </a:p>
              <a:p>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𝜃</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[0, </m:t>
                    </m:r>
                    <m:r>
                      <a:rPr lang="en-US" i="1" dirty="0">
                        <a:latin typeface="Cambria Math" panose="02040503050406030204" pitchFamily="18" charset="0"/>
                        <a:ea typeface="Cambria Math" panose="02040503050406030204" pitchFamily="18" charset="0"/>
                      </a:rPr>
                      <m:t>𝜋</m:t>
                    </m:r>
                    <m:r>
                      <a:rPr lang="en-US" b="0" i="1" dirty="0" smtClean="0">
                        <a:latin typeface="Cambria Math" panose="02040503050406030204" pitchFamily="18" charset="0"/>
                        <a:ea typeface="Cambria Math" panose="02040503050406030204" pitchFamily="18" charset="0"/>
                      </a:rPr>
                      <m:t>)</m:t>
                    </m:r>
                  </m:oMath>
                </a14:m>
                <a:r>
                  <a:rPr lang="en-US" dirty="0"/>
                  <a:t> (polar angle)</a:t>
                </a:r>
              </a:p>
            </p:txBody>
          </p:sp>
        </mc:Choice>
        <mc:Fallback xmlns="">
          <p:sp>
            <p:nvSpPr>
              <p:cNvPr id="12" name="TextBox 11">
                <a:extLst>
                  <a:ext uri="{FF2B5EF4-FFF2-40B4-BE49-F238E27FC236}">
                    <a16:creationId xmlns:a16="http://schemas.microsoft.com/office/drawing/2014/main" id="{ED859ED7-CA42-C607-371D-32D832BC6408}"/>
                  </a:ext>
                </a:extLst>
              </p:cNvPr>
              <p:cNvSpPr txBox="1">
                <a:spLocks noRot="1" noChangeAspect="1" noMove="1" noResize="1" noEditPoints="1" noAdjustHandles="1" noChangeArrowheads="1" noChangeShapeType="1" noTextEdit="1"/>
              </p:cNvSpPr>
              <p:nvPr/>
            </p:nvSpPr>
            <p:spPr>
              <a:xfrm>
                <a:off x="911913" y="3729251"/>
                <a:ext cx="3491122" cy="646331"/>
              </a:xfrm>
              <a:prstGeom prst="rect">
                <a:avLst/>
              </a:prstGeom>
              <a:blipFill>
                <a:blip r:embed="rId3"/>
                <a:stretch>
                  <a:fillRect l="-1818" t="-3846" b="-15385"/>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477B8EE-FD65-0DCF-1904-62B5F4B4B6EE}"/>
              </a:ext>
            </a:extLst>
          </p:cNvPr>
          <p:cNvSpPr txBox="1"/>
          <p:nvPr/>
        </p:nvSpPr>
        <p:spPr>
          <a:xfrm>
            <a:off x="911913" y="4612709"/>
            <a:ext cx="6395830" cy="369332"/>
          </a:xfrm>
          <a:prstGeom prst="rect">
            <a:avLst/>
          </a:prstGeom>
          <a:noFill/>
        </p:spPr>
        <p:txBody>
          <a:bodyPr wrap="square">
            <a:spAutoFit/>
          </a:bodyPr>
          <a:lstStyle/>
          <a:p>
            <a:r>
              <a:rPr lang="en-US" dirty="0"/>
              <a:t>Using these angles, the Cartesian coordinates are given by:</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3CF03D7-3A2D-9648-EF49-845FBB7BF52B}"/>
                  </a:ext>
                </a:extLst>
              </p:cNvPr>
              <p:cNvSpPr txBox="1"/>
              <p:nvPr/>
            </p:nvSpPr>
            <p:spPr>
              <a:xfrm>
                <a:off x="5210533" y="5172945"/>
                <a:ext cx="1770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𝜃</m:t>
                          </m:r>
                        </m:e>
                      </m:func>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cos</m:t>
                          </m:r>
                        </m:fName>
                        <m:e>
                          <m:r>
                            <a:rPr lang="en-US" i="1" dirty="0" smtClean="0">
                              <a:latin typeface="Cambria Math" panose="02040503050406030204" pitchFamily="18" charset="0"/>
                              <a:ea typeface="Cambria Math" panose="02040503050406030204" pitchFamily="18" charset="0"/>
                            </a:rPr>
                            <m:t>𝜙</m:t>
                          </m:r>
                        </m:e>
                      </m:func>
                    </m:oMath>
                  </m:oMathPara>
                </a14:m>
                <a:endParaRPr lang="en-US" dirty="0"/>
              </a:p>
            </p:txBody>
          </p:sp>
        </mc:Choice>
        <mc:Fallback xmlns="">
          <p:sp>
            <p:nvSpPr>
              <p:cNvPr id="15" name="TextBox 14">
                <a:extLst>
                  <a:ext uri="{FF2B5EF4-FFF2-40B4-BE49-F238E27FC236}">
                    <a16:creationId xmlns:a16="http://schemas.microsoft.com/office/drawing/2014/main" id="{03CF03D7-3A2D-9648-EF49-845FBB7BF52B}"/>
                  </a:ext>
                </a:extLst>
              </p:cNvPr>
              <p:cNvSpPr txBox="1">
                <a:spLocks noRot="1" noChangeAspect="1" noMove="1" noResize="1" noEditPoints="1" noAdjustHandles="1" noChangeArrowheads="1" noChangeShapeType="1" noTextEdit="1"/>
              </p:cNvSpPr>
              <p:nvPr/>
            </p:nvSpPr>
            <p:spPr>
              <a:xfrm>
                <a:off x="5210533" y="5172945"/>
                <a:ext cx="1770934"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01EFBDB-0F62-CBBC-7280-36D241404283}"/>
                  </a:ext>
                </a:extLst>
              </p:cNvPr>
              <p:cNvSpPr txBox="1"/>
              <p:nvPr/>
            </p:nvSpPr>
            <p:spPr>
              <a:xfrm>
                <a:off x="5210533" y="5554752"/>
                <a:ext cx="1694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𝑦</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𝜃</m:t>
                          </m:r>
                        </m:e>
                      </m:func>
                      <m:func>
                        <m:funcPr>
                          <m:ctrlPr>
                            <a:rPr lang="en-US"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𝜙</m:t>
                          </m:r>
                        </m:e>
                      </m:func>
                    </m:oMath>
                  </m:oMathPara>
                </a14:m>
                <a:endParaRPr lang="en-US" dirty="0"/>
              </a:p>
            </p:txBody>
          </p:sp>
        </mc:Choice>
        <mc:Fallback xmlns="">
          <p:sp>
            <p:nvSpPr>
              <p:cNvPr id="16" name="TextBox 15">
                <a:extLst>
                  <a:ext uri="{FF2B5EF4-FFF2-40B4-BE49-F238E27FC236}">
                    <a16:creationId xmlns:a16="http://schemas.microsoft.com/office/drawing/2014/main" id="{901EFBDB-0F62-CBBC-7280-36D241404283}"/>
                  </a:ext>
                </a:extLst>
              </p:cNvPr>
              <p:cNvSpPr txBox="1">
                <a:spLocks noRot="1" noChangeAspect="1" noMove="1" noResize="1" noEditPoints="1" noAdjustHandles="1" noChangeArrowheads="1" noChangeShapeType="1" noTextEdit="1"/>
              </p:cNvSpPr>
              <p:nvPr/>
            </p:nvSpPr>
            <p:spPr>
              <a:xfrm>
                <a:off x="5210533" y="5554752"/>
                <a:ext cx="1694310" cy="369332"/>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7691130-211E-6C64-4359-D3E1812A6582}"/>
                  </a:ext>
                </a:extLst>
              </p:cNvPr>
              <p:cNvSpPr txBox="1"/>
              <p:nvPr/>
            </p:nvSpPr>
            <p:spPr>
              <a:xfrm>
                <a:off x="5201891" y="5917903"/>
                <a:ext cx="11891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𝑧</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b="0" i="0" dirty="0" smtClean="0">
                              <a:latin typeface="Cambria Math" panose="02040503050406030204" pitchFamily="18" charset="0"/>
                            </a:rPr>
                            <m:t>co</m:t>
                          </m:r>
                          <m:r>
                            <a:rPr lang="en-US" b="0" i="1" dirty="0" smtClean="0">
                              <a:latin typeface="Cambria Math" panose="02040503050406030204" pitchFamily="18" charset="0"/>
                            </a:rPr>
                            <m:t>𝑠</m:t>
                          </m:r>
                        </m:fName>
                        <m:e>
                          <m:r>
                            <a:rPr lang="en-US" i="1" dirty="0" smtClean="0">
                              <a:latin typeface="Cambria Math" panose="02040503050406030204" pitchFamily="18" charset="0"/>
                              <a:ea typeface="Cambria Math" panose="02040503050406030204" pitchFamily="18" charset="0"/>
                            </a:rPr>
                            <m:t>𝜃</m:t>
                          </m:r>
                        </m:e>
                      </m:func>
                    </m:oMath>
                  </m:oMathPara>
                </a14:m>
                <a:endParaRPr lang="en-US" dirty="0"/>
              </a:p>
            </p:txBody>
          </p:sp>
        </mc:Choice>
        <mc:Fallback xmlns="">
          <p:sp>
            <p:nvSpPr>
              <p:cNvPr id="17" name="TextBox 16">
                <a:extLst>
                  <a:ext uri="{FF2B5EF4-FFF2-40B4-BE49-F238E27FC236}">
                    <a16:creationId xmlns:a16="http://schemas.microsoft.com/office/drawing/2014/main" id="{57691130-211E-6C64-4359-D3E1812A6582}"/>
                  </a:ext>
                </a:extLst>
              </p:cNvPr>
              <p:cNvSpPr txBox="1">
                <a:spLocks noRot="1" noChangeAspect="1" noMove="1" noResize="1" noEditPoints="1" noAdjustHandles="1" noChangeArrowheads="1" noChangeShapeType="1" noTextEdit="1"/>
              </p:cNvSpPr>
              <p:nvPr/>
            </p:nvSpPr>
            <p:spPr>
              <a:xfrm>
                <a:off x="5201891" y="5917903"/>
                <a:ext cx="1189172"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896229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b="1" dirty="0"/>
              <a:t>Sampling of an Isotropic Direction in 3D</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sp>
        <p:nvSpPr>
          <p:cNvPr id="6" name="TextBox 5">
            <a:extLst>
              <a:ext uri="{FF2B5EF4-FFF2-40B4-BE49-F238E27FC236}">
                <a16:creationId xmlns:a16="http://schemas.microsoft.com/office/drawing/2014/main" id="{5349E444-5197-89B3-35A5-A52706D05CC3}"/>
              </a:ext>
            </a:extLst>
          </p:cNvPr>
          <p:cNvSpPr txBox="1"/>
          <p:nvPr/>
        </p:nvSpPr>
        <p:spPr>
          <a:xfrm>
            <a:off x="613741" y="2291851"/>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The solid angle element is: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CB3FF58-7899-F406-AF3D-B994ABDB86DC}"/>
                  </a:ext>
                </a:extLst>
              </p:cNvPr>
              <p:cNvSpPr txBox="1"/>
              <p:nvPr/>
            </p:nvSpPr>
            <p:spPr>
              <a:xfrm>
                <a:off x="5210533" y="1165086"/>
                <a:ext cx="1770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𝜃</m:t>
                          </m:r>
                        </m:e>
                      </m:func>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cos</m:t>
                          </m:r>
                        </m:fName>
                        <m:e>
                          <m:r>
                            <a:rPr lang="en-US" i="1" dirty="0" smtClean="0">
                              <a:latin typeface="Cambria Math" panose="02040503050406030204" pitchFamily="18" charset="0"/>
                              <a:ea typeface="Cambria Math" panose="02040503050406030204" pitchFamily="18" charset="0"/>
                            </a:rPr>
                            <m:t>𝜙</m:t>
                          </m:r>
                        </m:e>
                      </m:func>
                    </m:oMath>
                  </m:oMathPara>
                </a14:m>
                <a:endParaRPr lang="en-US" dirty="0"/>
              </a:p>
            </p:txBody>
          </p:sp>
        </mc:Choice>
        <mc:Fallback xmlns="">
          <p:sp>
            <p:nvSpPr>
              <p:cNvPr id="7" name="TextBox 6">
                <a:extLst>
                  <a:ext uri="{FF2B5EF4-FFF2-40B4-BE49-F238E27FC236}">
                    <a16:creationId xmlns:a16="http://schemas.microsoft.com/office/drawing/2014/main" id="{DCB3FF58-7899-F406-AF3D-B994ABDB86DC}"/>
                  </a:ext>
                </a:extLst>
              </p:cNvPr>
              <p:cNvSpPr txBox="1">
                <a:spLocks noRot="1" noChangeAspect="1" noMove="1" noResize="1" noEditPoints="1" noAdjustHandles="1" noChangeArrowheads="1" noChangeShapeType="1" noTextEdit="1"/>
              </p:cNvSpPr>
              <p:nvPr/>
            </p:nvSpPr>
            <p:spPr>
              <a:xfrm>
                <a:off x="5210533" y="1165086"/>
                <a:ext cx="1770934"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5A17EC-0FA7-4F6A-0F13-3D90B38B1D91}"/>
                  </a:ext>
                </a:extLst>
              </p:cNvPr>
              <p:cNvSpPr txBox="1"/>
              <p:nvPr/>
            </p:nvSpPr>
            <p:spPr>
              <a:xfrm>
                <a:off x="5210533" y="1546893"/>
                <a:ext cx="1694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𝑦</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𝜃</m:t>
                          </m:r>
                        </m:e>
                      </m:func>
                      <m:func>
                        <m:funcPr>
                          <m:ctrlPr>
                            <a:rPr lang="en-US"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r>
                            <a:rPr lang="en-US" i="1" dirty="0" smtClean="0">
                              <a:latin typeface="Cambria Math" panose="02040503050406030204" pitchFamily="18" charset="0"/>
                              <a:ea typeface="Cambria Math" panose="02040503050406030204" pitchFamily="18" charset="0"/>
                            </a:rPr>
                            <m:t>𝜙</m:t>
                          </m:r>
                        </m:e>
                      </m:func>
                    </m:oMath>
                  </m:oMathPara>
                </a14:m>
                <a:endParaRPr lang="en-US" dirty="0"/>
              </a:p>
            </p:txBody>
          </p:sp>
        </mc:Choice>
        <mc:Fallback xmlns="">
          <p:sp>
            <p:nvSpPr>
              <p:cNvPr id="8" name="TextBox 7">
                <a:extLst>
                  <a:ext uri="{FF2B5EF4-FFF2-40B4-BE49-F238E27FC236}">
                    <a16:creationId xmlns:a16="http://schemas.microsoft.com/office/drawing/2014/main" id="{255A17EC-0FA7-4F6A-0F13-3D90B38B1D91}"/>
                  </a:ext>
                </a:extLst>
              </p:cNvPr>
              <p:cNvSpPr txBox="1">
                <a:spLocks noRot="1" noChangeAspect="1" noMove="1" noResize="1" noEditPoints="1" noAdjustHandles="1" noChangeArrowheads="1" noChangeShapeType="1" noTextEdit="1"/>
              </p:cNvSpPr>
              <p:nvPr/>
            </p:nvSpPr>
            <p:spPr>
              <a:xfrm>
                <a:off x="5210533" y="1546893"/>
                <a:ext cx="1694310"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280ACB-6027-1D39-8911-B2EE5AC2C366}"/>
                  </a:ext>
                </a:extLst>
              </p:cNvPr>
              <p:cNvSpPr txBox="1"/>
              <p:nvPr/>
            </p:nvSpPr>
            <p:spPr>
              <a:xfrm>
                <a:off x="5201891" y="1910044"/>
                <a:ext cx="11891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𝑧</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b="0" i="0" dirty="0" smtClean="0">
                              <a:latin typeface="Cambria Math" panose="02040503050406030204" pitchFamily="18" charset="0"/>
                            </a:rPr>
                            <m:t>co</m:t>
                          </m:r>
                          <m:r>
                            <a:rPr lang="en-US" b="0" i="1" dirty="0" smtClean="0">
                              <a:latin typeface="Cambria Math" panose="02040503050406030204" pitchFamily="18" charset="0"/>
                            </a:rPr>
                            <m:t>𝑠</m:t>
                          </m:r>
                        </m:fName>
                        <m:e>
                          <m:r>
                            <a:rPr lang="en-US" i="1" dirty="0" smtClean="0">
                              <a:latin typeface="Cambria Math" panose="02040503050406030204" pitchFamily="18" charset="0"/>
                              <a:ea typeface="Cambria Math" panose="02040503050406030204" pitchFamily="18" charset="0"/>
                            </a:rPr>
                            <m:t>𝜃</m:t>
                          </m:r>
                        </m:e>
                      </m:func>
                    </m:oMath>
                  </m:oMathPara>
                </a14:m>
                <a:endParaRPr lang="en-US" dirty="0"/>
              </a:p>
            </p:txBody>
          </p:sp>
        </mc:Choice>
        <mc:Fallback xmlns="">
          <p:sp>
            <p:nvSpPr>
              <p:cNvPr id="9" name="TextBox 8">
                <a:extLst>
                  <a:ext uri="{FF2B5EF4-FFF2-40B4-BE49-F238E27FC236}">
                    <a16:creationId xmlns:a16="http://schemas.microsoft.com/office/drawing/2014/main" id="{10280ACB-6027-1D39-8911-B2EE5AC2C366}"/>
                  </a:ext>
                </a:extLst>
              </p:cNvPr>
              <p:cNvSpPr txBox="1">
                <a:spLocks noRot="1" noChangeAspect="1" noMove="1" noResize="1" noEditPoints="1" noAdjustHandles="1" noChangeArrowheads="1" noChangeShapeType="1" noTextEdit="1"/>
              </p:cNvSpPr>
              <p:nvPr/>
            </p:nvSpPr>
            <p:spPr>
              <a:xfrm>
                <a:off x="5201891" y="1910044"/>
                <a:ext cx="1189172" cy="369332"/>
              </a:xfrm>
              <a:prstGeom prst="rect">
                <a:avLst/>
              </a:prstGeom>
              <a:blipFill>
                <a:blip r:embed="rId5"/>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7666E1D8-D70F-0B96-172F-A91B67617133}"/>
              </a:ext>
            </a:extLst>
          </p:cNvPr>
          <p:cNvPicPr>
            <a:picLocks noChangeAspect="1"/>
          </p:cNvPicPr>
          <p:nvPr/>
        </p:nvPicPr>
        <p:blipFill>
          <a:blip r:embed="rId6"/>
          <a:stretch>
            <a:fillRect/>
          </a:stretch>
        </p:blipFill>
        <p:spPr>
          <a:xfrm>
            <a:off x="5068387" y="2655034"/>
            <a:ext cx="1673030" cy="284306"/>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E61DF1-73AC-3007-AC81-65971E6A4097}"/>
                  </a:ext>
                </a:extLst>
              </p:cNvPr>
              <p:cNvSpPr txBox="1"/>
              <p:nvPr/>
            </p:nvSpPr>
            <p:spPr>
              <a:xfrm>
                <a:off x="613741" y="3117857"/>
                <a:ext cx="6097656" cy="369332"/>
              </a:xfrm>
              <a:prstGeom prst="rect">
                <a:avLst/>
              </a:prstGeom>
              <a:noFill/>
            </p:spPr>
            <p:txBody>
              <a:bodyPr wrap="square">
                <a:spAutoFit/>
              </a:bodyPr>
              <a:lstStyle/>
              <a:p>
                <a:pPr marL="285750" indent="-285750">
                  <a:buFont typeface="Arial" panose="020B0604020202020204" pitchFamily="34" charset="0"/>
                  <a:buChar char="•"/>
                </a:pPr>
                <a:r>
                  <a:rPr lang="en-US" dirty="0"/>
                  <a:t>The random variables </a:t>
                </a:r>
                <a14:m>
                  <m:oMath xmlns:m="http://schemas.openxmlformats.org/officeDocument/2006/math">
                    <m:r>
                      <a:rPr lang="en-US" i="1" dirty="0" smtClean="0">
                        <a:latin typeface="Cambria Math" panose="02040503050406030204" pitchFamily="18" charset="0"/>
                        <a:ea typeface="Cambria Math" panose="02040503050406030204" pitchFamily="18" charset="0"/>
                      </a:rPr>
                      <m:t>𝜙</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𝜃</m:t>
                    </m:r>
                    <m:r>
                      <a:rPr lang="en-US" i="1" dirty="0">
                        <a:latin typeface="Cambria Math" panose="02040503050406030204" pitchFamily="18" charset="0"/>
                        <a:ea typeface="Cambria Math" panose="02040503050406030204" pitchFamily="18" charset="0"/>
                      </a:rPr>
                      <m:t> </m:t>
                    </m:r>
                  </m:oMath>
                </a14:m>
                <a:r>
                  <a:rPr lang="en-US" dirty="0"/>
                  <a:t>are independent.</a:t>
                </a:r>
              </a:p>
            </p:txBody>
          </p:sp>
        </mc:Choice>
        <mc:Fallback xmlns="">
          <p:sp>
            <p:nvSpPr>
              <p:cNvPr id="12" name="TextBox 11">
                <a:extLst>
                  <a:ext uri="{FF2B5EF4-FFF2-40B4-BE49-F238E27FC236}">
                    <a16:creationId xmlns:a16="http://schemas.microsoft.com/office/drawing/2014/main" id="{ECE61DF1-73AC-3007-AC81-65971E6A4097}"/>
                  </a:ext>
                </a:extLst>
              </p:cNvPr>
              <p:cNvSpPr txBox="1">
                <a:spLocks noRot="1" noChangeAspect="1" noMove="1" noResize="1" noEditPoints="1" noAdjustHandles="1" noChangeArrowheads="1" noChangeShapeType="1" noTextEdit="1"/>
              </p:cNvSpPr>
              <p:nvPr/>
            </p:nvSpPr>
            <p:spPr>
              <a:xfrm>
                <a:off x="613741" y="3117857"/>
                <a:ext cx="6097656" cy="369332"/>
              </a:xfrm>
              <a:prstGeom prst="rect">
                <a:avLst/>
              </a:prstGeom>
              <a:blipFill>
                <a:blip r:embed="rId7"/>
                <a:stretch>
                  <a:fillRect l="-624"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DC8068E-A730-865D-2D8D-0C3A90728E07}"/>
                  </a:ext>
                </a:extLst>
              </p:cNvPr>
              <p:cNvSpPr txBox="1"/>
              <p:nvPr/>
            </p:nvSpPr>
            <p:spPr>
              <a:xfrm>
                <a:off x="643761" y="3678149"/>
                <a:ext cx="7645474"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ea typeface="Cambria Math" panose="02040503050406030204" pitchFamily="18" charset="0"/>
                      </a:rPr>
                      <m:t>𝜙</m:t>
                    </m:r>
                    <m:r>
                      <a:rPr lang="en-US" i="1" dirty="0" smtClean="0">
                        <a:latin typeface="Cambria Math" panose="02040503050406030204" pitchFamily="18" charset="0"/>
                        <a:ea typeface="Cambria Math" panose="02040503050406030204" pitchFamily="18" charset="0"/>
                      </a:rPr>
                      <m:t> </m:t>
                    </m:r>
                  </m:oMath>
                </a14:m>
                <a:r>
                  <a:rPr lang="en-US" dirty="0"/>
                  <a:t>is uniformly distributed in [0, 2</a:t>
                </a:r>
                <a14:m>
                  <m:oMath xmlns:m="http://schemas.openxmlformats.org/officeDocument/2006/math">
                    <m:r>
                      <a:rPr lang="en-US" i="1" dirty="0" smtClean="0">
                        <a:latin typeface="Cambria Math" panose="02040503050406030204" pitchFamily="18" charset="0"/>
                        <a:ea typeface="Cambria Math" panose="02040503050406030204" pitchFamily="18" charset="0"/>
                      </a:rPr>
                      <m:t>𝜋</m:t>
                    </m:r>
                  </m:oMath>
                </a14:m>
                <a:r>
                  <a:rPr lang="en-US" dirty="0"/>
                  <a:t>], making its sampling straightforward.</a:t>
                </a:r>
              </a:p>
            </p:txBody>
          </p:sp>
        </mc:Choice>
        <mc:Fallback xmlns="">
          <p:sp>
            <p:nvSpPr>
              <p:cNvPr id="14" name="TextBox 13">
                <a:extLst>
                  <a:ext uri="{FF2B5EF4-FFF2-40B4-BE49-F238E27FC236}">
                    <a16:creationId xmlns:a16="http://schemas.microsoft.com/office/drawing/2014/main" id="{FDC8068E-A730-865D-2D8D-0C3A90728E07}"/>
                  </a:ext>
                </a:extLst>
              </p:cNvPr>
              <p:cNvSpPr txBox="1">
                <a:spLocks noRot="1" noChangeAspect="1" noMove="1" noResize="1" noEditPoints="1" noAdjustHandles="1" noChangeArrowheads="1" noChangeShapeType="1" noTextEdit="1"/>
              </p:cNvSpPr>
              <p:nvPr/>
            </p:nvSpPr>
            <p:spPr>
              <a:xfrm>
                <a:off x="643761" y="3678149"/>
                <a:ext cx="7645474" cy="369332"/>
              </a:xfrm>
              <a:prstGeom prst="rect">
                <a:avLst/>
              </a:prstGeom>
              <a:blipFill>
                <a:blip r:embed="rId8"/>
                <a:stretch>
                  <a:fillRect l="-498"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9A50F72-013E-49E9-4284-213F2F9856E3}"/>
                  </a:ext>
                </a:extLst>
              </p:cNvPr>
              <p:cNvSpPr txBox="1"/>
              <p:nvPr/>
            </p:nvSpPr>
            <p:spPr>
              <a:xfrm>
                <a:off x="643761" y="4225998"/>
                <a:ext cx="6780769" cy="369332"/>
              </a:xfrm>
              <a:prstGeom prst="rect">
                <a:avLst/>
              </a:prstGeom>
              <a:noFill/>
            </p:spPr>
            <p:txBody>
              <a:bodyPr wrap="square">
                <a:spAutoFit/>
              </a:bodyPr>
              <a:lstStyle/>
              <a:p>
                <a:pPr marL="285750" indent="-285750">
                  <a:buFont typeface="Arial" panose="020B0604020202020204" pitchFamily="34" charset="0"/>
                  <a:buChar char="•"/>
                </a:pPr>
                <a:r>
                  <a:rPr lang="en-US" dirty="0"/>
                  <a:t>However, </a:t>
                </a:r>
                <a14:m>
                  <m:oMath xmlns:m="http://schemas.openxmlformats.org/officeDocument/2006/math">
                    <m:r>
                      <a:rPr lang="en-US" i="1" dirty="0" smtClean="0">
                        <a:latin typeface="Cambria Math" panose="02040503050406030204" pitchFamily="18" charset="0"/>
                        <a:ea typeface="Cambria Math" panose="02040503050406030204" pitchFamily="18" charset="0"/>
                      </a:rPr>
                      <m:t>𝜃</m:t>
                    </m:r>
                    <m:r>
                      <a:rPr lang="en-US" i="1" dirty="0" smtClean="0">
                        <a:latin typeface="Cambria Math" panose="02040503050406030204" pitchFamily="18" charset="0"/>
                        <a:ea typeface="Cambria Math" panose="02040503050406030204" pitchFamily="18" charset="0"/>
                      </a:rPr>
                      <m:t> </m:t>
                    </m:r>
                  </m:oMath>
                </a14:m>
                <a:r>
                  <a:rPr lang="en-US" dirty="0"/>
                  <a:t>has a </a:t>
                </a:r>
                <a:r>
                  <a:rPr lang="en-US" b="1" dirty="0"/>
                  <a:t>weighted probability density function</a:t>
                </a:r>
                <a:r>
                  <a:rPr lang="en-US" dirty="0"/>
                  <a:t>:</a:t>
                </a:r>
              </a:p>
            </p:txBody>
          </p:sp>
        </mc:Choice>
        <mc:Fallback xmlns="">
          <p:sp>
            <p:nvSpPr>
              <p:cNvPr id="16" name="TextBox 15">
                <a:extLst>
                  <a:ext uri="{FF2B5EF4-FFF2-40B4-BE49-F238E27FC236}">
                    <a16:creationId xmlns:a16="http://schemas.microsoft.com/office/drawing/2014/main" id="{49A50F72-013E-49E9-4284-213F2F9856E3}"/>
                  </a:ext>
                </a:extLst>
              </p:cNvPr>
              <p:cNvSpPr txBox="1">
                <a:spLocks noRot="1" noChangeAspect="1" noMove="1" noResize="1" noEditPoints="1" noAdjustHandles="1" noChangeArrowheads="1" noChangeShapeType="1" noTextEdit="1"/>
              </p:cNvSpPr>
              <p:nvPr/>
            </p:nvSpPr>
            <p:spPr>
              <a:xfrm>
                <a:off x="643761" y="4225998"/>
                <a:ext cx="6780769" cy="369332"/>
              </a:xfrm>
              <a:prstGeom prst="rect">
                <a:avLst/>
              </a:prstGeom>
              <a:blipFill>
                <a:blip r:embed="rId9"/>
                <a:stretch>
                  <a:fillRect l="-561" t="-6667" b="-26667"/>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73F029C4-6886-B466-1EB6-16C2C7911E96}"/>
              </a:ext>
            </a:extLst>
          </p:cNvPr>
          <p:cNvPicPr>
            <a:picLocks noChangeAspect="1"/>
          </p:cNvPicPr>
          <p:nvPr/>
        </p:nvPicPr>
        <p:blipFill>
          <a:blip r:embed="rId10"/>
          <a:stretch>
            <a:fillRect/>
          </a:stretch>
        </p:blipFill>
        <p:spPr>
          <a:xfrm>
            <a:off x="6904843" y="4156238"/>
            <a:ext cx="1816100" cy="546100"/>
          </a:xfrm>
          <a:prstGeom prst="rect">
            <a:avLst/>
          </a:prstGeom>
        </p:spPr>
      </p:pic>
      <p:sp>
        <p:nvSpPr>
          <p:cNvPr id="20" name="TextBox 19">
            <a:extLst>
              <a:ext uri="{FF2B5EF4-FFF2-40B4-BE49-F238E27FC236}">
                <a16:creationId xmlns:a16="http://schemas.microsoft.com/office/drawing/2014/main" id="{2C6EA370-C92F-8F97-19AA-6565D6FA9322}"/>
              </a:ext>
            </a:extLst>
          </p:cNvPr>
          <p:cNvSpPr txBox="1"/>
          <p:nvPr/>
        </p:nvSpPr>
        <p:spPr>
          <a:xfrm>
            <a:off x="613741" y="4773847"/>
            <a:ext cx="6097656" cy="369332"/>
          </a:xfrm>
          <a:prstGeom prst="rect">
            <a:avLst/>
          </a:prstGeom>
          <a:noFill/>
        </p:spPr>
        <p:txBody>
          <a:bodyPr wrap="square">
            <a:spAutoFit/>
          </a:bodyPr>
          <a:lstStyle/>
          <a:p>
            <a:r>
              <a:rPr lang="en-US" dirty="0"/>
              <a:t>The cumulative distribution function is:</a:t>
            </a:r>
          </a:p>
        </p:txBody>
      </p:sp>
      <p:pic>
        <p:nvPicPr>
          <p:cNvPr id="21" name="Picture 20">
            <a:extLst>
              <a:ext uri="{FF2B5EF4-FFF2-40B4-BE49-F238E27FC236}">
                <a16:creationId xmlns:a16="http://schemas.microsoft.com/office/drawing/2014/main" id="{D18BABC9-92B1-6496-653E-E120012A6378}"/>
              </a:ext>
            </a:extLst>
          </p:cNvPr>
          <p:cNvPicPr>
            <a:picLocks noChangeAspect="1"/>
          </p:cNvPicPr>
          <p:nvPr/>
        </p:nvPicPr>
        <p:blipFill>
          <a:blip r:embed="rId11"/>
          <a:stretch>
            <a:fillRect/>
          </a:stretch>
        </p:blipFill>
        <p:spPr>
          <a:xfrm>
            <a:off x="3118246" y="5174246"/>
            <a:ext cx="2861917" cy="534345"/>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9D14499-333A-AE95-6BF1-10DFE39C7234}"/>
                  </a:ext>
                </a:extLst>
              </p:cNvPr>
              <p:cNvSpPr txBox="1"/>
              <p:nvPr/>
            </p:nvSpPr>
            <p:spPr>
              <a:xfrm>
                <a:off x="643761" y="5688696"/>
                <a:ext cx="6097656" cy="369332"/>
              </a:xfrm>
              <a:prstGeom prst="rect">
                <a:avLst/>
              </a:prstGeom>
              <a:noFill/>
            </p:spPr>
            <p:txBody>
              <a:bodyPr wrap="square">
                <a:spAutoFit/>
              </a:bodyPr>
              <a:lstStyle/>
              <a:p>
                <a:r>
                  <a:rPr lang="en-US" dirty="0"/>
                  <a:t>Solving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𝐹</m:t>
                        </m:r>
                      </m:e>
                      <m:sub>
                        <m:r>
                          <a:rPr lang="en-US" i="1" dirty="0" smtClean="0">
                            <a:latin typeface="Cambria Math" panose="02040503050406030204" pitchFamily="18" charset="0"/>
                            <a:ea typeface="Cambria Math" panose="02040503050406030204" pitchFamily="18" charset="0"/>
                          </a:rPr>
                          <m:t>𝜃</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ea typeface="Cambria Math" panose="02040503050406030204" pitchFamily="18" charset="0"/>
                          </a:rPr>
                          <m:t>𝜃</m:t>
                        </m:r>
                      </m:e>
                    </m:d>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𝜂</m:t>
                    </m:r>
                  </m:oMath>
                </a14:m>
                <a:r>
                  <a:rPr lang="en-US" dirty="0"/>
                  <a:t>, we obtain:</a:t>
                </a:r>
              </a:p>
            </p:txBody>
          </p:sp>
        </mc:Choice>
        <mc:Fallback xmlns="">
          <p:sp>
            <p:nvSpPr>
              <p:cNvPr id="23" name="TextBox 22">
                <a:extLst>
                  <a:ext uri="{FF2B5EF4-FFF2-40B4-BE49-F238E27FC236}">
                    <a16:creationId xmlns:a16="http://schemas.microsoft.com/office/drawing/2014/main" id="{49D14499-333A-AE95-6BF1-10DFE39C7234}"/>
                  </a:ext>
                </a:extLst>
              </p:cNvPr>
              <p:cNvSpPr txBox="1">
                <a:spLocks noRot="1" noChangeAspect="1" noMove="1" noResize="1" noEditPoints="1" noAdjustHandles="1" noChangeArrowheads="1" noChangeShapeType="1" noTextEdit="1"/>
              </p:cNvSpPr>
              <p:nvPr/>
            </p:nvSpPr>
            <p:spPr>
              <a:xfrm>
                <a:off x="643761" y="5688696"/>
                <a:ext cx="6097656" cy="369332"/>
              </a:xfrm>
              <a:prstGeom prst="rect">
                <a:avLst/>
              </a:prstGeom>
              <a:blipFill>
                <a:blip r:embed="rId12"/>
                <a:stretch>
                  <a:fillRect l="-832" t="-6452" b="-22581"/>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CBE4D799-AFD2-1FED-E9B2-E51E38207252}"/>
              </a:ext>
            </a:extLst>
          </p:cNvPr>
          <p:cNvPicPr>
            <a:picLocks noChangeAspect="1"/>
          </p:cNvPicPr>
          <p:nvPr/>
        </p:nvPicPr>
        <p:blipFill>
          <a:blip r:embed="rId13"/>
          <a:stretch>
            <a:fillRect/>
          </a:stretch>
        </p:blipFill>
        <p:spPr>
          <a:xfrm>
            <a:off x="3609565" y="6160604"/>
            <a:ext cx="1802655" cy="371798"/>
          </a:xfrm>
          <a:prstGeom prst="rect">
            <a:avLst/>
          </a:prstGeom>
        </p:spPr>
      </p:pic>
      <p:sp>
        <p:nvSpPr>
          <p:cNvPr id="25" name="Rounded Rectangle 24">
            <a:extLst>
              <a:ext uri="{FF2B5EF4-FFF2-40B4-BE49-F238E27FC236}">
                <a16:creationId xmlns:a16="http://schemas.microsoft.com/office/drawing/2014/main" id="{D6183A73-AC8B-A519-C996-6C352ED9CFFF}"/>
              </a:ext>
            </a:extLst>
          </p:cNvPr>
          <p:cNvSpPr/>
          <p:nvPr/>
        </p:nvSpPr>
        <p:spPr>
          <a:xfrm>
            <a:off x="3521592" y="6106781"/>
            <a:ext cx="1913080" cy="5054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736365-B62D-81BA-6213-855C8045A119}"/>
                  </a:ext>
                </a:extLst>
              </p:cNvPr>
              <p:cNvSpPr txBox="1"/>
              <p:nvPr/>
            </p:nvSpPr>
            <p:spPr>
              <a:xfrm>
                <a:off x="6981467" y="5504030"/>
                <a:ext cx="4700105" cy="369332"/>
              </a:xfrm>
              <a:prstGeom prst="rect">
                <a:avLst/>
              </a:prstGeom>
              <a:noFill/>
            </p:spPr>
            <p:txBody>
              <a:bodyPr wrap="square">
                <a:spAutoFit/>
              </a:bodyPr>
              <a:lstStyle/>
              <a:p>
                <a:r>
                  <a:rPr lang="en-US" dirty="0"/>
                  <a:t>In practice, work directly with </a:t>
                </a:r>
                <a14:m>
                  <m:oMath xmlns:m="http://schemas.openxmlformats.org/officeDocument/2006/math">
                    <m:func>
                      <m:funcPr>
                        <m:ctrlPr>
                          <a:rPr lang="en-US" i="1" dirty="0" smtClean="0">
                            <a:latin typeface="Cambria Math" panose="02040503050406030204" pitchFamily="18" charset="0"/>
                          </a:rPr>
                        </m:ctrlPr>
                      </m:funcPr>
                      <m:fName>
                        <m:r>
                          <m:rPr>
                            <m:sty m:val="p"/>
                          </m:rPr>
                          <a:rPr lang="en-US" b="0" i="0" dirty="0" smtClean="0">
                            <a:latin typeface="Cambria Math" panose="02040503050406030204" pitchFamily="18" charset="0"/>
                          </a:rPr>
                          <m:t>co</m:t>
                        </m:r>
                        <m:r>
                          <a:rPr lang="en-US" b="0" i="1" dirty="0" smtClean="0">
                            <a:latin typeface="Cambria Math" panose="02040503050406030204" pitchFamily="18" charset="0"/>
                          </a:rPr>
                          <m:t>𝑠</m:t>
                        </m:r>
                      </m:fName>
                      <m:e>
                        <m:r>
                          <a:rPr lang="en-US" i="1" dirty="0" smtClean="0">
                            <a:latin typeface="Cambria Math" panose="02040503050406030204" pitchFamily="18" charset="0"/>
                            <a:ea typeface="Cambria Math" panose="02040503050406030204" pitchFamily="18" charset="0"/>
                          </a:rPr>
                          <m:t>𝜃</m:t>
                        </m:r>
                      </m:e>
                    </m:func>
                  </m:oMath>
                </a14:m>
                <a:r>
                  <a:rPr lang="en-US" dirty="0"/>
                  <a:t> and </a:t>
                </a:r>
                <a14:m>
                  <m:oMath xmlns:m="http://schemas.openxmlformats.org/officeDocument/2006/math">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sin</m:t>
                        </m:r>
                      </m:fName>
                      <m:e>
                        <m:r>
                          <a:rPr lang="en-US" i="1" dirty="0">
                            <a:latin typeface="Cambria Math" panose="02040503050406030204" pitchFamily="18" charset="0"/>
                            <a:ea typeface="Cambria Math" panose="02040503050406030204" pitchFamily="18" charset="0"/>
                          </a:rPr>
                          <m:t>𝜃</m:t>
                        </m:r>
                        <m:r>
                          <a:rPr lang="en-US" b="0" i="1" dirty="0" smtClean="0">
                            <a:latin typeface="Cambria Math" panose="02040503050406030204" pitchFamily="18" charset="0"/>
                            <a:ea typeface="Cambria Math" panose="02040503050406030204" pitchFamily="18" charset="0"/>
                          </a:rPr>
                          <m:t>:</m:t>
                        </m:r>
                      </m:e>
                    </m:func>
                  </m:oMath>
                </a14:m>
                <a:endParaRPr lang="en-US" dirty="0"/>
              </a:p>
            </p:txBody>
          </p:sp>
        </mc:Choice>
        <mc:Fallback xmlns="">
          <p:sp>
            <p:nvSpPr>
              <p:cNvPr id="27" name="TextBox 26">
                <a:extLst>
                  <a:ext uri="{FF2B5EF4-FFF2-40B4-BE49-F238E27FC236}">
                    <a16:creationId xmlns:a16="http://schemas.microsoft.com/office/drawing/2014/main" id="{2E736365-B62D-81BA-6213-855C8045A119}"/>
                  </a:ext>
                </a:extLst>
              </p:cNvPr>
              <p:cNvSpPr txBox="1">
                <a:spLocks noRot="1" noChangeAspect="1" noMove="1" noResize="1" noEditPoints="1" noAdjustHandles="1" noChangeArrowheads="1" noChangeShapeType="1" noTextEdit="1"/>
              </p:cNvSpPr>
              <p:nvPr/>
            </p:nvSpPr>
            <p:spPr>
              <a:xfrm>
                <a:off x="6981467" y="5504030"/>
                <a:ext cx="4700105" cy="369332"/>
              </a:xfrm>
              <a:prstGeom prst="rect">
                <a:avLst/>
              </a:prstGeom>
              <a:blipFill>
                <a:blip r:embed="rId14"/>
                <a:stretch>
                  <a:fillRect l="-1078" t="-6667" b="-26667"/>
                </a:stretch>
              </a:blipFill>
            </p:spPr>
            <p:txBody>
              <a:bodyPr/>
              <a:lstStyle/>
              <a:p>
                <a:r>
                  <a:rPr lang="en-US">
                    <a:noFill/>
                  </a:rPr>
                  <a:t> </a:t>
                </a:r>
              </a:p>
            </p:txBody>
          </p:sp>
        </mc:Fallback>
      </mc:AlternateContent>
      <p:pic>
        <p:nvPicPr>
          <p:cNvPr id="28" name="Picture 27">
            <a:extLst>
              <a:ext uri="{FF2B5EF4-FFF2-40B4-BE49-F238E27FC236}">
                <a16:creationId xmlns:a16="http://schemas.microsoft.com/office/drawing/2014/main" id="{F913810A-8AA8-BC5B-89EE-AF376890E403}"/>
              </a:ext>
            </a:extLst>
          </p:cNvPr>
          <p:cNvPicPr>
            <a:picLocks noChangeAspect="1"/>
          </p:cNvPicPr>
          <p:nvPr/>
        </p:nvPicPr>
        <p:blipFill>
          <a:blip r:embed="rId15"/>
          <a:stretch>
            <a:fillRect/>
          </a:stretch>
        </p:blipFill>
        <p:spPr>
          <a:xfrm>
            <a:off x="7193401" y="6106781"/>
            <a:ext cx="1545395" cy="284080"/>
          </a:xfrm>
          <a:prstGeom prst="rect">
            <a:avLst/>
          </a:prstGeom>
        </p:spPr>
      </p:pic>
      <p:pic>
        <p:nvPicPr>
          <p:cNvPr id="29" name="Picture 28">
            <a:extLst>
              <a:ext uri="{FF2B5EF4-FFF2-40B4-BE49-F238E27FC236}">
                <a16:creationId xmlns:a16="http://schemas.microsoft.com/office/drawing/2014/main" id="{8CF377E2-E090-815A-5779-CDEA88910B81}"/>
              </a:ext>
            </a:extLst>
          </p:cNvPr>
          <p:cNvPicPr>
            <a:picLocks noChangeAspect="1"/>
          </p:cNvPicPr>
          <p:nvPr/>
        </p:nvPicPr>
        <p:blipFill>
          <a:blip r:embed="rId16"/>
          <a:stretch>
            <a:fillRect/>
          </a:stretch>
        </p:blipFill>
        <p:spPr>
          <a:xfrm>
            <a:off x="9061316" y="5948820"/>
            <a:ext cx="2419367" cy="577759"/>
          </a:xfrm>
          <a:prstGeom prst="rect">
            <a:avLst/>
          </a:prstGeom>
        </p:spPr>
      </p:pic>
    </p:spTree>
    <p:extLst>
      <p:ext uri="{BB962C8B-B14F-4D97-AF65-F5344CB8AC3E}">
        <p14:creationId xmlns:p14="http://schemas.microsoft.com/office/powerpoint/2010/main" val="35200380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an isotropic direction</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770F59A3-8046-1245-FB8C-B49C695C8FEC}"/>
              </a:ext>
            </a:extLst>
          </p:cNvPr>
          <p:cNvPicPr>
            <a:picLocks noChangeAspect="1"/>
          </p:cNvPicPr>
          <p:nvPr/>
        </p:nvPicPr>
        <p:blipFill>
          <a:blip r:embed="rId3"/>
          <a:stretch>
            <a:fillRect/>
          </a:stretch>
        </p:blipFill>
        <p:spPr>
          <a:xfrm>
            <a:off x="720182" y="1395146"/>
            <a:ext cx="5375818" cy="4714340"/>
          </a:xfrm>
          <a:prstGeom prst="rect">
            <a:avLst/>
          </a:prstGeom>
        </p:spPr>
      </p:pic>
      <p:pic>
        <p:nvPicPr>
          <p:cNvPr id="20482" name="Picture 2">
            <a:extLst>
              <a:ext uri="{FF2B5EF4-FFF2-40B4-BE49-F238E27FC236}">
                <a16:creationId xmlns:a16="http://schemas.microsoft.com/office/drawing/2014/main" id="{75453FAE-898C-CF6E-3B2A-158E08B67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5858" y="1165086"/>
            <a:ext cx="5435600" cy="505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9891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112EC-F0FF-6893-DC02-B27523260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AA0F7-D5FF-67BB-199A-28CE77934467}"/>
              </a:ext>
            </a:extLst>
          </p:cNvPr>
          <p:cNvSpPr>
            <a:spLocks noGrp="1"/>
          </p:cNvSpPr>
          <p:nvPr>
            <p:ph type="title"/>
          </p:nvPr>
        </p:nvSpPr>
        <p:spPr/>
        <p:txBody>
          <a:bodyPr/>
          <a:lstStyle/>
          <a:p>
            <a:r>
              <a:rPr lang="en-US" dirty="0">
                <a:latin typeface="LM Sans 10" panose="00000500000000000000" pitchFamily="50" charset="0"/>
              </a:rPr>
              <a:t>Sampling normally distributed variables</a:t>
            </a:r>
            <a:endParaRPr lang="uk-UA" dirty="0"/>
          </a:p>
        </p:txBody>
      </p:sp>
      <p:sp>
        <p:nvSpPr>
          <p:cNvPr id="4" name="Text Placeholder 3">
            <a:extLst>
              <a:ext uri="{FF2B5EF4-FFF2-40B4-BE49-F238E27FC236}">
                <a16:creationId xmlns:a16="http://schemas.microsoft.com/office/drawing/2014/main" id="{FEE7F194-5EB6-B7F3-8234-86DEFB3E1D40}"/>
              </a:ext>
            </a:extLst>
          </p:cNvPr>
          <p:cNvSpPr>
            <a:spLocks noGrp="1"/>
          </p:cNvSpPr>
          <p:nvPr>
            <p:ph type="body" sz="quarter" idx="12"/>
          </p:nvPr>
        </p:nvSpPr>
        <p:spPr/>
        <p:txBody>
          <a:bodyPr/>
          <a:lstStyle/>
          <a:p>
            <a:endParaRPr lang="en-US"/>
          </a:p>
        </p:txBody>
      </p:sp>
      <p:pic>
        <p:nvPicPr>
          <p:cNvPr id="21506" name="Picture 2">
            <a:extLst>
              <a:ext uri="{FF2B5EF4-FFF2-40B4-BE49-F238E27FC236}">
                <a16:creationId xmlns:a16="http://schemas.microsoft.com/office/drawing/2014/main" id="{CD248870-93E6-6CFA-55C7-005215A86D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0480" y="1051965"/>
            <a:ext cx="4131040" cy="26380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C4184C-E885-23A8-BD24-41751EE1DE44}"/>
              </a:ext>
            </a:extLst>
          </p:cNvPr>
          <p:cNvSpPr txBox="1"/>
          <p:nvPr/>
        </p:nvSpPr>
        <p:spPr>
          <a:xfrm>
            <a:off x="370541" y="3689968"/>
            <a:ext cx="10308790" cy="369332"/>
          </a:xfrm>
          <a:prstGeom prst="rect">
            <a:avLst/>
          </a:prstGeom>
          <a:noFill/>
        </p:spPr>
        <p:txBody>
          <a:bodyPr wrap="square">
            <a:spAutoFit/>
          </a:bodyPr>
          <a:lstStyle/>
          <a:p>
            <a:r>
              <a:rPr lang="en-US" dirty="0"/>
              <a:t>One of the most common probability distributions is the </a:t>
            </a:r>
            <a:r>
              <a:rPr lang="en-US" b="1" dirty="0"/>
              <a:t>normal (or Gaussian) distribution</a:t>
            </a:r>
            <a:r>
              <a:rPr lang="en-US" dirty="0"/>
              <a:t>, given by:</a:t>
            </a:r>
          </a:p>
        </p:txBody>
      </p:sp>
      <p:pic>
        <p:nvPicPr>
          <p:cNvPr id="7" name="Picture 6">
            <a:extLst>
              <a:ext uri="{FF2B5EF4-FFF2-40B4-BE49-F238E27FC236}">
                <a16:creationId xmlns:a16="http://schemas.microsoft.com/office/drawing/2014/main" id="{2BDDE522-E193-CA02-D9A8-1E974A96890E}"/>
              </a:ext>
            </a:extLst>
          </p:cNvPr>
          <p:cNvPicPr>
            <a:picLocks noChangeAspect="1"/>
          </p:cNvPicPr>
          <p:nvPr/>
        </p:nvPicPr>
        <p:blipFill>
          <a:blip r:embed="rId4"/>
          <a:stretch>
            <a:fillRect/>
          </a:stretch>
        </p:blipFill>
        <p:spPr>
          <a:xfrm>
            <a:off x="5202306" y="4097185"/>
            <a:ext cx="1787387" cy="558558"/>
          </a:xfrm>
          <a:prstGeom prst="rect">
            <a:avLst/>
          </a:prstGeom>
        </p:spPr>
      </p:pic>
      <p:sp>
        <p:nvSpPr>
          <p:cNvPr id="9" name="TextBox 8">
            <a:extLst>
              <a:ext uri="{FF2B5EF4-FFF2-40B4-BE49-F238E27FC236}">
                <a16:creationId xmlns:a16="http://schemas.microsoft.com/office/drawing/2014/main" id="{898A54E6-95AC-A4F6-241E-620666DE5935}"/>
              </a:ext>
            </a:extLst>
          </p:cNvPr>
          <p:cNvSpPr txBox="1"/>
          <p:nvPr/>
        </p:nvSpPr>
        <p:spPr>
          <a:xfrm>
            <a:off x="370539" y="5295022"/>
            <a:ext cx="11450917" cy="646331"/>
          </a:xfrm>
          <a:prstGeom prst="rect">
            <a:avLst/>
          </a:prstGeom>
          <a:noFill/>
        </p:spPr>
        <p:txBody>
          <a:bodyPr wrap="square">
            <a:spAutoFit/>
          </a:bodyPr>
          <a:lstStyle/>
          <a:p>
            <a:r>
              <a:rPr lang="en-US" dirty="0"/>
              <a:t>After this transformation, the new variable follows a </a:t>
            </a:r>
            <a:r>
              <a:rPr lang="en-US" b="1" dirty="0"/>
              <a:t>standard normal distribution</a:t>
            </a:r>
            <a:r>
              <a:rPr lang="en-US" dirty="0"/>
              <a:t> with </a:t>
            </a:r>
            <a:r>
              <a:rPr lang="en-US" b="1" dirty="0"/>
              <a:t>zero mean</a:t>
            </a:r>
            <a:r>
              <a:rPr lang="en-US" dirty="0"/>
              <a:t> and </a:t>
            </a:r>
            <a:r>
              <a:rPr lang="en-US" b="1" dirty="0"/>
              <a:t>unit standard deviation</a:t>
            </a:r>
            <a:r>
              <a:rPr lang="en-US" dirty="0"/>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B642AA7-1F58-AD01-4C90-9125D6D699C6}"/>
                  </a:ext>
                </a:extLst>
              </p:cNvPr>
              <p:cNvSpPr txBox="1"/>
              <p:nvPr/>
            </p:nvSpPr>
            <p:spPr>
              <a:xfrm>
                <a:off x="370539" y="4648691"/>
                <a:ext cx="10184817" cy="646331"/>
              </a:xfrm>
              <a:prstGeom prst="rect">
                <a:avLst/>
              </a:prstGeom>
              <a:noFill/>
            </p:spPr>
            <p:txBody>
              <a:bodyPr wrap="square">
                <a:spAutoFit/>
              </a:bodyPr>
              <a:lstStyle/>
              <a:p>
                <a:r>
                  <a:rPr lang="en-US" dirty="0"/>
                  <a:t>There are many standard methods for sampling from this distribution. One common approach is to </a:t>
                </a:r>
                <a:r>
                  <a:rPr lang="en-US" b="1" dirty="0"/>
                  <a:t>standardize the variable</a:t>
                </a:r>
                <a:r>
                  <a:rPr lang="en-US" dirty="0"/>
                  <a:t> by making the transformation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𝑥</m:t>
                    </m:r>
                  </m:oMath>
                </a14:m>
                <a:endParaRPr lang="en-US" dirty="0"/>
              </a:p>
            </p:txBody>
          </p:sp>
        </mc:Choice>
        <mc:Fallback xmlns="">
          <p:sp>
            <p:nvSpPr>
              <p:cNvPr id="11" name="TextBox 10">
                <a:extLst>
                  <a:ext uri="{FF2B5EF4-FFF2-40B4-BE49-F238E27FC236}">
                    <a16:creationId xmlns:a16="http://schemas.microsoft.com/office/drawing/2014/main" id="{7B642AA7-1F58-AD01-4C90-9125D6D699C6}"/>
                  </a:ext>
                </a:extLst>
              </p:cNvPr>
              <p:cNvSpPr txBox="1">
                <a:spLocks noRot="1" noChangeAspect="1" noMove="1" noResize="1" noEditPoints="1" noAdjustHandles="1" noChangeArrowheads="1" noChangeShapeType="1" noTextEdit="1"/>
              </p:cNvSpPr>
              <p:nvPr/>
            </p:nvSpPr>
            <p:spPr>
              <a:xfrm>
                <a:off x="370539" y="4648691"/>
                <a:ext cx="10184817" cy="646331"/>
              </a:xfrm>
              <a:prstGeom prst="rect">
                <a:avLst/>
              </a:prstGeom>
              <a:blipFill>
                <a:blip r:embed="rId5"/>
                <a:stretch>
                  <a:fillRect l="-623" t="-5769" b="-13462"/>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DC66A432-1528-F113-80E0-91695FF87077}"/>
              </a:ext>
            </a:extLst>
          </p:cNvPr>
          <p:cNvPicPr>
            <a:picLocks noChangeAspect="1"/>
          </p:cNvPicPr>
          <p:nvPr/>
        </p:nvPicPr>
        <p:blipFill>
          <a:blip r:embed="rId6"/>
          <a:stretch>
            <a:fillRect/>
          </a:stretch>
        </p:blipFill>
        <p:spPr>
          <a:xfrm>
            <a:off x="5202306" y="5716582"/>
            <a:ext cx="1483416" cy="591489"/>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4F73A67-84A1-53AD-7EEE-8DE3C94FB3CE}"/>
                  </a:ext>
                </a:extLst>
              </p:cNvPr>
              <p:cNvSpPr txBox="1"/>
              <p:nvPr/>
            </p:nvSpPr>
            <p:spPr>
              <a:xfrm>
                <a:off x="370539" y="6314361"/>
                <a:ext cx="11745261" cy="721223"/>
              </a:xfrm>
              <a:prstGeom prst="rect">
                <a:avLst/>
              </a:prstGeom>
              <a:noFill/>
            </p:spPr>
            <p:txBody>
              <a:bodyPr wrap="square">
                <a:spAutoFit/>
              </a:bodyPr>
              <a:lstStyle/>
              <a:p>
                <a:r>
                  <a:rPr lang="en-US" dirty="0"/>
                  <a:t>Calculating the cumulative distribution function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rPr>
                          <m:t>𝑥</m:t>
                        </m:r>
                      </m:sup>
                      <m:e>
                        <m:r>
                          <a:rPr lang="en-US" b="0" i="1" smtClean="0">
                            <a:latin typeface="Cambria Math" panose="02040503050406030204" pitchFamily="18" charset="0"/>
                            <a:ea typeface="Cambria Math" panose="02040503050406030204" pitchFamily="18" charset="0"/>
                          </a:rPr>
                          <m:t>𝜌</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𝑑𝑥</m:t>
                        </m:r>
                        <m:r>
                          <a:rPr lang="en-US" b="0" i="1" smtClean="0">
                            <a:latin typeface="Cambria Math" panose="02040503050406030204" pitchFamily="18" charset="0"/>
                            <a:ea typeface="Cambria Math" panose="02040503050406030204" pitchFamily="18" charset="0"/>
                          </a:rPr>
                          <m:t>′</m:t>
                        </m:r>
                      </m:e>
                    </m:nary>
                  </m:oMath>
                </a14:m>
                <a:r>
                  <a:rPr lang="en-US" dirty="0"/>
                  <a:t> is </a:t>
                </a:r>
                <a:r>
                  <a:rPr lang="en-US" b="1" dirty="0"/>
                  <a:t>not straightforward</a:t>
                </a:r>
                <a:r>
                  <a:rPr lang="en-US" dirty="0"/>
                  <a:t>, use numerical methods.</a:t>
                </a:r>
              </a:p>
              <a:p>
                <a:endParaRPr lang="en-US" dirty="0"/>
              </a:p>
            </p:txBody>
          </p:sp>
        </mc:Choice>
        <mc:Fallback xmlns="">
          <p:sp>
            <p:nvSpPr>
              <p:cNvPr id="13" name="TextBox 12">
                <a:extLst>
                  <a:ext uri="{FF2B5EF4-FFF2-40B4-BE49-F238E27FC236}">
                    <a16:creationId xmlns:a16="http://schemas.microsoft.com/office/drawing/2014/main" id="{C4F73A67-84A1-53AD-7EEE-8DE3C94FB3CE}"/>
                  </a:ext>
                </a:extLst>
              </p:cNvPr>
              <p:cNvSpPr txBox="1">
                <a:spLocks noRot="1" noChangeAspect="1" noMove="1" noResize="1" noEditPoints="1" noAdjustHandles="1" noChangeArrowheads="1" noChangeShapeType="1" noTextEdit="1"/>
              </p:cNvSpPr>
              <p:nvPr/>
            </p:nvSpPr>
            <p:spPr>
              <a:xfrm>
                <a:off x="370539" y="6314361"/>
                <a:ext cx="11745261" cy="721223"/>
              </a:xfrm>
              <a:prstGeom prst="rect">
                <a:avLst/>
              </a:prstGeom>
              <a:blipFill>
                <a:blip r:embed="rId7"/>
                <a:stretch>
                  <a:fillRect l="-540" t="-68421" b="-66667"/>
                </a:stretch>
              </a:blipFill>
            </p:spPr>
            <p:txBody>
              <a:bodyPr/>
              <a:lstStyle/>
              <a:p>
                <a:r>
                  <a:rPr lang="en-US">
                    <a:noFill/>
                  </a:rPr>
                  <a:t> </a:t>
                </a:r>
              </a:p>
            </p:txBody>
          </p:sp>
        </mc:Fallback>
      </mc:AlternateContent>
    </p:spTree>
    <p:extLst>
      <p:ext uri="{BB962C8B-B14F-4D97-AF65-F5344CB8AC3E}">
        <p14:creationId xmlns:p14="http://schemas.microsoft.com/office/powerpoint/2010/main" val="35260367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normally distributed variables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3B2308BB-D239-03C1-35D3-0F33AEE4CB29}"/>
              </a:ext>
            </a:extLst>
          </p:cNvPr>
          <p:cNvPicPr>
            <a:picLocks noChangeAspect="1"/>
          </p:cNvPicPr>
          <p:nvPr/>
        </p:nvPicPr>
        <p:blipFill>
          <a:blip r:embed="rId3"/>
          <a:stretch>
            <a:fillRect/>
          </a:stretch>
        </p:blipFill>
        <p:spPr>
          <a:xfrm>
            <a:off x="991675" y="1165086"/>
            <a:ext cx="10208650" cy="5061738"/>
          </a:xfrm>
          <a:prstGeom prst="rect">
            <a:avLst/>
          </a:prstGeom>
        </p:spPr>
      </p:pic>
    </p:spTree>
    <p:extLst>
      <p:ext uri="{BB962C8B-B14F-4D97-AF65-F5344CB8AC3E}">
        <p14:creationId xmlns:p14="http://schemas.microsoft.com/office/powerpoint/2010/main" val="32822501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FA58-9F0A-4217-B38D-E58CFC4CAD2A}"/>
              </a:ext>
            </a:extLst>
          </p:cNvPr>
          <p:cNvSpPr>
            <a:spLocks noGrp="1"/>
          </p:cNvSpPr>
          <p:nvPr>
            <p:ph type="title"/>
          </p:nvPr>
        </p:nvSpPr>
        <p:spPr/>
        <p:txBody>
          <a:bodyPr/>
          <a:lstStyle/>
          <a:p>
            <a:r>
              <a:rPr lang="en-US" dirty="0">
                <a:latin typeface="LM Sans 10" panose="00000500000000000000" pitchFamily="50" charset="0"/>
              </a:rPr>
              <a:t>Sampling normally distributed variables</a:t>
            </a:r>
            <a:endParaRPr lang="uk-UA" dirty="0"/>
          </a:p>
        </p:txBody>
      </p:sp>
      <p:sp>
        <p:nvSpPr>
          <p:cNvPr id="4" name="Text Placeholder 3">
            <a:extLst>
              <a:ext uri="{FF2B5EF4-FFF2-40B4-BE49-F238E27FC236}">
                <a16:creationId xmlns:a16="http://schemas.microsoft.com/office/drawing/2014/main" id="{22379093-2446-7E14-8100-7BE52B6E3AF4}"/>
              </a:ext>
            </a:extLst>
          </p:cNvPr>
          <p:cNvSpPr>
            <a:spLocks noGrp="1"/>
          </p:cNvSpPr>
          <p:nvPr>
            <p:ph type="body" sz="quarter" idx="12"/>
          </p:nvPr>
        </p:nvSpPr>
        <p:spPr/>
        <p:txBody>
          <a:bodyPr/>
          <a:lstStyle/>
          <a:p>
            <a:endParaRPr lang="en-US"/>
          </a:p>
        </p:txBody>
      </p:sp>
      <p:pic>
        <p:nvPicPr>
          <p:cNvPr id="3" name="Picture 2">
            <a:extLst>
              <a:ext uri="{FF2B5EF4-FFF2-40B4-BE49-F238E27FC236}">
                <a16:creationId xmlns:a16="http://schemas.microsoft.com/office/drawing/2014/main" id="{2756124A-1CF9-836E-945C-8D47FDA86E98}"/>
              </a:ext>
            </a:extLst>
          </p:cNvPr>
          <p:cNvPicPr>
            <a:picLocks noChangeAspect="1"/>
          </p:cNvPicPr>
          <p:nvPr/>
        </p:nvPicPr>
        <p:blipFill>
          <a:blip r:embed="rId3"/>
          <a:stretch>
            <a:fillRect/>
          </a:stretch>
        </p:blipFill>
        <p:spPr>
          <a:xfrm>
            <a:off x="790660" y="2359464"/>
            <a:ext cx="4800600" cy="2768600"/>
          </a:xfrm>
          <a:prstGeom prst="rect">
            <a:avLst/>
          </a:prstGeom>
        </p:spPr>
      </p:pic>
      <p:pic>
        <p:nvPicPr>
          <p:cNvPr id="23554" name="Picture 2">
            <a:extLst>
              <a:ext uri="{FF2B5EF4-FFF2-40B4-BE49-F238E27FC236}">
                <a16:creationId xmlns:a16="http://schemas.microsoft.com/office/drawing/2014/main" id="{A7D5EC85-0098-FCDE-1F30-3DACFB126A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2123" y="1993036"/>
            <a:ext cx="4382617" cy="3501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508379"/>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tin Modern (Beamer-like)">
      <a:majorFont>
        <a:latin typeface="LM Sans 10"/>
        <a:ea typeface=""/>
        <a:cs typeface=""/>
      </a:majorFont>
      <a:minorFont>
        <a:latin typeface="LM Sans 10"/>
        <a:ea typeface=""/>
        <a:cs typeface=""/>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ceStandard.potx" id="{68DB5CD3-6005-4466-AA38-EBD4F9E1AFDA}" vid="{31E8EE0F-63EF-41D6-BECB-9725E0583DB1}"/>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4298</TotalTime>
  <Words>3506</Words>
  <Application>Microsoft Macintosh PowerPoint</Application>
  <PresentationFormat>Widescreen</PresentationFormat>
  <Paragraphs>462</Paragraphs>
  <Slides>84</Slides>
  <Notes>48</Notes>
  <HiddenSlides>18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84</vt:i4>
      </vt:variant>
    </vt:vector>
  </HeadingPairs>
  <TitlesOfParts>
    <vt:vector size="91" baseType="lpstr">
      <vt:lpstr>Arial</vt:lpstr>
      <vt:lpstr>Calibri</vt:lpstr>
      <vt:lpstr>Cambria Math</vt:lpstr>
      <vt:lpstr>Gill Sans MT</vt:lpstr>
      <vt:lpstr>LM Sans 10</vt:lpstr>
      <vt:lpstr>Times New Roman</vt:lpstr>
      <vt:lpstr>Тема Office</vt:lpstr>
      <vt:lpstr>Computational Physics @ NuSTEAM</vt:lpstr>
      <vt:lpstr>PowerPoint Presentation</vt:lpstr>
      <vt:lpstr>Non-linear equations</vt:lpstr>
      <vt:lpstr>Root-finding techniques</vt:lpstr>
      <vt:lpstr>Non-linear equations</vt:lpstr>
      <vt:lpstr>Bisection method</vt:lpstr>
      <vt:lpstr>Bisection method</vt:lpstr>
      <vt:lpstr>Bisection method: how the iterations look like</vt:lpstr>
      <vt:lpstr>Bisection method: another example</vt:lpstr>
      <vt:lpstr>Secant method</vt:lpstr>
      <vt:lpstr>False position method</vt:lpstr>
      <vt:lpstr>False position method</vt:lpstr>
      <vt:lpstr>False position vs bisection (to 10 decimal digits)</vt:lpstr>
      <vt:lpstr>False position vs bisection: not always clear who wins</vt:lpstr>
      <vt:lpstr>False position vs bisection: not always clear who wins</vt:lpstr>
      <vt:lpstr>Secant method</vt:lpstr>
      <vt:lpstr>Secant method</vt:lpstr>
      <vt:lpstr>Secant method</vt:lpstr>
      <vt:lpstr>Secant method</vt:lpstr>
      <vt:lpstr>Secant method</vt:lpstr>
      <vt:lpstr>Newton-Raphson method</vt:lpstr>
      <vt:lpstr>Newton-Raphson method</vt:lpstr>
      <vt:lpstr>Newton-Raphson method</vt:lpstr>
      <vt:lpstr>Newton-Raphson method</vt:lpstr>
      <vt:lpstr>Newton-Raphson method: issues</vt:lpstr>
      <vt:lpstr>Newton-Raphson method: issues</vt:lpstr>
      <vt:lpstr>Summary</vt:lpstr>
      <vt:lpstr>Summary</vt:lpstr>
      <vt:lpstr>Summary</vt:lpstr>
      <vt:lpstr>Systems of non-linear equations</vt:lpstr>
      <vt:lpstr>Newton-Raphson method in multiple dimensions</vt:lpstr>
      <vt:lpstr>PowerPoint Presentation</vt:lpstr>
      <vt:lpstr>(Pseudo-)random numbers</vt:lpstr>
      <vt:lpstr>Pseudo-random numbers on a computer</vt:lpstr>
      <vt:lpstr>Computing integrals: Estimating the area under the curve</vt:lpstr>
      <vt:lpstr>Computing integrals: Estimating the area under the curve</vt:lpstr>
      <vt:lpstr>Computing integrals: Estimating the area under the curve</vt:lpstr>
      <vt:lpstr>Computing π</vt:lpstr>
      <vt:lpstr>Computing π</vt:lpstr>
      <vt:lpstr>Computing pi</vt:lpstr>
      <vt:lpstr>Computing pi</vt:lpstr>
      <vt:lpstr>Computing pi</vt:lpstr>
      <vt:lpstr>Computing pi</vt:lpstr>
      <vt:lpstr>Computing pi</vt:lpstr>
      <vt:lpstr>Computing integral as the average</vt:lpstr>
      <vt:lpstr>Computing integral as the average</vt:lpstr>
      <vt:lpstr>Another way to compute pi</vt:lpstr>
      <vt:lpstr>Another way to compute pi</vt:lpstr>
      <vt:lpstr>Computing integral as the average</vt:lpstr>
      <vt:lpstr>Computing integral as the average</vt:lpstr>
      <vt:lpstr>Another way to compute pi</vt:lpstr>
      <vt:lpstr>Another way to compute pi</vt:lpstr>
      <vt:lpstr>Computing multi-dimensional integrals</vt:lpstr>
      <vt:lpstr>Computing multi-dimensional integrals: Monte Carlo</vt:lpstr>
      <vt:lpstr>Computing multi-dimensional integrals</vt:lpstr>
      <vt:lpstr>Computing multi-dimensional integrals: Monte Carlo</vt:lpstr>
      <vt:lpstr>Nonuniformly distributed random numbers</vt:lpstr>
      <vt:lpstr>Inverse transform sampling</vt:lpstr>
      <vt:lpstr>Inverse transform sampling</vt:lpstr>
      <vt:lpstr>Inverse transform sampling: Exponential distribution</vt:lpstr>
      <vt:lpstr>Sampling radioactive decay time</vt:lpstr>
      <vt:lpstr>Sampling points inside a circle</vt:lpstr>
      <vt:lpstr>Sampling points inside a circle</vt:lpstr>
      <vt:lpstr>Sampling points inside a circle</vt:lpstr>
      <vt:lpstr>Sampling points inside a circle</vt:lpstr>
      <vt:lpstr>Rejection sampling</vt:lpstr>
      <vt:lpstr>Rejection sampling</vt:lpstr>
      <vt:lpstr>Pros and Cons of Rejection Sampling</vt:lpstr>
      <vt:lpstr>Importance sampling</vt:lpstr>
      <vt:lpstr>Importance sampling</vt:lpstr>
      <vt:lpstr>Importance sampling</vt:lpstr>
      <vt:lpstr>Importance sampling: Example</vt:lpstr>
      <vt:lpstr>Importance sampling: Example</vt:lpstr>
      <vt:lpstr>PowerPoint Presentation</vt:lpstr>
      <vt:lpstr>Relaxation method</vt:lpstr>
      <vt:lpstr>Relaxation method</vt:lpstr>
      <vt:lpstr>Relaxation method</vt:lpstr>
      <vt:lpstr>Relaxation method</vt:lpstr>
      <vt:lpstr>Sampling of an Isotropic Direction in 3D</vt:lpstr>
      <vt:lpstr>Sampling of an Isotropic Direction in 3D</vt:lpstr>
      <vt:lpstr>Sampling an isotropic direction</vt:lpstr>
      <vt:lpstr>Sampling normally distributed variables</vt:lpstr>
      <vt:lpstr>Sampling normally distributed variables</vt:lpstr>
      <vt:lpstr>Sampling normally distributed variables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Physics (PHYS6350)</dc:title>
  <dc:creator>Vovchenko Volodymyr</dc:creator>
  <cp:lastModifiedBy>Vovchenko Volodymyr</cp:lastModifiedBy>
  <cp:revision>1177</cp:revision>
  <cp:lastPrinted>2018-05-12T22:28:36Z</cp:lastPrinted>
  <dcterms:created xsi:type="dcterms:W3CDTF">2018-05-07T16:28:28Z</dcterms:created>
  <dcterms:modified xsi:type="dcterms:W3CDTF">2025-06-15T17:08:18Z</dcterms:modified>
</cp:coreProperties>
</file>